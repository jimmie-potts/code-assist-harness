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54298d23e74e1d" /><Relationship Type="http://schemas.openxmlformats.org/officeDocument/2006/relationships/extended-properties" Target="/docProps/app.xml" Id="R7c0034487553484b" /><Relationship Type="http://schemas.openxmlformats.org/officeDocument/2006/relationships/officeDocument" Target="/ppt/presentation.xml" Id="R7c6f56b5c6734e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8ae2ab08944da5"/>
  </p:sldMasterIdLst>
  <p:notesMasterIdLst>
    <p:notesMasterId xmlns:r="http://schemas.openxmlformats.org/officeDocument/2006/relationships" r:id="R4c49b321f6414beb"/>
  </p:notesMasterIdLst>
  <p:sldIdLst>
    <p:sldId xmlns:r="http://schemas.openxmlformats.org/officeDocument/2006/relationships" id="256" r:id="Rcaf1f98cc52a4650"/>
    <p:sldId xmlns:r="http://schemas.openxmlformats.org/officeDocument/2006/relationships" id="257" r:id="R8e47bcd06cfc44e2"/>
    <p:sldId xmlns:r="http://schemas.openxmlformats.org/officeDocument/2006/relationships" id="258" r:id="R1a206211cbb04f42"/>
    <p:sldId xmlns:r="http://schemas.openxmlformats.org/officeDocument/2006/relationships" id="259" r:id="R1809465e63e0441d"/>
    <p:sldId xmlns:r="http://schemas.openxmlformats.org/officeDocument/2006/relationships" id="260" r:id="Rcd543f31d9e6423c"/>
    <p:sldId xmlns:r="http://schemas.openxmlformats.org/officeDocument/2006/relationships" id="261" r:id="R2d75f5530de84bd8"/>
    <p:sldId xmlns:r="http://schemas.openxmlformats.org/officeDocument/2006/relationships" id="262" r:id="R26e1e5b194a147d8"/>
    <p:sldId xmlns:r="http://schemas.openxmlformats.org/officeDocument/2006/relationships" id="263" r:id="R245161d70b324114"/>
    <p:sldId xmlns:r="http://schemas.openxmlformats.org/officeDocument/2006/relationships" id="264" r:id="R33d4e136d3534443"/>
    <p:sldId xmlns:r="http://schemas.openxmlformats.org/officeDocument/2006/relationships" id="265" r:id="Re34bdf1fbdff40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73e719f4854463" /><Relationship Type="http://schemas.openxmlformats.org/officeDocument/2006/relationships/slideMaster" Target="/ppt/slideMasters/slideMaster1.xml" Id="R7c8ae2ab08944da5" /><Relationship Type="http://schemas.openxmlformats.org/officeDocument/2006/relationships/notesMaster" Target="/ppt/notesMasters/notesMaster1.xml" Id="R4c49b321f6414beb" /><Relationship Type="http://schemas.openxmlformats.org/officeDocument/2006/relationships/presProps" Target="/ppt/presProps.xml" Id="R14ef9ce3682447e5" /><Relationship Type="http://schemas.openxmlformats.org/officeDocument/2006/relationships/tableStyles" Target="/ppt/tableStyles.xml" Id="Ra89dd6f4037646ad" /><Relationship Type="http://schemas.openxmlformats.org/officeDocument/2006/relationships/slide" Target="/ppt/slides/slide1.xml" Id="Rcaf1f98cc52a4650" /><Relationship Type="http://schemas.openxmlformats.org/officeDocument/2006/relationships/slide" Target="/ppt/slides/slide2.xml" Id="R8e47bcd06cfc44e2" /><Relationship Type="http://schemas.openxmlformats.org/officeDocument/2006/relationships/slide" Target="/ppt/slides/slide3.xml" Id="R1a206211cbb04f42" /><Relationship Type="http://schemas.openxmlformats.org/officeDocument/2006/relationships/slide" Target="/ppt/slides/slide4.xml" Id="R1809465e63e0441d" /><Relationship Type="http://schemas.openxmlformats.org/officeDocument/2006/relationships/slide" Target="/ppt/slides/slide5.xml" Id="Rcd543f31d9e6423c" /><Relationship Type="http://schemas.openxmlformats.org/officeDocument/2006/relationships/slide" Target="/ppt/slides/slide6.xml" Id="R2d75f5530de84bd8" /><Relationship Type="http://schemas.openxmlformats.org/officeDocument/2006/relationships/slide" Target="/ppt/slides/slide7.xml" Id="R26e1e5b194a147d8" /><Relationship Type="http://schemas.openxmlformats.org/officeDocument/2006/relationships/slide" Target="/ppt/slides/slide8.xml" Id="R245161d70b324114" /><Relationship Type="http://schemas.openxmlformats.org/officeDocument/2006/relationships/slide" Target="/ppt/slides/slide9.xml" Id="R33d4e136d3534443" /><Relationship Type="http://schemas.openxmlformats.org/officeDocument/2006/relationships/slide" Target="/ppt/slides/slide10.xml" Id="Re34bdf1fbdff40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36c87ca1544d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d8baf207904dd8" /><Relationship Type="http://schemas.openxmlformats.org/officeDocument/2006/relationships/notesMaster" Target="/ppt/notesMasters/notesMaster1.xml" Id="Rd6c241da65d942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2ac41f9294c63" /><Relationship Type="http://schemas.openxmlformats.org/officeDocument/2006/relationships/notesMaster" Target="/ppt/notesMasters/notesMaster1.xml" Id="R9a9a48ff660349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f5b56abafc4682" /><Relationship Type="http://schemas.openxmlformats.org/officeDocument/2006/relationships/notesMaster" Target="/ppt/notesMasters/notesMaster1.xml" Id="R0e1e11460d024b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677c018b8b4da2" /><Relationship Type="http://schemas.openxmlformats.org/officeDocument/2006/relationships/notesMaster" Target="/ppt/notesMasters/notesMaster1.xml" Id="Rc2f3b5868f974b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df7b4657fb4bdd" /><Relationship Type="http://schemas.openxmlformats.org/officeDocument/2006/relationships/notesMaster" Target="/ppt/notesMasters/notesMaster1.xml" Id="R079e70e0620b4a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4cc622df8b4a99" /><Relationship Type="http://schemas.openxmlformats.org/officeDocument/2006/relationships/notesMaster" Target="/ppt/notesMasters/notesMaster1.xml" Id="R5374ddba45e8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34d872060a4778" /><Relationship Type="http://schemas.openxmlformats.org/officeDocument/2006/relationships/notesMaster" Target="/ppt/notesMasters/notesMaster1.xml" Id="R94a34cc31bdd44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db7e3f3d2f497b" /><Relationship Type="http://schemas.openxmlformats.org/officeDocument/2006/relationships/notesMaster" Target="/ppt/notesMasters/notesMaster1.xml" Id="R99caed4d96924f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e94ced86524bc6" /><Relationship Type="http://schemas.openxmlformats.org/officeDocument/2006/relationships/notesMaster" Target="/ppt/notesMasters/notesMaster1.xml" Id="Rebb4f2f5d79f4d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13c09e55724577" /><Relationship Type="http://schemas.openxmlformats.org/officeDocument/2006/relationships/notesMaster" Target="/ppt/notesMasters/notesMaster1.xml" Id="Rda32d33400f142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6f439b6fe40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5d64b47ac544eb" /><Relationship Type="http://schemas.openxmlformats.org/officeDocument/2006/relationships/slideLayout" Target="/ppt/slideLayouts/slideLayout1.xml" Id="Rbb4f2a47c05a4c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4f2a47c05a4c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9e6a2e2a040ed" /><Relationship Type="http://schemas.openxmlformats.org/officeDocument/2006/relationships/image" Target="/ppt/media/image.png" Id="R61c031cefc26441f" /><Relationship Type="http://schemas.openxmlformats.org/officeDocument/2006/relationships/notesSlide" Target="/ppt/notesSlides/notesSlide1.xml" Id="Rdb9bd58b332a4c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3551620b34c70" /><Relationship Type="http://schemas.openxmlformats.org/officeDocument/2006/relationships/notesSlide" Target="/ppt/notesSlides/notesSlide2.xml" Id="Rc00dc07db67b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9e8232ca04066" /><Relationship Type="http://schemas.openxmlformats.org/officeDocument/2006/relationships/notesSlide" Target="/ppt/notesSlides/notesSlide3.xml" Id="Re70802b14b804f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a781fdb5d4ea6" /><Relationship Type="http://schemas.openxmlformats.org/officeDocument/2006/relationships/notesSlide" Target="/ppt/notesSlides/notesSlide4.xml" Id="R77cf93c92e5c45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3405065ed4713" /><Relationship Type="http://schemas.openxmlformats.org/officeDocument/2006/relationships/notesSlide" Target="/ppt/notesSlides/notesSlide5.xml" Id="R8545bc9907b747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02d6ad7414449" /><Relationship Type="http://schemas.openxmlformats.org/officeDocument/2006/relationships/notesSlide" Target="/ppt/notesSlides/notesSlide6.xml" Id="Rd8b5448313a84e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55a3e9f414417" /><Relationship Type="http://schemas.openxmlformats.org/officeDocument/2006/relationships/notesSlide" Target="/ppt/notesSlides/notesSlide7.xml" Id="R955efc5d8c7d43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14807623245e4" /><Relationship Type="http://schemas.openxmlformats.org/officeDocument/2006/relationships/notesSlide" Target="/ppt/notesSlides/notesSlide8.xml" Id="R7b640de1c69048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8e8ffd349497d" /><Relationship Type="http://schemas.openxmlformats.org/officeDocument/2006/relationships/notesSlide" Target="/ppt/notesSlides/notesSlide9.xml" Id="R5dc5193491e244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c47a10d1b496e" /><Relationship Type="http://schemas.openxmlformats.org/officeDocument/2006/relationships/notesSlide" Target="/ppt/notesSlides/notesSlide10.xml" Id="R9e0e216841c64e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031cefc26441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shade">
            <a:extLst xmlns:a="http://schemas.openxmlformats.org/drawingml/2006/main">
              <a:ext uri="{FF2B5EF4-FFF2-40B4-BE49-F238E27FC236}">
                <a16:creationId xmlns:a16="http://schemas.microsoft.com/office/drawing/2014/main" id="{48B9104D-4BEC-4764-A0B2-60A2D78B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81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cyan">
            <a:extLst xmlns:a="http://schemas.openxmlformats.org/drawingml/2006/main">
              <a:ext uri="{FF2B5EF4-FFF2-40B4-BE49-F238E27FC236}">
                <a16:creationId xmlns:a16="http://schemas.microsoft.com/office/drawing/2014/main" id="{02357F6C-DDBB-4103-BAD9-F678942E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A8A9DBF-5F7C-49EE-8A4B-0A73A891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t>CAH-007  •  VERIFIED VISUAL LESSON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627CB6-D122-41A0-8A91-CC0B37C1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"/>
            <a:ext cx="4514850" cy="201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One green check.
The whole walking skeleton.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D599453-F721-4C8E-B962-6F43114A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2481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5F4"/>
                </a:solidFill>
                <a:latin typeface="Aptos"/>
                <a:ea typeface="Aptos"/>
                <a:cs typeface="Aptos"/>
              </a:defRPr>
            </a:pPr>
            <a:r>
              <a:t>A canonical offline gate for Python, TypeScript, protocol fixtures, docs, policy, and the real process boundary.</a:t>
            </a:r>
          </a:p>
        </p:txBody>
      </p:sp>
      <p:sp>
        <p:nvSpPr>
          <p:cNvPr id="7" name="cover-command">
            <a:extLst xmlns:a="http://schemas.openxmlformats.org/drawingml/2006/main">
              <a:ext uri="{FF2B5EF4-FFF2-40B4-BE49-F238E27FC236}">
                <a16:creationId xmlns:a16="http://schemas.microsoft.com/office/drawing/2014/main" id="{B4D8F38D-D7B1-4B7C-A06B-B072F51E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162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8" name="cover-command-text">
            <a:extLst xmlns:a="http://schemas.openxmlformats.org/drawingml/2006/main">
              <a:ext uri="{FF2B5EF4-FFF2-40B4-BE49-F238E27FC236}">
                <a16:creationId xmlns:a16="http://schemas.microsoft.com/office/drawing/2014/main" id="{4B44EAD8-2986-43AF-B61E-B0A2E2DB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2705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t>./scripts/check</a:t>
            </a:r>
          </a:p>
        </p:txBody>
      </p:sp>
      <p:sp>
        <p:nvSpPr>
          <p:cNvPr id="9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36D239EC-006E-4F6C-BA23-F30C4CDA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No live provider. No mystery. Just the gate.</a:t>
            </a:r>
          </a:p>
        </p:txBody>
      </p:sp>
      <p:sp>
        <p:nvSpPr>
          <p:cNvPr id="10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D1D789F-A33B-4993-B321-5991B8C3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43650"/>
            <a:ext cx="1733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M0 QUALITY MACHINE</a:t>
            </a:r>
          </a:p>
        </p:txBody>
      </p:sp>
    </p:spTree>
    <p:extLst>
      <p:ext uri="{BB962C8B-B14F-4D97-AF65-F5344CB8AC3E}">
        <p14:creationId xmlns:p14="http://schemas.microsoft.com/office/powerpoint/2010/main" val="2276993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F13E861A-CE48-4A45-9D7C-BDAB3499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CAH-007  /  REPOSITORY CHECKS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1481226-E28A-4928-8D44-83A9B92A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t>A pile of soloists does not make one reliable orchestra</a:t>
            </a:r>
          </a:p>
        </p:txBody>
      </p:sp>
      <p:cxnSp>
        <p:nvCxnSpPr>
          <p:cNvPr id="44" name="header-rule-2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3"/>
            </a:solidFill>
            <a:prstDash val="solid"/>
          </a:ln>
        </p:spPr>
      </p:cxnSp>
      <p:sp>
        <p:nvSpPr>
          <p:cNvPr id="4" name="number-2">
            <a:extLst xmlns:a="http://schemas.openxmlformats.org/drawingml/2006/main">
              <a:ext uri="{FF2B5EF4-FFF2-40B4-BE49-F238E27FC236}">
                <a16:creationId xmlns:a16="http://schemas.microsoft.com/office/drawing/2014/main" id="{635962CD-11F2-457F-B95A-795290B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cxnSp>
        <p:nvCxnSpPr>
          <p:cNvPr id="46" name="solo-line-0"/>
          <p:cNvCxnSpPr/>
          <p:nvPr/>
        </p:nvCxnSpPr>
        <p:spPr>
          <a:xfrm xmlns:a="http://schemas.openxmlformats.org/drawingml/2006/main">
            <a:off x="838200" y="2286000"/>
            <a:ext cx="5810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E7"/>
            </a:solidFill>
            <a:prstDash val="solid"/>
          </a:ln>
        </p:spPr>
      </p:cxnSp>
      <p:sp>
        <p:nvSpPr>
          <p:cNvPr id="6" name="solo-dot-0">
            <a:extLst xmlns:a="http://schemas.openxmlformats.org/drawingml/2006/main">
              <a:ext uri="{FF2B5EF4-FFF2-40B4-BE49-F238E27FC236}">
                <a16:creationId xmlns:a16="http://schemas.microsoft.com/office/drawing/2014/main" id="{70AEB3F5-19B8-4328-A4C4-77927329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solo-line-1"/>
          <p:cNvCxnSpPr/>
          <p:nvPr/>
        </p:nvCxnSpPr>
        <p:spPr>
          <a:xfrm xmlns:a="http://schemas.openxmlformats.org/drawingml/2006/main">
            <a:off x="838200" y="2781300"/>
            <a:ext cx="5810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E7"/>
            </a:solidFill>
            <a:prstDash val="solid"/>
          </a:ln>
        </p:spPr>
      </p:cxnSp>
      <p:sp>
        <p:nvSpPr>
          <p:cNvPr id="8" name="solo-dot-1">
            <a:extLst xmlns:a="http://schemas.openxmlformats.org/drawingml/2006/main">
              <a:ext uri="{FF2B5EF4-FFF2-40B4-BE49-F238E27FC236}">
                <a16:creationId xmlns:a16="http://schemas.microsoft.com/office/drawing/2014/main" id="{F6B0C44F-9A60-4E94-86F5-74D680A0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0" name="solo-line-2"/>
          <p:cNvCxnSpPr/>
          <p:nvPr/>
        </p:nvCxnSpPr>
        <p:spPr>
          <a:xfrm xmlns:a="http://schemas.openxmlformats.org/drawingml/2006/main">
            <a:off x="838200" y="3276600"/>
            <a:ext cx="5810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E7"/>
            </a:solidFill>
            <a:prstDash val="solid"/>
          </a:ln>
        </p:spPr>
      </p:cxnSp>
      <p:sp>
        <p:nvSpPr>
          <p:cNvPr id="10" name="solo-dot-2">
            <a:extLst xmlns:a="http://schemas.openxmlformats.org/drawingml/2006/main">
              <a:ext uri="{FF2B5EF4-FFF2-40B4-BE49-F238E27FC236}">
                <a16:creationId xmlns:a16="http://schemas.microsoft.com/office/drawing/2014/main" id="{745C3F76-711E-4206-A6CA-DEF96BCD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2" name="solo-line-3"/>
          <p:cNvCxnSpPr/>
          <p:nvPr/>
        </p:nvCxnSpPr>
        <p:spPr>
          <a:xfrm xmlns:a="http://schemas.openxmlformats.org/drawingml/2006/main">
            <a:off x="838200" y="3771900"/>
            <a:ext cx="5810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E7"/>
            </a:solidFill>
            <a:prstDash val="solid"/>
          </a:ln>
        </p:spPr>
      </p:cxnSp>
      <p:sp>
        <p:nvSpPr>
          <p:cNvPr id="12" name="solo-dot-3">
            <a:extLst xmlns:a="http://schemas.openxmlformats.org/drawingml/2006/main">
              <a:ext uri="{FF2B5EF4-FFF2-40B4-BE49-F238E27FC236}">
                <a16:creationId xmlns:a16="http://schemas.microsoft.com/office/drawing/2014/main" id="{94178FCD-84C2-484A-B577-7627D10A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solo-line-4"/>
          <p:cNvCxnSpPr/>
          <p:nvPr/>
        </p:nvCxnSpPr>
        <p:spPr>
          <a:xfrm xmlns:a="http://schemas.openxmlformats.org/drawingml/2006/main">
            <a:off x="838200" y="4267200"/>
            <a:ext cx="5810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E7"/>
            </a:solidFill>
            <a:prstDash val="solid"/>
          </a:ln>
        </p:spPr>
      </p:cxnSp>
      <p:sp>
        <p:nvSpPr>
          <p:cNvPr id="14" name="solo-dot-4">
            <a:extLst xmlns:a="http://schemas.openxmlformats.org/drawingml/2006/main">
              <a:ext uri="{FF2B5EF4-FFF2-40B4-BE49-F238E27FC236}">
                <a16:creationId xmlns:a16="http://schemas.microsoft.com/office/drawing/2014/main" id="{9730B528-F193-4D04-A21B-2538CE93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6" name="solo-line-5"/>
          <p:cNvCxnSpPr/>
          <p:nvPr/>
        </p:nvCxnSpPr>
        <p:spPr>
          <a:xfrm xmlns:a="http://schemas.openxmlformats.org/drawingml/2006/main">
            <a:off x="838200" y="4762500"/>
            <a:ext cx="5810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E7"/>
            </a:solidFill>
            <a:prstDash val="solid"/>
          </a:ln>
        </p:spPr>
      </p:cxnSp>
      <p:sp>
        <p:nvSpPr>
          <p:cNvPr id="16" name="solo-dot-5">
            <a:extLst xmlns:a="http://schemas.openxmlformats.org/drawingml/2006/main">
              <a:ext uri="{FF2B5EF4-FFF2-40B4-BE49-F238E27FC236}">
                <a16:creationId xmlns:a16="http://schemas.microsoft.com/office/drawing/2014/main" id="{6C5307F1-52C6-4F0F-9094-E6891F8E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8" name="solo-line-6"/>
          <p:cNvCxnSpPr/>
          <p:nvPr/>
        </p:nvCxnSpPr>
        <p:spPr>
          <a:xfrm xmlns:a="http://schemas.openxmlformats.org/drawingml/2006/main">
            <a:off x="838200" y="5257800"/>
            <a:ext cx="5810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EE7"/>
            </a:solidFill>
            <a:prstDash val="solid"/>
          </a:ln>
        </p:spPr>
      </p:cxnSp>
      <p:sp>
        <p:nvSpPr>
          <p:cNvPr id="18" name="solo-dot-6">
            <a:extLst xmlns:a="http://schemas.openxmlformats.org/drawingml/2006/main">
              <a:ext uri="{FF2B5EF4-FFF2-40B4-BE49-F238E27FC236}">
                <a16:creationId xmlns:a16="http://schemas.microsoft.com/office/drawing/2014/main" id="{76389E90-A8FE-43F5-AB5B-1BEE749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0" name="orchestra-spine"/>
          <p:cNvCxnSpPr/>
          <p:nvPr/>
        </p:nvCxnSpPr>
        <p:spPr>
          <a:xfrm xmlns:a="http://schemas.openxmlformats.org/drawingml/2006/main">
            <a:off x="6705600" y="2286000"/>
            <a:ext cx="953" cy="30289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1F33"/>
            </a:solidFill>
            <a:prstDash val="solid"/>
          </a:ln>
        </p:spPr>
      </p:cxnSp>
      <p:sp>
        <p:nvSpPr>
          <p:cNvPr id="20" name="orchestra-arrow">
            <a:extLst xmlns:a="http://schemas.openxmlformats.org/drawingml/2006/main">
              <a:ext uri="{FF2B5EF4-FFF2-40B4-BE49-F238E27FC236}">
                <a16:creationId xmlns:a16="http://schemas.microsoft.com/office/drawing/2014/main" id="{D9B13D8A-1E3F-4BE0-863D-B510E83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9334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rchestra-check-ring">
            <a:extLst xmlns:a="http://schemas.openxmlformats.org/drawingml/2006/main">
              <a:ext uri="{FF2B5EF4-FFF2-40B4-BE49-F238E27FC236}">
                <a16:creationId xmlns:a16="http://schemas.microsoft.com/office/drawing/2014/main" id="{ABD1E7DA-E2AA-40E0-8EE5-A7DAC4A6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9EF"/>
          </a:solidFill>
          <a:ln xmlns:a="http://schemas.openxmlformats.org/drawingml/2006/main" w="95250">
            <a:solidFill>
              <a:srgbClr val="22C55E"/>
            </a:solidFill>
            <a:prstDash val="solid"/>
          </a:ln>
        </p:spPr>
      </p:sp>
      <p:sp>
        <p:nvSpPr>
          <p:cNvPr id="22" name="orchestra-check">
            <a:extLst xmlns:a="http://schemas.openxmlformats.org/drawingml/2006/main">
              <a:ext uri="{FF2B5EF4-FFF2-40B4-BE49-F238E27FC236}">
                <a16:creationId xmlns:a16="http://schemas.microsoft.com/office/drawing/2014/main" id="{D0179F97-6921-4216-BA40-0168D7F4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5049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3" name="orchestra-baton">
            <a:extLst xmlns:a="http://schemas.openxmlformats.org/drawingml/2006/main">
              <a:ext uri="{FF2B5EF4-FFF2-40B4-BE49-F238E27FC236}">
                <a16:creationId xmlns:a16="http://schemas.microsoft.com/office/drawing/2014/main" id="{17DFA952-4003-4E91-9FFC-A13EA7C1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47900"/>
            <a:ext cx="95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rchestra-baton-tip">
            <a:extLst xmlns:a="http://schemas.openxmlformats.org/drawingml/2006/main">
              <a:ext uri="{FF2B5EF4-FFF2-40B4-BE49-F238E27FC236}">
                <a16:creationId xmlns:a16="http://schemas.microsoft.com/office/drawing/2014/main" id="{1115659C-8374-48A3-AC11-15CBAE6B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07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olo-label-0">
            <a:extLst xmlns:a="http://schemas.openxmlformats.org/drawingml/2006/main">
              <a:ext uri="{FF2B5EF4-FFF2-40B4-BE49-F238E27FC236}">
                <a16:creationId xmlns:a16="http://schemas.microsoft.com/office/drawing/2014/main" id="{94E6D9FC-ADB1-4E33-8680-792F9AB0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t>Python</a:t>
            </a:r>
          </a:p>
        </p:txBody>
      </p:sp>
      <p:sp>
        <p:nvSpPr>
          <p:cNvPr id="26" name="solo-note-0">
            <a:extLst xmlns:a="http://schemas.openxmlformats.org/drawingml/2006/main">
              <a:ext uri="{FF2B5EF4-FFF2-40B4-BE49-F238E27FC236}">
                <a16:creationId xmlns:a16="http://schemas.microsoft.com/office/drawing/2014/main" id="{3CE955DE-7DCF-4B4F-899F-09F2129B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49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t>♪</a:t>
            </a:r>
          </a:p>
        </p:txBody>
      </p:sp>
      <p:sp>
        <p:nvSpPr>
          <p:cNvPr id="27" name="solo-label-1">
            <a:extLst xmlns:a="http://schemas.openxmlformats.org/drawingml/2006/main">
              <a:ext uri="{FF2B5EF4-FFF2-40B4-BE49-F238E27FC236}">
                <a16:creationId xmlns:a16="http://schemas.microsoft.com/office/drawing/2014/main" id="{0DEAB74E-CEAB-4C36-A559-00A7FD62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style</a:t>
            </a:r>
          </a:p>
        </p:txBody>
      </p:sp>
      <p:sp>
        <p:nvSpPr>
          <p:cNvPr id="28" name="solo-note-1">
            <a:extLst xmlns:a="http://schemas.openxmlformats.org/drawingml/2006/main">
              <a:ext uri="{FF2B5EF4-FFF2-40B4-BE49-F238E27FC236}">
                <a16:creationId xmlns:a16="http://schemas.microsoft.com/office/drawing/2014/main" id="{6B82810F-AAC9-408C-9467-0EE50B32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533650"/>
            <a:ext cx="49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♫</a:t>
            </a:r>
          </a:p>
        </p:txBody>
      </p:sp>
      <p:sp>
        <p:nvSpPr>
          <p:cNvPr id="29" name="solo-label-2">
            <a:extLst xmlns:a="http://schemas.openxmlformats.org/drawingml/2006/main">
              <a:ext uri="{FF2B5EF4-FFF2-40B4-BE49-F238E27FC236}">
                <a16:creationId xmlns:a16="http://schemas.microsoft.com/office/drawing/2014/main" id="{4D8486E6-C548-404C-B5BD-7FDBCBE4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docs</a:t>
            </a:r>
          </a:p>
        </p:txBody>
      </p:sp>
      <p:sp>
        <p:nvSpPr>
          <p:cNvPr id="30" name="solo-note-2">
            <a:extLst xmlns:a="http://schemas.openxmlformats.org/drawingml/2006/main">
              <a:ext uri="{FF2B5EF4-FFF2-40B4-BE49-F238E27FC236}">
                <a16:creationId xmlns:a16="http://schemas.microsoft.com/office/drawing/2014/main" id="{679EA49A-04E6-4098-B265-3C3F81B6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28950"/>
            <a:ext cx="49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♪</a:t>
            </a:r>
          </a:p>
        </p:txBody>
      </p:sp>
      <p:sp>
        <p:nvSpPr>
          <p:cNvPr id="31" name="solo-label-3">
            <a:extLst xmlns:a="http://schemas.openxmlformats.org/drawingml/2006/main">
              <a:ext uri="{FF2B5EF4-FFF2-40B4-BE49-F238E27FC236}">
                <a16:creationId xmlns:a16="http://schemas.microsoft.com/office/drawing/2014/main" id="{E0A1E942-0180-4F88-BF05-58FD2E55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policy</a:t>
            </a:r>
          </a:p>
        </p:txBody>
      </p:sp>
      <p:sp>
        <p:nvSpPr>
          <p:cNvPr id="32" name="solo-note-3">
            <a:extLst xmlns:a="http://schemas.openxmlformats.org/drawingml/2006/main">
              <a:ext uri="{FF2B5EF4-FFF2-40B4-BE49-F238E27FC236}">
                <a16:creationId xmlns:a16="http://schemas.microsoft.com/office/drawing/2014/main" id="{4A46CC3C-6C80-448F-94AB-4267AF02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524250"/>
            <a:ext cx="49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♫</a:t>
            </a:r>
          </a:p>
        </p:txBody>
      </p:sp>
      <p:sp>
        <p:nvSpPr>
          <p:cNvPr id="33" name="solo-label-4">
            <a:extLst xmlns:a="http://schemas.openxmlformats.org/drawingml/2006/main">
              <a:ext uri="{FF2B5EF4-FFF2-40B4-BE49-F238E27FC236}">
                <a16:creationId xmlns:a16="http://schemas.microsoft.com/office/drawing/2014/main" id="{F80D80FE-8537-43B8-A38D-5B516D3B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fixtures</a:t>
            </a:r>
          </a:p>
        </p:txBody>
      </p:sp>
      <p:sp>
        <p:nvSpPr>
          <p:cNvPr id="34" name="solo-note-4">
            <a:extLst xmlns:a="http://schemas.openxmlformats.org/drawingml/2006/main">
              <a:ext uri="{FF2B5EF4-FFF2-40B4-BE49-F238E27FC236}">
                <a16:creationId xmlns:a16="http://schemas.microsoft.com/office/drawing/2014/main" id="{38F25B6B-46EE-401B-9239-35EDFA36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19550"/>
            <a:ext cx="49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♪</a:t>
            </a:r>
          </a:p>
        </p:txBody>
      </p:sp>
      <p:sp>
        <p:nvSpPr>
          <p:cNvPr id="35" name="solo-label-5">
            <a:extLst xmlns:a="http://schemas.openxmlformats.org/drawingml/2006/main">
              <a:ext uri="{FF2B5EF4-FFF2-40B4-BE49-F238E27FC236}">
                <a16:creationId xmlns:a16="http://schemas.microsoft.com/office/drawing/2014/main" id="{DE7DA7C1-DEE4-4AEA-9B70-29736D12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t>TUI</a:t>
            </a:r>
          </a:p>
        </p:txBody>
      </p:sp>
      <p:sp>
        <p:nvSpPr>
          <p:cNvPr id="36" name="solo-note-5">
            <a:extLst xmlns:a="http://schemas.openxmlformats.org/drawingml/2006/main">
              <a:ext uri="{FF2B5EF4-FFF2-40B4-BE49-F238E27FC236}">
                <a16:creationId xmlns:a16="http://schemas.microsoft.com/office/drawing/2014/main" id="{45B2C683-1DC0-4036-A22E-4A0562E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14850"/>
            <a:ext cx="49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t>♫</a:t>
            </a:r>
          </a:p>
        </p:txBody>
      </p:sp>
      <p:sp>
        <p:nvSpPr>
          <p:cNvPr id="37" name="solo-label-6">
            <a:extLst xmlns:a="http://schemas.openxmlformats.org/drawingml/2006/main">
              <a:ext uri="{FF2B5EF4-FFF2-40B4-BE49-F238E27FC236}">
                <a16:creationId xmlns:a16="http://schemas.microsoft.com/office/drawing/2014/main" id="{7C64470F-0D7F-43E2-97B4-62EB2869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boundary</a:t>
            </a:r>
          </a:p>
        </p:txBody>
      </p:sp>
      <p:sp>
        <p:nvSpPr>
          <p:cNvPr id="38" name="solo-note-6">
            <a:extLst xmlns:a="http://schemas.openxmlformats.org/drawingml/2006/main">
              <a:ext uri="{FF2B5EF4-FFF2-40B4-BE49-F238E27FC236}">
                <a16:creationId xmlns:a16="http://schemas.microsoft.com/office/drawing/2014/main" id="{09E41C78-F3ED-4051-B199-EDA03182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150"/>
            <a:ext cx="49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♪</a:t>
            </a:r>
          </a:p>
        </p:txBody>
      </p:sp>
      <p:sp>
        <p:nvSpPr>
          <p:cNvPr id="39" name="orchestra-caption">
            <a:extLst xmlns:a="http://schemas.openxmlformats.org/drawingml/2006/main">
              <a:ext uri="{FF2B5EF4-FFF2-40B4-BE49-F238E27FC236}">
                <a16:creationId xmlns:a16="http://schemas.microsoft.com/office/drawing/2014/main" id="{5C9CA11B-CB6B-4CE2-95A4-FE5BED3D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33950"/>
            <a:ext cx="36576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Individually useful.
Collectively trustworthy only when one command owns the order.</a:t>
            </a:r>
          </a:p>
        </p:txBody>
      </p:sp>
      <p:sp>
        <p:nvSpPr>
          <p:cNvPr id="40" name="orchestra-punchline">
            <a:extLst xmlns:a="http://schemas.openxmlformats.org/drawingml/2006/main">
              <a:ext uri="{FF2B5EF4-FFF2-40B4-BE49-F238E27FC236}">
                <a16:creationId xmlns:a16="http://schemas.microsoft.com/office/drawing/2014/main" id="{F74B36AC-1666-4EFA-B210-0A72211C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1277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orchestra-punchline-text">
            <a:extLst xmlns:a="http://schemas.openxmlformats.org/drawingml/2006/main">
              <a:ext uri="{FF2B5EF4-FFF2-40B4-BE49-F238E27FC236}">
                <a16:creationId xmlns:a16="http://schemas.microsoft.com/office/drawing/2014/main" id="{F0CB5465-7BD7-4F5A-96C6-C306E321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1070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The product is not a pile of green commands—it is one reproducible decision.</a:t>
            </a:r>
          </a:p>
        </p:txBody>
      </p:sp>
    </p:spTree>
    <p:extLst>
      <p:ext uri="{BB962C8B-B14F-4D97-AF65-F5344CB8AC3E}">
        <p14:creationId xmlns:p14="http://schemas.microsoft.com/office/powerpoint/2010/main" val="2146426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9704145A-946D-49ED-8D66-D1BB7752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CAH-007  /  REPOSITORY CHECKS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CF9545D-87D2-4433-819C-0B90FEF8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t>Twelve named stations make failures attributable</a:t>
            </a:r>
          </a:p>
        </p:txBody>
      </p:sp>
      <p:cxnSp>
        <p:nvCxnSpPr>
          <p:cNvPr id="45" name="header-rule-3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3"/>
            </a:solidFill>
            <a:prstDash val="solid"/>
          </a:ln>
        </p:spPr>
      </p:cxnSp>
      <p:sp>
        <p:nvSpPr>
          <p:cNvPr id="4" name="number-3">
            <a:extLst xmlns:a="http://schemas.openxmlformats.org/drawingml/2006/main">
              <a:ext uri="{FF2B5EF4-FFF2-40B4-BE49-F238E27FC236}">
                <a16:creationId xmlns:a16="http://schemas.microsoft.com/office/drawing/2014/main" id="{E37B7AE2-AABD-4966-AD3B-C8114D27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cxnSp>
        <p:nvCxnSpPr>
          <p:cNvPr id="47" name="station-line-0"/>
          <p:cNvCxnSpPr/>
          <p:nvPr/>
        </p:nvCxnSpPr>
        <p:spPr>
          <a:xfrm xmlns:a="http://schemas.openxmlformats.org/drawingml/2006/main">
            <a:off x="3124200" y="2266950"/>
            <a:ext cx="7981950" cy="953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38BDF8"/>
            </a:solidFill>
            <a:prstDash val="solid"/>
          </a:ln>
        </p:spPr>
      </p:cxnSp>
      <p:sp>
        <p:nvSpPr>
          <p:cNvPr id="6" name="station-group-0">
            <a:extLst xmlns:a="http://schemas.openxmlformats.org/drawingml/2006/main">
              <a:ext uri="{FF2B5EF4-FFF2-40B4-BE49-F238E27FC236}">
                <a16:creationId xmlns:a16="http://schemas.microsoft.com/office/drawing/2014/main" id="{DEE0A94A-1B72-4CC1-915F-17204C92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324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t>PYTHON CORE  •  4</a:t>
            </a:r>
          </a:p>
        </p:txBody>
      </p:sp>
      <p:sp>
        <p:nvSpPr>
          <p:cNvPr id="7" name="station-dot-0-0">
            <a:extLst xmlns:a="http://schemas.openxmlformats.org/drawingml/2006/main">
              <a:ext uri="{FF2B5EF4-FFF2-40B4-BE49-F238E27FC236}">
                <a16:creationId xmlns:a16="http://schemas.microsoft.com/office/drawing/2014/main" id="{4E9295DA-5B61-4954-913B-1FD7F894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8" name="station-label-0-0">
            <a:extLst xmlns:a="http://schemas.openxmlformats.org/drawingml/2006/main">
              <a:ext uri="{FF2B5EF4-FFF2-40B4-BE49-F238E27FC236}">
                <a16:creationId xmlns:a16="http://schemas.microsoft.com/office/drawing/2014/main" id="{0576F06D-57A6-42DF-9B27-E8137A51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812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lock + environment</a:t>
            </a:r>
          </a:p>
        </p:txBody>
      </p:sp>
      <p:sp>
        <p:nvSpPr>
          <p:cNvPr id="9" name="station-dot-0-1">
            <a:extLst xmlns:a="http://schemas.openxmlformats.org/drawingml/2006/main">
              <a:ext uri="{FF2B5EF4-FFF2-40B4-BE49-F238E27FC236}">
                <a16:creationId xmlns:a16="http://schemas.microsoft.com/office/drawing/2014/main" id="{DFAFF552-0623-4C07-BC61-01CE29C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975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10" name="station-label-0-1">
            <a:extLst xmlns:a="http://schemas.openxmlformats.org/drawingml/2006/main">
              <a:ext uri="{FF2B5EF4-FFF2-40B4-BE49-F238E27FC236}">
                <a16:creationId xmlns:a16="http://schemas.microsoft.com/office/drawing/2014/main" id="{2F1659A0-FCB1-4E7A-9534-C9F52CAA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0" y="23812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lint + docstrings</a:t>
            </a:r>
          </a:p>
        </p:txBody>
      </p:sp>
      <p:sp>
        <p:nvSpPr>
          <p:cNvPr id="11" name="station-dot-0-2">
            <a:extLst xmlns:a="http://schemas.openxmlformats.org/drawingml/2006/main">
              <a:ext uri="{FF2B5EF4-FFF2-40B4-BE49-F238E27FC236}">
                <a16:creationId xmlns:a16="http://schemas.microsoft.com/office/drawing/2014/main" id="{1F2C4DD0-8A51-4F42-B5E6-9ED53BCF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12" name="station-label-0-2">
            <a:extLst xmlns:a="http://schemas.openxmlformats.org/drawingml/2006/main">
              <a:ext uri="{FF2B5EF4-FFF2-40B4-BE49-F238E27FC236}">
                <a16:creationId xmlns:a16="http://schemas.microsoft.com/office/drawing/2014/main" id="{2E7C08E8-C3FD-418E-89C5-08A8A13B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3812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format</a:t>
            </a:r>
          </a:p>
        </p:txBody>
      </p:sp>
      <p:sp>
        <p:nvSpPr>
          <p:cNvPr id="13" name="station-dot-0-3">
            <a:extLst xmlns:a="http://schemas.openxmlformats.org/drawingml/2006/main">
              <a:ext uri="{FF2B5EF4-FFF2-40B4-BE49-F238E27FC236}">
                <a16:creationId xmlns:a16="http://schemas.microsoft.com/office/drawing/2014/main" id="{46BA9746-CB9B-49C9-AA33-C04823C8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14" name="station-label-0-3">
            <a:extLst xmlns:a="http://schemas.openxmlformats.org/drawingml/2006/main">
              <a:ext uri="{FF2B5EF4-FFF2-40B4-BE49-F238E27FC236}">
                <a16:creationId xmlns:a16="http://schemas.microsoft.com/office/drawing/2014/main" id="{DF14B8DA-8984-4CE3-8099-8996D6E0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core tests</a:t>
            </a:r>
          </a:p>
        </p:txBody>
      </p:sp>
      <p:cxnSp>
        <p:nvCxnSpPr>
          <p:cNvPr id="57" name="station-line-1"/>
          <p:cNvCxnSpPr/>
          <p:nvPr/>
        </p:nvCxnSpPr>
        <p:spPr>
          <a:xfrm xmlns:a="http://schemas.openxmlformats.org/drawingml/2006/main">
            <a:off x="3124200" y="3143250"/>
            <a:ext cx="7981950" cy="953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8B5CF6"/>
            </a:solidFill>
            <a:prstDash val="solid"/>
          </a:ln>
        </p:spPr>
      </p:cxnSp>
      <p:sp>
        <p:nvSpPr>
          <p:cNvPr id="16" name="station-group-1">
            <a:extLst xmlns:a="http://schemas.openxmlformats.org/drawingml/2006/main">
              <a:ext uri="{FF2B5EF4-FFF2-40B4-BE49-F238E27FC236}">
                <a16:creationId xmlns:a16="http://schemas.microsoft.com/office/drawing/2014/main" id="{F79756DC-62EC-4EA0-9ADF-FA361A7E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2324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TRUST BOUNDARY  •  3</a:t>
            </a:r>
          </a:p>
        </p:txBody>
      </p:sp>
      <p:sp>
        <p:nvSpPr>
          <p:cNvPr id="17" name="station-dot-1-0">
            <a:extLst xmlns:a="http://schemas.openxmlformats.org/drawingml/2006/main">
              <a:ext uri="{FF2B5EF4-FFF2-40B4-BE49-F238E27FC236}">
                <a16:creationId xmlns:a16="http://schemas.microsoft.com/office/drawing/2014/main" id="{C0F411C0-7BB2-4A80-B0DC-AF0AC71B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18" name="station-label-1-0">
            <a:extLst xmlns:a="http://schemas.openxmlformats.org/drawingml/2006/main">
              <a:ext uri="{FF2B5EF4-FFF2-40B4-BE49-F238E27FC236}">
                <a16:creationId xmlns:a16="http://schemas.microsoft.com/office/drawing/2014/main" id="{94E32B0F-1FFD-4EA9-A394-EB95812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575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Python fixtures</a:t>
            </a:r>
          </a:p>
        </p:txBody>
      </p:sp>
      <p:sp>
        <p:nvSpPr>
          <p:cNvPr id="19" name="station-dot-1-1">
            <a:extLst xmlns:a="http://schemas.openxmlformats.org/drawingml/2006/main">
              <a:ext uri="{FF2B5EF4-FFF2-40B4-BE49-F238E27FC236}">
                <a16:creationId xmlns:a16="http://schemas.microsoft.com/office/drawing/2014/main" id="{E91342C3-02A5-4F92-8BCA-C71949E1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20" name="station-label-1-1">
            <a:extLst xmlns:a="http://schemas.openxmlformats.org/drawingml/2006/main">
              <a:ext uri="{FF2B5EF4-FFF2-40B4-BE49-F238E27FC236}">
                <a16:creationId xmlns:a16="http://schemas.microsoft.com/office/drawing/2014/main" id="{781D9F3E-4E7C-4794-8A96-643D7DED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575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runtime range</a:t>
            </a:r>
          </a:p>
        </p:txBody>
      </p:sp>
      <p:sp>
        <p:nvSpPr>
          <p:cNvPr id="21" name="station-dot-1-2">
            <a:extLst xmlns:a="http://schemas.openxmlformats.org/drawingml/2006/main">
              <a:ext uri="{FF2B5EF4-FFF2-40B4-BE49-F238E27FC236}">
                <a16:creationId xmlns:a16="http://schemas.microsoft.com/office/drawing/2014/main" id="{61AE0848-5F9C-4891-AA89-D2755CE3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22" name="station-label-1-2">
            <a:extLst xmlns:a="http://schemas.openxmlformats.org/drawingml/2006/main">
              <a:ext uri="{FF2B5EF4-FFF2-40B4-BE49-F238E27FC236}">
                <a16:creationId xmlns:a16="http://schemas.microsoft.com/office/drawing/2014/main" id="{5FB8DC0C-790A-4BE6-89AB-D71A203A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repository policy</a:t>
            </a:r>
          </a:p>
        </p:txBody>
      </p:sp>
      <p:cxnSp>
        <p:nvCxnSpPr>
          <p:cNvPr id="65" name="station-line-2"/>
          <p:cNvCxnSpPr/>
          <p:nvPr/>
        </p:nvCxnSpPr>
        <p:spPr>
          <a:xfrm xmlns:a="http://schemas.openxmlformats.org/drawingml/2006/main">
            <a:off x="3124200" y="4019550"/>
            <a:ext cx="7981950" cy="953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6B6B"/>
            </a:solidFill>
            <a:prstDash val="solid"/>
          </a:ln>
        </p:spPr>
      </p:cxnSp>
      <p:sp>
        <p:nvSpPr>
          <p:cNvPr id="24" name="station-group-2">
            <a:extLst xmlns:a="http://schemas.openxmlformats.org/drawingml/2006/main">
              <a:ext uri="{FF2B5EF4-FFF2-40B4-BE49-F238E27FC236}">
                <a16:creationId xmlns:a16="http://schemas.microsoft.com/office/drawing/2014/main" id="{50191F53-087D-4C2E-B9C0-56ACCDF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2324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TUI CORE  •  3</a:t>
            </a:r>
          </a:p>
        </p:txBody>
      </p:sp>
      <p:sp>
        <p:nvSpPr>
          <p:cNvPr id="25" name="station-dot-2-0">
            <a:extLst xmlns:a="http://schemas.openxmlformats.org/drawingml/2006/main">
              <a:ext uri="{FF2B5EF4-FFF2-40B4-BE49-F238E27FC236}">
                <a16:creationId xmlns:a16="http://schemas.microsoft.com/office/drawing/2014/main" id="{D1A434A3-088A-4F1F-83BA-8A982308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76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26" name="station-label-2-0">
            <a:extLst xmlns:a="http://schemas.openxmlformats.org/drawingml/2006/main">
              <a:ext uri="{FF2B5EF4-FFF2-40B4-BE49-F238E27FC236}">
                <a16:creationId xmlns:a16="http://schemas.microsoft.com/office/drawing/2014/main" id="{3A9AF87B-05A9-461F-8234-14B910B3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338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typecheck</a:t>
            </a:r>
          </a:p>
        </p:txBody>
      </p:sp>
      <p:sp>
        <p:nvSpPr>
          <p:cNvPr id="27" name="station-dot-2-1">
            <a:extLst xmlns:a="http://schemas.openxmlformats.org/drawingml/2006/main">
              <a:ext uri="{FF2B5EF4-FFF2-40B4-BE49-F238E27FC236}">
                <a16:creationId xmlns:a16="http://schemas.microsoft.com/office/drawing/2014/main" id="{13B268AD-EC51-468D-99FF-8FF6F50B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76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28" name="station-label-2-1">
            <a:extLst xmlns:a="http://schemas.openxmlformats.org/drawingml/2006/main">
              <a:ext uri="{FF2B5EF4-FFF2-40B4-BE49-F238E27FC236}">
                <a16:creationId xmlns:a16="http://schemas.microsoft.com/office/drawing/2014/main" id="{ACC11BB7-BF31-4D71-B121-60CC05ED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1338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lint</a:t>
            </a:r>
          </a:p>
        </p:txBody>
      </p:sp>
      <p:sp>
        <p:nvSpPr>
          <p:cNvPr id="29" name="station-dot-2-2">
            <a:extLst xmlns:a="http://schemas.openxmlformats.org/drawingml/2006/main">
              <a:ext uri="{FF2B5EF4-FFF2-40B4-BE49-F238E27FC236}">
                <a16:creationId xmlns:a16="http://schemas.microsoft.com/office/drawing/2014/main" id="{1B0F2ED9-D3F0-4C0C-AFC6-5E13EF40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876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30" name="station-label-2-2">
            <a:extLst xmlns:a="http://schemas.openxmlformats.org/drawingml/2006/main">
              <a:ext uri="{FF2B5EF4-FFF2-40B4-BE49-F238E27FC236}">
                <a16:creationId xmlns:a16="http://schemas.microsoft.com/office/drawing/2014/main" id="{AA13F74A-86EA-431D-912A-12BE3DAB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338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core tests</a:t>
            </a:r>
          </a:p>
        </p:txBody>
      </p:sp>
      <p:cxnSp>
        <p:nvCxnSpPr>
          <p:cNvPr id="73" name="station-line-3"/>
          <p:cNvCxnSpPr/>
          <p:nvPr/>
        </p:nvCxnSpPr>
        <p:spPr>
          <a:xfrm xmlns:a="http://schemas.openxmlformats.org/drawingml/2006/main">
            <a:off x="3124200" y="4895850"/>
            <a:ext cx="7981950" cy="953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22C55E"/>
            </a:solidFill>
            <a:prstDash val="solid"/>
          </a:ln>
        </p:spPr>
      </p:cxnSp>
      <p:sp>
        <p:nvSpPr>
          <p:cNvPr id="32" name="station-group-3">
            <a:extLst xmlns:a="http://schemas.openxmlformats.org/drawingml/2006/main">
              <a:ext uri="{FF2B5EF4-FFF2-40B4-BE49-F238E27FC236}">
                <a16:creationId xmlns:a16="http://schemas.microsoft.com/office/drawing/2014/main" id="{8E845335-ECF0-4B5A-A048-91BB1271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2324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CROSS-PROCESS  •  2</a:t>
            </a:r>
          </a:p>
        </p:txBody>
      </p:sp>
      <p:sp>
        <p:nvSpPr>
          <p:cNvPr id="33" name="station-dot-3-0">
            <a:extLst xmlns:a="http://schemas.openxmlformats.org/drawingml/2006/main">
              <a:ext uri="{FF2B5EF4-FFF2-40B4-BE49-F238E27FC236}">
                <a16:creationId xmlns:a16="http://schemas.microsoft.com/office/drawing/2014/main" id="{69EC5887-96C9-4681-B41A-5022EC9B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52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34" name="station-label-3-0">
            <a:extLst xmlns:a="http://schemas.openxmlformats.org/drawingml/2006/main">
              <a:ext uri="{FF2B5EF4-FFF2-40B4-BE49-F238E27FC236}">
                <a16:creationId xmlns:a16="http://schemas.microsoft.com/office/drawing/2014/main" id="{0E91970D-0FC6-4E7D-B4A6-E9E55FB4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101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TypeScript fixtures</a:t>
            </a:r>
          </a:p>
        </p:txBody>
      </p:sp>
      <p:sp>
        <p:nvSpPr>
          <p:cNvPr id="35" name="station-dot-3-1">
            <a:extLst xmlns:a="http://schemas.openxmlformats.org/drawingml/2006/main">
              <a:ext uri="{FF2B5EF4-FFF2-40B4-BE49-F238E27FC236}">
                <a16:creationId xmlns:a16="http://schemas.microsoft.com/office/drawing/2014/main" id="{F4CA50EA-8963-4A10-9C36-669A848B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752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36" name="station-label-3-1">
            <a:extLst xmlns:a="http://schemas.openxmlformats.org/drawingml/2006/main">
              <a:ext uri="{FF2B5EF4-FFF2-40B4-BE49-F238E27FC236}">
                <a16:creationId xmlns:a16="http://schemas.microsoft.com/office/drawing/2014/main" id="{E2FD756C-FAEC-42CF-B4E0-A37D1011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101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Node–Python integration</a:t>
            </a:r>
          </a:p>
        </p:txBody>
      </p:sp>
      <p:sp>
        <p:nvSpPr>
          <p:cNvPr id="37" name="spine-fail">
            <a:extLst xmlns:a="http://schemas.openxmlformats.org/drawingml/2006/main">
              <a:ext uri="{FF2B5EF4-FFF2-40B4-BE49-F238E27FC236}">
                <a16:creationId xmlns:a16="http://schemas.microsoft.com/office/drawing/2014/main" id="{ABF1CC79-E8FA-4F40-AE1E-99DC591B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6686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38" name="spine-fail-icon">
            <a:extLst xmlns:a="http://schemas.openxmlformats.org/drawingml/2006/main">
              <a:ext uri="{FF2B5EF4-FFF2-40B4-BE49-F238E27FC236}">
                <a16:creationId xmlns:a16="http://schemas.microsoft.com/office/drawing/2014/main" id="{DFC743C6-94D3-4AB4-813D-DEFFD40B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76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39" name="spine-fail-text">
            <a:extLst xmlns:a="http://schemas.openxmlformats.org/drawingml/2006/main">
              <a:ext uri="{FF2B5EF4-FFF2-40B4-BE49-F238E27FC236}">
                <a16:creationId xmlns:a16="http://schemas.microsoft.com/office/drawing/2014/main" id="{3D67A7A9-A81D-4FF0-9D67-D8FC0E18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81675"/>
            <a:ext cx="546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First failure stops the train;
the last  ==&gt;  label names the layer.</a:t>
            </a:r>
          </a:p>
        </p:txBody>
      </p:sp>
      <p:sp>
        <p:nvSpPr>
          <p:cNvPr id="40" name="spine-pass">
            <a:extLst xmlns:a="http://schemas.openxmlformats.org/drawingml/2006/main">
              <a:ext uri="{FF2B5EF4-FFF2-40B4-BE49-F238E27FC236}">
                <a16:creationId xmlns:a16="http://schemas.microsoft.com/office/drawing/2014/main" id="{B1B0AB00-A59F-49CC-A1C6-A84146A6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57850"/>
            <a:ext cx="4286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9F9EF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41" name="spine-pass-icon">
            <a:extLst xmlns:a="http://schemas.openxmlformats.org/drawingml/2006/main">
              <a:ext uri="{FF2B5EF4-FFF2-40B4-BE49-F238E27FC236}">
                <a16:creationId xmlns:a16="http://schemas.microsoft.com/office/drawing/2014/main" id="{72219157-2562-468D-B61C-E71C5F89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762625"/>
            <a:ext cx="495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42" name="spine-pass-text">
            <a:extLst xmlns:a="http://schemas.openxmlformats.org/drawingml/2006/main">
              <a:ext uri="{FF2B5EF4-FFF2-40B4-BE49-F238E27FC236}">
                <a16:creationId xmlns:a16="http://schemas.microsoft.com/office/drawing/2014/main" id="{158E72D3-CEB4-46F5-8399-CA8CE419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81675"/>
            <a:ext cx="3067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Only after station 12:
All repository checks passed.</a:t>
            </a:r>
          </a:p>
        </p:txBody>
      </p:sp>
    </p:spTree>
    <p:extLst>
      <p:ext uri="{BB962C8B-B14F-4D97-AF65-F5344CB8AC3E}">
        <p14:creationId xmlns:p14="http://schemas.microsoft.com/office/powerpoint/2010/main" val="2019188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EE867DA1-11BA-481E-B2E3-AB5F350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CAH-007  /  REPOSITORY CHECKS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D181097-3C15-4289-8E87-36A47645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t>Setup may fetch; validation closes the airlock</a:t>
            </a:r>
          </a:p>
        </p:txBody>
      </p:sp>
      <p:cxnSp>
        <p:nvCxnSpPr>
          <p:cNvPr id="26" name="header-rule-4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3"/>
            </a:solidFill>
            <a:prstDash val="solid"/>
          </a:ln>
        </p:spPr>
      </p:cxnSp>
      <p:sp>
        <p:nvSpPr>
          <p:cNvPr id="4" name="number-4">
            <a:extLst xmlns:a="http://schemas.openxmlformats.org/drawingml/2006/main">
              <a:ext uri="{FF2B5EF4-FFF2-40B4-BE49-F238E27FC236}">
                <a16:creationId xmlns:a16="http://schemas.microsoft.com/office/drawing/2014/main" id="{3B3DF361-5D80-4660-8FF9-5152B989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cxnSp>
        <p:nvCxnSpPr>
          <p:cNvPr id="28" name="airlock-bridge"/>
          <p:cNvCxnSpPr/>
          <p:nvPr/>
        </p:nvCxnSpPr>
        <p:spPr>
          <a:xfrm xmlns:a="http://schemas.openxmlformats.org/drawingml/2006/main">
            <a:off x="4438650" y="3486150"/>
            <a:ext cx="3333750" cy="953"/>
          </a:xfrm>
          <a:prstGeom xmlns:a="http://schemas.openxmlformats.org/drawingml/2006/main" prst="straightConnector1">
            <a:avLst/>
          </a:prstGeom>
          <a:ln xmlns:a="http://schemas.openxmlformats.org/drawingml/2006/main" w="152400">
            <a:solidFill>
              <a:srgbClr val="CBD5E1"/>
            </a:solidFill>
            <a:prstDash val="solid"/>
          </a:ln>
        </p:spPr>
      </p:cxnSp>
      <p:sp>
        <p:nvSpPr>
          <p:cNvPr id="6" name="airlock-arrow">
            <a:extLst xmlns:a="http://schemas.openxmlformats.org/drawingml/2006/main">
              <a:ext uri="{FF2B5EF4-FFF2-40B4-BE49-F238E27FC236}">
                <a16:creationId xmlns:a16="http://schemas.microsoft.com/office/drawing/2014/main" id="{73E845E9-F89C-4D51-A8AA-6DE23BCC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8500"/>
            <a:ext cx="9144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tup-island">
            <a:extLst xmlns:a="http://schemas.openxmlformats.org/drawingml/2006/main">
              <a:ext uri="{FF2B5EF4-FFF2-40B4-BE49-F238E27FC236}">
                <a16:creationId xmlns:a16="http://schemas.microsoft.com/office/drawing/2014/main" id="{5BDD744A-AAA5-428D-80B4-5DC32155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6F7FD"/>
          </a:solidFill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8" name="check-island">
            <a:extLst xmlns:a="http://schemas.openxmlformats.org/drawingml/2006/main">
              <a:ext uri="{FF2B5EF4-FFF2-40B4-BE49-F238E27FC236}">
                <a16:creationId xmlns:a16="http://schemas.microsoft.com/office/drawing/2014/main" id="{92818F74-E609-4F07-A11B-840089B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9F9EF"/>
          </a:solidFill>
          <a:ln xmlns:a="http://schemas.openxmlformats.org/drawingml/2006/main" w="28575">
            <a:solidFill>
              <a:srgbClr val="22C55E"/>
            </a:solidFill>
            <a:prstDash val="solid"/>
          </a:ln>
        </p:spPr>
      </p:sp>
      <p:sp>
        <p:nvSpPr>
          <p:cNvPr id="9" name="airlock-door">
            <a:extLst xmlns:a="http://schemas.openxmlformats.org/drawingml/2006/main">
              <a:ext uri="{FF2B5EF4-FFF2-40B4-BE49-F238E27FC236}">
                <a16:creationId xmlns:a16="http://schemas.microsoft.com/office/drawing/2014/main" id="{F686EBE9-7AA8-4D09-8EC3-122D8AB6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11811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rlock-lock">
            <a:extLst xmlns:a="http://schemas.openxmlformats.org/drawingml/2006/main">
              <a:ext uri="{FF2B5EF4-FFF2-40B4-BE49-F238E27FC236}">
                <a16:creationId xmlns:a16="http://schemas.microsoft.com/office/drawing/2014/main" id="{F872E898-4227-4705-9959-72E74E0B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irlock-keyhole">
            <a:extLst xmlns:a="http://schemas.openxmlformats.org/drawingml/2006/main">
              <a:ext uri="{FF2B5EF4-FFF2-40B4-BE49-F238E27FC236}">
                <a16:creationId xmlns:a16="http://schemas.microsoft.com/office/drawing/2014/main" id="{21BD504A-95AC-4D92-B25A-46C37994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90900"/>
            <a:ext cx="133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irlock-cross">
            <a:extLst xmlns:a="http://schemas.openxmlformats.org/drawingml/2006/main">
              <a:ext uri="{FF2B5EF4-FFF2-40B4-BE49-F238E27FC236}">
                <a16:creationId xmlns:a16="http://schemas.microsoft.com/office/drawing/2014/main" id="{30F04C34-863F-4E8A-A241-BBA3CD26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8001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×</a:t>
            </a:r>
          </a:p>
        </p:txBody>
      </p:sp>
      <p:sp>
        <p:nvSpPr>
          <p:cNvPr id="13" name="setup-label">
            <a:extLst xmlns:a="http://schemas.openxmlformats.org/drawingml/2006/main">
              <a:ext uri="{FF2B5EF4-FFF2-40B4-BE49-F238E27FC236}">
                <a16:creationId xmlns:a16="http://schemas.microsoft.com/office/drawing/2014/main" id="{6B6DD913-9FEB-47BA-9E7B-475E0357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3067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t>SETUP ZONE</a:t>
            </a:r>
          </a:p>
        </p:txBody>
      </p:sp>
      <p:sp>
        <p:nvSpPr>
          <p:cNvPr id="14" name="setup-title">
            <a:extLst xmlns:a="http://schemas.openxmlformats.org/drawingml/2006/main">
              <a:ext uri="{FF2B5EF4-FFF2-40B4-BE49-F238E27FC236}">
                <a16:creationId xmlns:a16="http://schemas.microsoft.com/office/drawing/2014/main" id="{9ECDEB21-C513-4A7A-A1CA-FFA9442D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3067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Reproducible installs</a:t>
            </a:r>
          </a:p>
        </p:txBody>
      </p:sp>
      <p:sp>
        <p:nvSpPr>
          <p:cNvPr id="15" name="setup-command-1">
            <a:extLst xmlns:a="http://schemas.openxmlformats.org/drawingml/2006/main">
              <a:ext uri="{FF2B5EF4-FFF2-40B4-BE49-F238E27FC236}">
                <a16:creationId xmlns:a16="http://schemas.microsoft.com/office/drawing/2014/main" id="{01759DCC-BDD7-4ED2-9448-A64BF7CC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t>uv sync --dev</a:t>
            </a:r>
          </a:p>
        </p:txBody>
      </p:sp>
      <p:sp>
        <p:nvSpPr>
          <p:cNvPr id="16" name="setup-command-2">
            <a:extLst xmlns:a="http://schemas.openxmlformats.org/drawingml/2006/main">
              <a:ext uri="{FF2B5EF4-FFF2-40B4-BE49-F238E27FC236}">
                <a16:creationId xmlns:a16="http://schemas.microsoft.com/office/drawing/2014/main" id="{4EDE3BA4-7DF1-49DF-8E4F-5BDD2494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t>CI: uv sync --locked</a:t>
            </a:r>
          </a:p>
        </p:txBody>
      </p:sp>
      <p:sp>
        <p:nvSpPr>
          <p:cNvPr id="17" name="setup-command-3">
            <a:extLst xmlns:a="http://schemas.openxmlformats.org/drawingml/2006/main">
              <a:ext uri="{FF2B5EF4-FFF2-40B4-BE49-F238E27FC236}">
                <a16:creationId xmlns:a16="http://schemas.microsoft.com/office/drawing/2014/main" id="{70561901-4B36-4635-B2C6-6B3075D6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t>npm --prefix tui ci</a:t>
            </a:r>
          </a:p>
        </p:txBody>
      </p:sp>
      <p:sp>
        <p:nvSpPr>
          <p:cNvPr id="18" name="setup-caption">
            <a:extLst xmlns:a="http://schemas.openxmlformats.org/drawingml/2006/main">
              <a:ext uri="{FF2B5EF4-FFF2-40B4-BE49-F238E27FC236}">
                <a16:creationId xmlns:a16="http://schemas.microsoft.com/office/drawing/2014/main" id="{0C193E68-B1CB-495C-AFAA-488E79F3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857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Network is allowed only to prepare
the locked environment.</a:t>
            </a:r>
          </a:p>
        </p:txBody>
      </p:sp>
      <p:sp>
        <p:nvSpPr>
          <p:cNvPr id="19" name="check-label">
            <a:extLst xmlns:a="http://schemas.openxmlformats.org/drawingml/2006/main">
              <a:ext uri="{FF2B5EF4-FFF2-40B4-BE49-F238E27FC236}">
                <a16:creationId xmlns:a16="http://schemas.microsoft.com/office/drawing/2014/main" id="{68810C40-9F56-44CA-A8B7-7F0BFB3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3067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CHECK ZONE</a:t>
            </a:r>
          </a:p>
        </p:txBody>
      </p:sp>
      <p:sp>
        <p:nvSpPr>
          <p:cNvPr id="20" name="check-title">
            <a:extLst xmlns:a="http://schemas.openxmlformats.org/drawingml/2006/main">
              <a:ext uri="{FF2B5EF4-FFF2-40B4-BE49-F238E27FC236}">
                <a16:creationId xmlns:a16="http://schemas.microsoft.com/office/drawing/2014/main" id="{21158826-EC56-49D4-91F6-106DAB71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3067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Offline guardrails active</a:t>
            </a:r>
          </a:p>
        </p:txBody>
      </p:sp>
      <p:sp>
        <p:nvSpPr>
          <p:cNvPr id="21" name="check-list">
            <a:extLst xmlns:a="http://schemas.openxmlformats.org/drawingml/2006/main">
              <a:ext uri="{FF2B5EF4-FFF2-40B4-BE49-F238E27FC236}">
                <a16:creationId xmlns:a16="http://schemas.microsoft.com/office/drawing/2014/main" id="{7097798F-0236-465B-A27E-81639167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t>secrets + uv selectors unset
network guards active
uv sync --check
uv run --no-sync
offline + frozen
Node before every npm</a:t>
            </a:r>
          </a:p>
        </p:txBody>
      </p:sp>
      <p:sp>
        <p:nvSpPr>
          <p:cNvPr id="22" name="airlock-caption">
            <a:extLst xmlns:a="http://schemas.openxmlformats.org/drawingml/2006/main">
              <a:ext uri="{FF2B5EF4-FFF2-40B4-BE49-F238E27FC236}">
                <a16:creationId xmlns:a16="http://schemas.microsoft.com/office/drawing/2014/main" id="{50BB6C71-6742-49FD-9B35-5D6AC3E9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6197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STATIC GUARD</a:t>
            </a:r>
          </a:p>
        </p:txBody>
      </p:sp>
      <p:sp>
        <p:nvSpPr>
          <p:cNvPr id="23" name="airlock-note">
            <a:extLst xmlns:a="http://schemas.openxmlformats.org/drawingml/2006/main">
              <a:ext uri="{FF2B5EF4-FFF2-40B4-BE49-F238E27FC236}">
                <a16:creationId xmlns:a16="http://schemas.microsoft.com/office/drawing/2014/main" id="{829E7B92-0233-4DBC-84D3-3D72D13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81700"/>
            <a:ext cx="861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Process guards + source denylist—not an OS sandbox. External links remain offline.</a:t>
            </a:r>
          </a:p>
        </p:txBody>
      </p:sp>
    </p:spTree>
    <p:extLst>
      <p:ext uri="{BB962C8B-B14F-4D97-AF65-F5344CB8AC3E}">
        <p14:creationId xmlns:p14="http://schemas.microsoft.com/office/powerpoint/2010/main" val="1863662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927DE81C-2204-44D8-BF56-758D30D3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CAH-007  /  REPOSITORY CHECKS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13A451B-3C16-49D6-A277-F937281C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t>The seams get first-class seats in the test suite</a:t>
            </a:r>
          </a:p>
        </p:txBody>
      </p:sp>
      <p:cxnSp>
        <p:nvCxnSpPr>
          <p:cNvPr id="32" name="header-rule-5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3"/>
            </a:solidFill>
            <a:prstDash val="solid"/>
          </a:ln>
        </p:spPr>
      </p:cxnSp>
      <p:sp>
        <p:nvSpPr>
          <p:cNvPr id="4" name="number-5">
            <a:extLst xmlns:a="http://schemas.openxmlformats.org/drawingml/2006/main">
              <a:ext uri="{FF2B5EF4-FFF2-40B4-BE49-F238E27FC236}">
                <a16:creationId xmlns:a16="http://schemas.microsoft.com/office/drawing/2014/main" id="{573ECF72-6E2F-419A-85B4-3541D679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cxnSp>
        <p:nvCxnSpPr>
          <p:cNvPr id="34" name="seam-main"/>
          <p:cNvCxnSpPr/>
          <p:nvPr/>
        </p:nvCxnSpPr>
        <p:spPr>
          <a:xfrm xmlns:a="http://schemas.openxmlformats.org/drawingml/2006/main">
            <a:off x="1123950" y="3448050"/>
            <a:ext cx="9906000" cy="953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0B1F33"/>
            </a:solidFill>
            <a:prstDash val="solid"/>
          </a:ln>
        </p:spPr>
      </p:cxnSp>
      <p:cxnSp>
        <p:nvCxnSpPr>
          <p:cNvPr id="35" name="seam-doc"/>
          <p:cNvCxnSpPr/>
          <p:nvPr/>
        </p:nvCxnSpPr>
        <p:spPr>
          <a:xfrm xmlns:a="http://schemas.openxmlformats.org/drawingml/2006/main">
            <a:off x="2457450" y="2457450"/>
            <a:ext cx="953" cy="9906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6B"/>
            </a:solidFill>
            <a:prstDash val="solid"/>
          </a:ln>
        </p:spPr>
      </p:cxnSp>
      <p:cxnSp>
        <p:nvCxnSpPr>
          <p:cNvPr id="36" name="seam-policy"/>
          <p:cNvCxnSpPr/>
          <p:nvPr/>
        </p:nvCxnSpPr>
        <p:spPr>
          <a:xfrm xmlns:a="http://schemas.openxmlformats.org/drawingml/2006/main">
            <a:off x="4705350" y="3448050"/>
            <a:ext cx="953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8B5CF6"/>
            </a:solidFill>
            <a:prstDash val="solid"/>
          </a:ln>
        </p:spPr>
      </p:cxnSp>
      <p:cxnSp>
        <p:nvCxnSpPr>
          <p:cNvPr id="37" name="seam-fixture"/>
          <p:cNvCxnSpPr/>
          <p:nvPr/>
        </p:nvCxnSpPr>
        <p:spPr>
          <a:xfrm xmlns:a="http://schemas.openxmlformats.org/drawingml/2006/main">
            <a:off x="6953250" y="2457450"/>
            <a:ext cx="953" cy="9906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D166"/>
            </a:solidFill>
            <a:prstDash val="solid"/>
          </a:ln>
        </p:spPr>
      </p:cxnSp>
      <p:cxnSp>
        <p:nvCxnSpPr>
          <p:cNvPr id="38" name="seam-integration"/>
          <p:cNvCxnSpPr/>
          <p:nvPr/>
        </p:nvCxnSpPr>
        <p:spPr>
          <a:xfrm xmlns:a="http://schemas.openxmlformats.org/drawingml/2006/main">
            <a:off x="9201150" y="3448050"/>
            <a:ext cx="953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2C55E"/>
            </a:solidFill>
            <a:prstDash val="solid"/>
          </a:ln>
        </p:spPr>
      </p:cxnSp>
      <p:sp>
        <p:nvSpPr>
          <p:cNvPr id="10" name="seam-ring-0">
            <a:extLst xmlns:a="http://schemas.openxmlformats.org/drawingml/2006/main">
              <a:ext uri="{FF2B5EF4-FFF2-40B4-BE49-F238E27FC236}">
                <a16:creationId xmlns:a16="http://schemas.microsoft.com/office/drawing/2014/main" id="{7AD6D2AD-9F89-4C1F-865A-F5ABCC98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00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11" name="seam-box-0">
            <a:extLst xmlns:a="http://schemas.openxmlformats.org/drawingml/2006/main">
              <a:ext uri="{FF2B5EF4-FFF2-40B4-BE49-F238E27FC236}">
                <a16:creationId xmlns:a16="http://schemas.microsoft.com/office/drawing/2014/main" id="{C64B63AB-629E-4DC5-A151-466FDF71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2" name="seam-heading-0">
            <a:extLst xmlns:a="http://schemas.openxmlformats.org/drawingml/2006/main">
              <a:ext uri="{FF2B5EF4-FFF2-40B4-BE49-F238E27FC236}">
                <a16:creationId xmlns:a16="http://schemas.microsoft.com/office/drawing/2014/main" id="{FA138D26-CFE4-4C57-A592-6AEBE7A1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DOC LINKS</a:t>
            </a:r>
          </a:p>
        </p:txBody>
      </p:sp>
      <p:sp>
        <p:nvSpPr>
          <p:cNvPr id="13" name="seam-body-0">
            <a:extLst xmlns:a="http://schemas.openxmlformats.org/drawingml/2006/main">
              <a:ext uri="{FF2B5EF4-FFF2-40B4-BE49-F238E27FC236}">
                <a16:creationId xmlns:a16="http://schemas.microsoft.com/office/drawing/2014/main" id="{BCF7BC5A-EC58-4206-8C76-9B200936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Tracked + new nonignored
links must resolve</a:t>
            </a:r>
          </a:p>
        </p:txBody>
      </p:sp>
      <p:sp>
        <p:nvSpPr>
          <p:cNvPr id="14" name="seam-ring-1">
            <a:extLst xmlns:a="http://schemas.openxmlformats.org/drawingml/2006/main">
              <a:ext uri="{FF2B5EF4-FFF2-40B4-BE49-F238E27FC236}">
                <a16:creationId xmlns:a16="http://schemas.microsoft.com/office/drawing/2014/main" id="{5A30440B-1CF5-414A-B74F-63524F62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00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15" name="seam-box-1">
            <a:extLst xmlns:a="http://schemas.openxmlformats.org/drawingml/2006/main">
              <a:ext uri="{FF2B5EF4-FFF2-40B4-BE49-F238E27FC236}">
                <a16:creationId xmlns:a16="http://schemas.microsoft.com/office/drawing/2014/main" id="{B333DEF2-2228-4ADE-B78D-045D6B0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3FF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16" name="seam-heading-1">
            <a:extLst xmlns:a="http://schemas.openxmlformats.org/drawingml/2006/main">
              <a:ext uri="{FF2B5EF4-FFF2-40B4-BE49-F238E27FC236}">
                <a16:creationId xmlns:a16="http://schemas.microsoft.com/office/drawing/2014/main" id="{6D95671B-4A6B-468E-88E1-4D04E059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8155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LOCK + NETWORK</a:t>
            </a:r>
          </a:p>
        </p:txBody>
      </p:sp>
      <p:sp>
        <p:nvSpPr>
          <p:cNvPr id="17" name="seam-body-1">
            <a:extLst xmlns:a="http://schemas.openxmlformats.org/drawingml/2006/main">
              <a:ext uri="{FF2B5EF4-FFF2-40B4-BE49-F238E27FC236}">
                <a16:creationId xmlns:a16="http://schemas.microsoft.com/office/drawing/2014/main" id="{AE5655B1-2110-4A36-89A8-E34BAEB8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863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Lock drift + global fetch
fail synthetically</a:t>
            </a:r>
          </a:p>
        </p:txBody>
      </p:sp>
      <p:sp>
        <p:nvSpPr>
          <p:cNvPr id="18" name="seam-ring-2">
            <a:extLst xmlns:a="http://schemas.openxmlformats.org/drawingml/2006/main">
              <a:ext uri="{FF2B5EF4-FFF2-40B4-BE49-F238E27FC236}">
                <a16:creationId xmlns:a16="http://schemas.microsoft.com/office/drawing/2014/main" id="{7C0D53D5-2D68-43B9-AF3D-BBFE8936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19" name="seam-box-2">
            <a:extLst xmlns:a="http://schemas.openxmlformats.org/drawingml/2006/main">
              <a:ext uri="{FF2B5EF4-FFF2-40B4-BE49-F238E27FC236}">
                <a16:creationId xmlns:a16="http://schemas.microsoft.com/office/drawing/2014/main" id="{F5D456EA-8528-4090-B1CB-174D0153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20" name="seam-heading-2">
            <a:extLst xmlns:a="http://schemas.openxmlformats.org/drawingml/2006/main">
              <a:ext uri="{FF2B5EF4-FFF2-40B4-BE49-F238E27FC236}">
                <a16:creationId xmlns:a16="http://schemas.microsoft.com/office/drawing/2014/main" id="{50DD9935-1F72-4391-8B65-8B16B5F3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GOLDEN FIXTURES</a:t>
            </a:r>
          </a:p>
        </p:txBody>
      </p:sp>
      <p:sp>
        <p:nvSpPr>
          <p:cNvPr id="21" name="seam-body-2">
            <a:extLst xmlns:a="http://schemas.openxmlformats.org/drawingml/2006/main">
              <a:ext uri="{FF2B5EF4-FFF2-40B4-BE49-F238E27FC236}">
                <a16:creationId xmlns:a16="http://schemas.microsoft.com/office/drawing/2014/main" id="{70273786-0423-4CD7-88AE-3FDB6DCB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4320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Python and TypeScript read
the same protocol truth</a:t>
            </a:r>
          </a:p>
        </p:txBody>
      </p:sp>
      <p:sp>
        <p:nvSpPr>
          <p:cNvPr id="22" name="seam-ring-3">
            <a:extLst xmlns:a="http://schemas.openxmlformats.org/drawingml/2006/main">
              <a:ext uri="{FF2B5EF4-FFF2-40B4-BE49-F238E27FC236}">
                <a16:creationId xmlns:a16="http://schemas.microsoft.com/office/drawing/2014/main" id="{C968616D-A3D9-4F3D-9617-AB24B69B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38100">
            <a:solidFill>
              <a:srgbClr val="FFF8ED"/>
            </a:solidFill>
            <a:prstDash val="solid"/>
          </a:ln>
        </p:spPr>
      </p:sp>
      <p:sp>
        <p:nvSpPr>
          <p:cNvPr id="23" name="seam-box-3">
            <a:extLst xmlns:a="http://schemas.openxmlformats.org/drawingml/2006/main">
              <a:ext uri="{FF2B5EF4-FFF2-40B4-BE49-F238E27FC236}">
                <a16:creationId xmlns:a16="http://schemas.microsoft.com/office/drawing/2014/main" id="{15DA9E64-77D2-4907-9AA5-35F3474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291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3FF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4" name="seam-heading-3">
            <a:extLst xmlns:a="http://schemas.openxmlformats.org/drawingml/2006/main">
              <a:ext uri="{FF2B5EF4-FFF2-40B4-BE49-F238E27FC236}">
                <a16:creationId xmlns:a16="http://schemas.microsoft.com/office/drawing/2014/main" id="{37A1D6D5-4C5D-45C1-BB4A-88A3E00A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REAL BOUNDARY</a:t>
            </a:r>
          </a:p>
        </p:txBody>
      </p:sp>
      <p:sp>
        <p:nvSpPr>
          <p:cNvPr id="25" name="seam-body-3">
            <a:extLst xmlns:a="http://schemas.openxmlformats.org/drawingml/2006/main">
              <a:ext uri="{FF2B5EF4-FFF2-40B4-BE49-F238E27FC236}">
                <a16:creationId xmlns:a16="http://schemas.microsoft.com/office/drawing/2014/main" id="{96F79852-BD0F-47EB-95E1-77DAB6E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863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Node launches Python and
observes real NDJSON</a:t>
            </a:r>
          </a:p>
        </p:txBody>
      </p:sp>
      <p:sp>
        <p:nvSpPr>
          <p:cNvPr id="26" name="seam-python">
            <a:extLst xmlns:a="http://schemas.openxmlformats.org/drawingml/2006/main">
              <a:ext uri="{FF2B5EF4-FFF2-40B4-BE49-F238E27FC236}">
                <a16:creationId xmlns:a16="http://schemas.microsoft.com/office/drawing/2014/main" id="{A5E8A943-D6BA-48AC-B0D6-B6CDD70B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t>PYTHON</a:t>
            </a:r>
          </a:p>
        </p:txBody>
      </p:sp>
      <p:sp>
        <p:nvSpPr>
          <p:cNvPr id="27" name="seam-tui">
            <a:extLst xmlns:a="http://schemas.openxmlformats.org/drawingml/2006/main">
              <a:ext uri="{FF2B5EF4-FFF2-40B4-BE49-F238E27FC236}">
                <a16:creationId xmlns:a16="http://schemas.microsoft.com/office/drawing/2014/main" id="{323215FF-C1E0-42FD-BBF6-76ADD528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19450"/>
            <a:ext cx="80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TUI</a:t>
            </a:r>
          </a:p>
        </p:txBody>
      </p:sp>
      <p:sp>
        <p:nvSpPr>
          <p:cNvPr id="28" name="seam-footer">
            <a:extLst xmlns:a="http://schemas.openxmlformats.org/drawingml/2006/main">
              <a:ext uri="{FF2B5EF4-FFF2-40B4-BE49-F238E27FC236}">
                <a16:creationId xmlns:a16="http://schemas.microsoft.com/office/drawing/2014/main" id="{3A09E877-CCBE-4804-951F-B4CB6FB8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am-footer-text">
            <a:extLst xmlns:a="http://schemas.openxmlformats.org/drawingml/2006/main">
              <a:ext uri="{FF2B5EF4-FFF2-40B4-BE49-F238E27FC236}">
                <a16:creationId xmlns:a16="http://schemas.microsoft.com/office/drawing/2014/main" id="{6880992F-F657-4046-9564-9E776740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1070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 walking skeleton fails at boundaries; the gate checks the boundaries on purpose.</a:t>
            </a:r>
          </a:p>
        </p:txBody>
      </p:sp>
    </p:spTree>
    <p:extLst>
      <p:ext uri="{BB962C8B-B14F-4D97-AF65-F5344CB8AC3E}">
        <p14:creationId xmlns:p14="http://schemas.microsoft.com/office/powerpoint/2010/main" val="1346429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BE9BFC81-3351-4652-BD65-140852FC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CAH-007  /  REPOSITORY CHECKS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A23AFC5-9A4D-4130-8277-1FE6EA77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t>CI prepares the room, then calls the same conductor</a:t>
            </a:r>
          </a:p>
        </p:txBody>
      </p:sp>
      <p:cxnSp>
        <p:nvCxnSpPr>
          <p:cNvPr id="19" name="header-rule-6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3"/>
            </a:solidFill>
            <a:prstDash val="solid"/>
          </a:ln>
        </p:spPr>
      </p:cxnSp>
      <p:sp>
        <p:nvSpPr>
          <p:cNvPr id="4" name="number-6">
            <a:extLst xmlns:a="http://schemas.openxmlformats.org/drawingml/2006/main">
              <a:ext uri="{FF2B5EF4-FFF2-40B4-BE49-F238E27FC236}">
                <a16:creationId xmlns:a16="http://schemas.microsoft.com/office/drawing/2014/main" id="{194527A8-5D41-42F6-B1E0-36EF20DA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5" name="ci-arrow">
            <a:extLst xmlns:a="http://schemas.openxmlformats.org/drawingml/2006/main">
              <a:ext uri="{FF2B5EF4-FFF2-40B4-BE49-F238E27FC236}">
                <a16:creationId xmlns:a16="http://schemas.microsoft.com/office/drawing/2014/main" id="{D5BE6692-9C99-4436-ACFF-7D15F7C5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12192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2" name="ci-reflection"/>
          <p:cNvCxnSpPr/>
          <p:nvPr/>
        </p:nvCxnSpPr>
        <p:spPr>
          <a:xfrm xmlns:a="http://schemas.openxmlformats.org/drawingml/2006/main">
            <a:off x="6076950" y="2019300"/>
            <a:ext cx="953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sp>
        <p:nvSpPr>
          <p:cNvPr id="7" name="ci-setup">
            <a:extLst xmlns:a="http://schemas.openxmlformats.org/drawingml/2006/main">
              <a:ext uri="{FF2B5EF4-FFF2-40B4-BE49-F238E27FC236}">
                <a16:creationId xmlns:a16="http://schemas.microsoft.com/office/drawing/2014/main" id="{DC37FDA7-9311-43B2-BF23-AA1F34E7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46863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1EAFF"/>
          </a:solidFill>
          <a:ln xmlns:a="http://schemas.openxmlformats.org/drawingml/2006/main" w="28575">
            <a:solidFill>
              <a:srgbClr val="8B5CF6"/>
            </a:solidFill>
            <a:prstDash val="solid"/>
          </a:ln>
        </p:spPr>
      </p:sp>
      <p:sp>
        <p:nvSpPr>
          <p:cNvPr id="8" name="ci-command">
            <a:extLst xmlns:a="http://schemas.openxmlformats.org/drawingml/2006/main">
              <a:ext uri="{FF2B5EF4-FFF2-40B4-BE49-F238E27FC236}">
                <a16:creationId xmlns:a16="http://schemas.microsoft.com/office/drawing/2014/main" id="{47BB37C0-BEC4-4546-8DA3-6D273D2B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38350"/>
            <a:ext cx="46863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9" name="ci-left-kicker">
            <a:extLst xmlns:a="http://schemas.openxmlformats.org/drawingml/2006/main">
              <a:ext uri="{FF2B5EF4-FFF2-40B4-BE49-F238E27FC236}">
                <a16:creationId xmlns:a16="http://schemas.microsoft.com/office/drawing/2014/main" id="{ACB561E5-1569-4BC6-8537-D045FD0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09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GITHUB ACTIONS  •  UBUNTU 24.04</a:t>
            </a:r>
          </a:p>
        </p:txBody>
      </p:sp>
      <p:sp>
        <p:nvSpPr>
          <p:cNvPr id="10" name="ci-left-title">
            <a:extLst xmlns:a="http://schemas.openxmlformats.org/drawingml/2006/main">
              <a:ext uri="{FF2B5EF4-FFF2-40B4-BE49-F238E27FC236}">
                <a16:creationId xmlns:a16="http://schemas.microsoft.com/office/drawing/2014/main" id="{7D6FC321-EB62-45BE-A6C2-424355F7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3943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Prepare reproducibly</a:t>
            </a:r>
          </a:p>
        </p:txBody>
      </p:sp>
      <p:sp>
        <p:nvSpPr>
          <p:cNvPr id="11" name="ci-left-list">
            <a:extLst xmlns:a="http://schemas.openxmlformats.org/drawingml/2006/main">
              <a:ext uri="{FF2B5EF4-FFF2-40B4-BE49-F238E27FC236}">
                <a16:creationId xmlns:a16="http://schemas.microsoft.com/office/drawing/2014/main" id="{83A3B63A-A940-45FB-9D91-E555AA6A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8290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contents: read
immutable action SHAs
.python-version + .node-version
uv sync --locked
npm ci
15-minute timeout</a:t>
            </a:r>
          </a:p>
        </p:txBody>
      </p:sp>
      <p:sp>
        <p:nvSpPr>
          <p:cNvPr id="12" name="ci-right-kicker">
            <a:extLst xmlns:a="http://schemas.openxmlformats.org/drawingml/2006/main">
              <a:ext uri="{FF2B5EF4-FFF2-40B4-BE49-F238E27FC236}">
                <a16:creationId xmlns:a16="http://schemas.microsoft.com/office/drawing/2014/main" id="{AA48111F-7303-4D3A-BED1-9AC4F8B3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43150"/>
            <a:ext cx="407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t>THE ONLY VALIDATION INVOCATION</a:t>
            </a:r>
          </a:p>
        </p:txBody>
      </p:sp>
      <p:sp>
        <p:nvSpPr>
          <p:cNvPr id="13" name="ci-right-command">
            <a:extLst xmlns:a="http://schemas.openxmlformats.org/drawingml/2006/main">
              <a:ext uri="{FF2B5EF4-FFF2-40B4-BE49-F238E27FC236}">
                <a16:creationId xmlns:a16="http://schemas.microsoft.com/office/drawing/2014/main" id="{82CC3E7F-F3FB-44C8-AC02-F6399BE8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4076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./scripts/check</a:t>
            </a:r>
          </a:p>
        </p:txBody>
      </p:sp>
      <p:cxnSp>
        <p:nvCxnSpPr>
          <p:cNvPr id="30" name="ci-command-rule"/>
          <p:cNvCxnSpPr/>
          <p:nvPr/>
        </p:nvCxnSpPr>
        <p:spPr>
          <a:xfrm xmlns:a="http://schemas.openxmlformats.org/drawingml/2006/main">
            <a:off x="7715250" y="4057650"/>
            <a:ext cx="335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445F"/>
            </a:solidFill>
            <a:prstDash val="solid"/>
          </a:ln>
        </p:spPr>
      </p:cxnSp>
      <p:sp>
        <p:nvSpPr>
          <p:cNvPr id="15" name="ci-right-caption">
            <a:extLst xmlns:a="http://schemas.openxmlformats.org/drawingml/2006/main">
              <a:ext uri="{FF2B5EF4-FFF2-40B4-BE49-F238E27FC236}">
                <a16:creationId xmlns:a16="http://schemas.microsoft.com/office/drawing/2014/main" id="{D5F93619-96E5-44CC-89E2-54BD75F8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3695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E5F4"/>
                </a:solidFill>
                <a:latin typeface="Aptos"/>
                <a:ea typeface="Aptos"/>
                <a:cs typeface="Aptos"/>
              </a:defRPr>
            </a:pPr>
            <a:r>
              <a:t>No duplicated lint list.
No local-versus-CI remix.</a:t>
            </a:r>
          </a:p>
        </p:txBody>
      </p:sp>
      <p:sp>
        <p:nvSpPr>
          <p:cNvPr id="16" name="ci-footer">
            <a:extLst xmlns:a="http://schemas.openxmlformats.org/drawingml/2006/main">
              <a:ext uri="{FF2B5EF4-FFF2-40B4-BE49-F238E27FC236}">
                <a16:creationId xmlns:a16="http://schemas.microsoft.com/office/drawing/2014/main" id="{25AE4F3F-FECF-46FC-8755-D4BCD69C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990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Local and CI can differ in setup. They must not differ in what “green” means.</a:t>
            </a:r>
          </a:p>
        </p:txBody>
      </p:sp>
    </p:spTree>
    <p:extLst>
      <p:ext uri="{BB962C8B-B14F-4D97-AF65-F5344CB8AC3E}">
        <p14:creationId xmlns:p14="http://schemas.microsoft.com/office/powerpoint/2010/main" val="15916643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59C52C0C-6C7D-4B33-A875-C2029460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CAH-007  /  REPOSITORY CHECKS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CF43219-F13B-4BEA-889E-E9D1A8EA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t>Break one layer on purpose; watch the label catch it</a:t>
            </a:r>
          </a:p>
        </p:txBody>
      </p:sp>
      <p:cxnSp>
        <p:nvCxnSpPr>
          <p:cNvPr id="38" name="header-rule-7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3"/>
            </a:solidFill>
            <a:prstDash val="solid"/>
          </a:ln>
        </p:spPr>
      </p:cxnSp>
      <p:sp>
        <p:nvSpPr>
          <p:cNvPr id="4" name="number-7">
            <a:extLst xmlns:a="http://schemas.openxmlformats.org/drawingml/2006/main">
              <a:ext uri="{FF2B5EF4-FFF2-40B4-BE49-F238E27FC236}">
                <a16:creationId xmlns:a16="http://schemas.microsoft.com/office/drawing/2014/main" id="{ACFD9E87-4919-47EF-91A0-BC549F6D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cxnSp>
        <p:nvCxnSpPr>
          <p:cNvPr id="40" name="lab-fuse-0"/>
          <p:cNvCxnSpPr/>
          <p:nvPr/>
        </p:nvCxnSpPr>
        <p:spPr>
          <a:xfrm xmlns:a="http://schemas.openxmlformats.org/drawingml/2006/main">
            <a:off x="1657350" y="2857500"/>
            <a:ext cx="953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6B"/>
            </a:solidFill>
            <a:prstDash val="solid"/>
          </a:ln>
        </p:spPr>
      </p:cxnSp>
      <p:sp>
        <p:nvSpPr>
          <p:cNvPr id="6" name="lab-bulb-0">
            <a:extLst xmlns:a="http://schemas.openxmlformats.org/drawingml/2006/main">
              <a:ext uri="{FF2B5EF4-FFF2-40B4-BE49-F238E27FC236}">
                <a16:creationId xmlns:a16="http://schemas.microsoft.com/office/drawing/2014/main" id="{0D78DA5B-EA89-48B5-AF90-F14C61D7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-flag-0">
            <a:extLst xmlns:a="http://schemas.openxmlformats.org/drawingml/2006/main">
              <a:ext uri="{FF2B5EF4-FFF2-40B4-BE49-F238E27FC236}">
                <a16:creationId xmlns:a16="http://schemas.microsoft.com/office/drawing/2014/main" id="{1B7B0DDC-D2BB-4450-9FAB-D4AEF7F1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71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8" name="lab-icon-0">
            <a:extLst xmlns:a="http://schemas.openxmlformats.org/drawingml/2006/main">
              <a:ext uri="{FF2B5EF4-FFF2-40B4-BE49-F238E27FC236}">
                <a16:creationId xmlns:a16="http://schemas.microsoft.com/office/drawing/2014/main" id="{985FD027-1646-4EDA-9760-530678E9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33625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PY</a:t>
            </a:r>
          </a:p>
        </p:txBody>
      </p:sp>
      <p:sp>
        <p:nvSpPr>
          <p:cNvPr id="9" name="lab-heading-0">
            <a:extLst xmlns:a="http://schemas.openxmlformats.org/drawingml/2006/main">
              <a:ext uri="{FF2B5EF4-FFF2-40B4-BE49-F238E27FC236}">
                <a16:creationId xmlns:a16="http://schemas.microsoft.com/office/drawing/2014/main" id="{E1BDD100-2FDC-41DF-9D2C-CFBBA54E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Python</a:t>
            </a:r>
          </a:p>
        </p:txBody>
      </p:sp>
      <p:sp>
        <p:nvSpPr>
          <p:cNvPr id="10" name="lab-failure-0">
            <a:extLst xmlns:a="http://schemas.openxmlformats.org/drawingml/2006/main">
              <a:ext uri="{FF2B5EF4-FFF2-40B4-BE49-F238E27FC236}">
                <a16:creationId xmlns:a16="http://schemas.microsoft.com/office/drawing/2014/main" id="{78759DFD-0B99-4841-B1B5-E59ED989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2400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bad format / failing test</a:t>
            </a:r>
          </a:p>
        </p:txBody>
      </p:sp>
      <p:sp>
        <p:nvSpPr>
          <p:cNvPr id="11" name="lab-stop-0">
            <a:extLst xmlns:a="http://schemas.openxmlformats.org/drawingml/2006/main">
              <a:ext uri="{FF2B5EF4-FFF2-40B4-BE49-F238E27FC236}">
                <a16:creationId xmlns:a16="http://schemas.microsoft.com/office/drawing/2014/main" id="{D454E353-8ED8-4CE5-B2FB-46EAFE2B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140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STOP HERE</a:t>
            </a:r>
          </a:p>
        </p:txBody>
      </p:sp>
      <p:cxnSp>
        <p:nvCxnSpPr>
          <p:cNvPr id="47" name="lab-fuse-1"/>
          <p:cNvCxnSpPr/>
          <p:nvPr/>
        </p:nvCxnSpPr>
        <p:spPr>
          <a:xfrm xmlns:a="http://schemas.openxmlformats.org/drawingml/2006/main">
            <a:off x="4419600" y="2857500"/>
            <a:ext cx="953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8B5CF6"/>
            </a:solidFill>
            <a:prstDash val="solid"/>
          </a:ln>
        </p:spPr>
      </p:cxnSp>
      <p:sp>
        <p:nvSpPr>
          <p:cNvPr id="13" name="lab-bulb-1">
            <a:extLst xmlns:a="http://schemas.openxmlformats.org/drawingml/2006/main">
              <a:ext uri="{FF2B5EF4-FFF2-40B4-BE49-F238E27FC236}">
                <a16:creationId xmlns:a16="http://schemas.microsoft.com/office/drawing/2014/main" id="{01131EDA-9207-41F5-AFAB-8939A9DA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33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-flag-1">
            <a:extLst xmlns:a="http://schemas.openxmlformats.org/drawingml/2006/main">
              <a:ext uri="{FF2B5EF4-FFF2-40B4-BE49-F238E27FC236}">
                <a16:creationId xmlns:a16="http://schemas.microsoft.com/office/drawing/2014/main" id="{B8799F0E-FC21-40B0-87F3-E59A3B5E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171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15" name="lab-icon-1">
            <a:extLst xmlns:a="http://schemas.openxmlformats.org/drawingml/2006/main">
              <a:ext uri="{FF2B5EF4-FFF2-40B4-BE49-F238E27FC236}">
                <a16:creationId xmlns:a16="http://schemas.microsoft.com/office/drawing/2014/main" id="{5ACDC4E9-E3E2-4CA8-A66A-E942DC05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33625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TS</a:t>
            </a:r>
          </a:p>
        </p:txBody>
      </p:sp>
      <p:sp>
        <p:nvSpPr>
          <p:cNvPr id="16" name="lab-heading-1">
            <a:extLst xmlns:a="http://schemas.openxmlformats.org/drawingml/2006/main">
              <a:ext uri="{FF2B5EF4-FFF2-40B4-BE49-F238E27FC236}">
                <a16:creationId xmlns:a16="http://schemas.microsoft.com/office/drawing/2014/main" id="{8B449F39-1544-4589-AFE2-E33EB3D1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8135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TypeScript</a:t>
            </a:r>
          </a:p>
        </p:txBody>
      </p:sp>
      <p:sp>
        <p:nvSpPr>
          <p:cNvPr id="17" name="lab-failure-1">
            <a:extLst xmlns:a="http://schemas.openxmlformats.org/drawingml/2006/main">
              <a:ext uri="{FF2B5EF4-FFF2-40B4-BE49-F238E27FC236}">
                <a16:creationId xmlns:a16="http://schemas.microsoft.com/office/drawing/2014/main" id="{008C46D1-C509-4CB1-ADF7-15815B6A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2400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type or lint error</a:t>
            </a:r>
          </a:p>
        </p:txBody>
      </p:sp>
      <p:sp>
        <p:nvSpPr>
          <p:cNvPr id="18" name="lab-stop-1">
            <a:extLst xmlns:a="http://schemas.openxmlformats.org/drawingml/2006/main">
              <a:ext uri="{FF2B5EF4-FFF2-40B4-BE49-F238E27FC236}">
                <a16:creationId xmlns:a16="http://schemas.microsoft.com/office/drawing/2014/main" id="{8F08FC97-039E-4676-9115-883960A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67250"/>
            <a:ext cx="140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STOP HERE</a:t>
            </a:r>
          </a:p>
        </p:txBody>
      </p:sp>
      <p:cxnSp>
        <p:nvCxnSpPr>
          <p:cNvPr id="54" name="lab-fuse-2"/>
          <p:cNvCxnSpPr/>
          <p:nvPr/>
        </p:nvCxnSpPr>
        <p:spPr>
          <a:xfrm xmlns:a="http://schemas.openxmlformats.org/drawingml/2006/main">
            <a:off x="7181850" y="2857500"/>
            <a:ext cx="953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D166"/>
            </a:solidFill>
            <a:prstDash val="solid"/>
          </a:ln>
        </p:spPr>
      </p:cxnSp>
      <p:sp>
        <p:nvSpPr>
          <p:cNvPr id="20" name="lab-bulb-2">
            <a:extLst xmlns:a="http://schemas.openxmlformats.org/drawingml/2006/main">
              <a:ext uri="{FF2B5EF4-FFF2-40B4-BE49-F238E27FC236}">
                <a16:creationId xmlns:a16="http://schemas.microsoft.com/office/drawing/2014/main" id="{B19A20FE-5E64-46E9-82D7-9DC71EFE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b-flag-2">
            <a:extLst xmlns:a="http://schemas.openxmlformats.org/drawingml/2006/main">
              <a:ext uri="{FF2B5EF4-FFF2-40B4-BE49-F238E27FC236}">
                <a16:creationId xmlns:a16="http://schemas.microsoft.com/office/drawing/2014/main" id="{230D16AA-E065-482F-A820-82B01D95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171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22" name="lab-icon-2">
            <a:extLst xmlns:a="http://schemas.openxmlformats.org/drawingml/2006/main">
              <a:ext uri="{FF2B5EF4-FFF2-40B4-BE49-F238E27FC236}">
                <a16:creationId xmlns:a16="http://schemas.microsoft.com/office/drawing/2014/main" id="{26063D89-E02D-43C3-A268-E00992A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33625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{}</a:t>
            </a:r>
          </a:p>
        </p:txBody>
      </p:sp>
      <p:sp>
        <p:nvSpPr>
          <p:cNvPr id="23" name="lab-heading-2">
            <a:extLst xmlns:a="http://schemas.openxmlformats.org/drawingml/2006/main">
              <a:ext uri="{FF2B5EF4-FFF2-40B4-BE49-F238E27FC236}">
                <a16:creationId xmlns:a16="http://schemas.microsoft.com/office/drawing/2014/main" id="{31250A48-BC05-4F4C-95F9-597C5FFC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Protocol fixture</a:t>
            </a:r>
          </a:p>
        </p:txBody>
      </p:sp>
      <p:sp>
        <p:nvSpPr>
          <p:cNvPr id="24" name="lab-failure-2">
            <a:extLst xmlns:a="http://schemas.openxmlformats.org/drawingml/2006/main">
              <a:ext uri="{FF2B5EF4-FFF2-40B4-BE49-F238E27FC236}">
                <a16:creationId xmlns:a16="http://schemas.microsoft.com/office/drawing/2014/main" id="{21D60362-C771-432B-A061-1C723E9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95700"/>
            <a:ext cx="2400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cross-language mismatch</a:t>
            </a:r>
          </a:p>
        </p:txBody>
      </p:sp>
      <p:sp>
        <p:nvSpPr>
          <p:cNvPr id="25" name="lab-stop-2">
            <a:extLst xmlns:a="http://schemas.openxmlformats.org/drawingml/2006/main">
              <a:ext uri="{FF2B5EF4-FFF2-40B4-BE49-F238E27FC236}">
                <a16:creationId xmlns:a16="http://schemas.microsoft.com/office/drawing/2014/main" id="{6F303FAC-7B5E-4C26-B4F3-AEDF2338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140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STOP HERE</a:t>
            </a:r>
          </a:p>
        </p:txBody>
      </p:sp>
      <p:cxnSp>
        <p:nvCxnSpPr>
          <p:cNvPr id="61" name="lab-fuse-3"/>
          <p:cNvCxnSpPr/>
          <p:nvPr/>
        </p:nvCxnSpPr>
        <p:spPr>
          <a:xfrm xmlns:a="http://schemas.openxmlformats.org/drawingml/2006/main">
            <a:off x="9944100" y="2857500"/>
            <a:ext cx="953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2C55E"/>
            </a:solidFill>
            <a:prstDash val="solid"/>
          </a:ln>
        </p:spPr>
      </p:cxnSp>
      <p:sp>
        <p:nvSpPr>
          <p:cNvPr id="27" name="lab-bulb-3">
            <a:extLst xmlns:a="http://schemas.openxmlformats.org/drawingml/2006/main">
              <a:ext uri="{FF2B5EF4-FFF2-40B4-BE49-F238E27FC236}">
                <a16:creationId xmlns:a16="http://schemas.microsoft.com/office/drawing/2014/main" id="{510F63FA-3FD9-4BA3-A746-0298B6A7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33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b-flag-3">
            <a:extLst xmlns:a="http://schemas.openxmlformats.org/drawingml/2006/main">
              <a:ext uri="{FF2B5EF4-FFF2-40B4-BE49-F238E27FC236}">
                <a16:creationId xmlns:a16="http://schemas.microsoft.com/office/drawing/2014/main" id="{3B7CDE67-DD62-4510-9785-FBB6D2C2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95800"/>
            <a:ext cx="171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29" name="lab-icon-3">
            <a:extLst xmlns:a="http://schemas.openxmlformats.org/drawingml/2006/main">
              <a:ext uri="{FF2B5EF4-FFF2-40B4-BE49-F238E27FC236}">
                <a16:creationId xmlns:a16="http://schemas.microsoft.com/office/drawing/2014/main" id="{19BB644A-3F63-4DE9-8522-18DA920A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33625"/>
            <a:ext cx="57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↔</a:t>
            </a:r>
          </a:p>
        </p:txBody>
      </p:sp>
      <p:sp>
        <p:nvSpPr>
          <p:cNvPr id="30" name="lab-heading-3">
            <a:extLst xmlns:a="http://schemas.openxmlformats.org/drawingml/2006/main">
              <a:ext uri="{FF2B5EF4-FFF2-40B4-BE49-F238E27FC236}">
                <a16:creationId xmlns:a16="http://schemas.microsoft.com/office/drawing/2014/main" id="{319AC80F-BCCC-48B8-96A8-8F15B5C7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Integration</a:t>
            </a:r>
          </a:p>
        </p:txBody>
      </p:sp>
      <p:sp>
        <p:nvSpPr>
          <p:cNvPr id="31" name="lab-failure-3">
            <a:extLst xmlns:a="http://schemas.openxmlformats.org/drawingml/2006/main">
              <a:ext uri="{FF2B5EF4-FFF2-40B4-BE49-F238E27FC236}">
                <a16:creationId xmlns:a16="http://schemas.microsoft.com/office/drawing/2014/main" id="{DD5AA037-C81B-4AF6-B558-264DD1F8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95700"/>
            <a:ext cx="2400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Node↔Python tape breaks</a:t>
            </a:r>
          </a:p>
        </p:txBody>
      </p:sp>
      <p:sp>
        <p:nvSpPr>
          <p:cNvPr id="32" name="lab-stop-3">
            <a:extLst xmlns:a="http://schemas.openxmlformats.org/drawingml/2006/main">
              <a:ext uri="{FF2B5EF4-FFF2-40B4-BE49-F238E27FC236}">
                <a16:creationId xmlns:a16="http://schemas.microsoft.com/office/drawing/2014/main" id="{35D9C2A3-D427-4FD3-A84C-858BA78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67250"/>
            <a:ext cx="140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STOP HERE</a:t>
            </a:r>
          </a:p>
        </p:txBody>
      </p:sp>
      <p:sp>
        <p:nvSpPr>
          <p:cNvPr id="33" name="lab-command">
            <a:extLst xmlns:a="http://schemas.openxmlformats.org/drawingml/2006/main">
              <a:ext uri="{FF2B5EF4-FFF2-40B4-BE49-F238E27FC236}">
                <a16:creationId xmlns:a16="http://schemas.microsoft.com/office/drawing/2014/main" id="{350410C3-997A-4C38-98EF-766CFD4C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81650"/>
            <a:ext cx="9182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lab-command-text">
            <a:extLst xmlns:a="http://schemas.openxmlformats.org/drawingml/2006/main">
              <a:ext uri="{FF2B5EF4-FFF2-40B4-BE49-F238E27FC236}">
                <a16:creationId xmlns:a16="http://schemas.microsoft.com/office/drawing/2014/main" id="{F20E06F6-1C0B-4F3C-BD11-14273B3E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753100"/>
            <a:ext cx="864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read the last  ==&gt;  label  •  fix that layer  •  rerun the same command</a:t>
            </a:r>
          </a:p>
        </p:txBody>
      </p:sp>
      <p:sp>
        <p:nvSpPr>
          <p:cNvPr id="35" name="lab-note">
            <a:extLst xmlns:a="http://schemas.openxmlformats.org/drawingml/2006/main">
              <a:ext uri="{FF2B5EF4-FFF2-40B4-BE49-F238E27FC236}">
                <a16:creationId xmlns:a16="http://schemas.microsoft.com/office/drawing/2014/main" id="{14993DA4-7C73-481B-AF82-DA8B15B4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05550"/>
            <a:ext cx="647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The script itself has a deterministic fail-fast regression suite.</a:t>
            </a:r>
          </a:p>
        </p:txBody>
      </p:sp>
    </p:spTree>
    <p:extLst>
      <p:ext uri="{BB962C8B-B14F-4D97-AF65-F5344CB8AC3E}">
        <p14:creationId xmlns:p14="http://schemas.microsoft.com/office/powerpoint/2010/main" val="1171574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81A69624-142B-46E8-B9F8-2B404897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CAH-007  /  REPOSITORY CHECKS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13E0D17-9777-45EF-BB1B-9D94DC4F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t>The local gate is a contract—not an entire platform</a:t>
            </a:r>
          </a:p>
        </p:txBody>
      </p:sp>
      <p:cxnSp>
        <p:nvCxnSpPr>
          <p:cNvPr id="27" name="header-rule-8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3"/>
            </a:solidFill>
            <a:prstDash val="solid"/>
          </a:ln>
        </p:spPr>
      </p:cxnSp>
      <p:sp>
        <p:nvSpPr>
          <p:cNvPr id="4" name="number-8">
            <a:extLst xmlns:a="http://schemas.openxmlformats.org/drawingml/2006/main">
              <a:ext uri="{FF2B5EF4-FFF2-40B4-BE49-F238E27FC236}">
                <a16:creationId xmlns:a16="http://schemas.microsoft.com/office/drawing/2014/main" id="{1B805A42-4285-49B4-B2FD-221520E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cxnSp>
        <p:nvCxnSpPr>
          <p:cNvPr id="29" name="prod-stair-1"/>
          <p:cNvCxnSpPr/>
          <p:nvPr/>
        </p:nvCxnSpPr>
        <p:spPr>
          <a:xfrm xmlns:a="http://schemas.openxmlformats.org/drawingml/2006/main">
            <a:off x="819150" y="5353050"/>
            <a:ext cx="2476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38BDF8"/>
            </a:solidFill>
            <a:prstDash val="solid"/>
          </a:ln>
        </p:spPr>
      </p:cxnSp>
      <p:cxnSp>
        <p:nvCxnSpPr>
          <p:cNvPr id="30" name="prod-stair-2"/>
          <p:cNvCxnSpPr/>
          <p:nvPr/>
        </p:nvCxnSpPr>
        <p:spPr>
          <a:xfrm xmlns:a="http://schemas.openxmlformats.org/drawingml/2006/main">
            <a:off x="3295650" y="4362450"/>
            <a:ext cx="953" cy="990600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8B5CF6"/>
            </a:solidFill>
            <a:prstDash val="solid"/>
          </a:ln>
        </p:spPr>
      </p:cxnSp>
      <p:cxnSp>
        <p:nvCxnSpPr>
          <p:cNvPr id="31" name="prod-stair-3"/>
          <p:cNvCxnSpPr/>
          <p:nvPr/>
        </p:nvCxnSpPr>
        <p:spPr>
          <a:xfrm xmlns:a="http://schemas.openxmlformats.org/drawingml/2006/main">
            <a:off x="3295650" y="4362450"/>
            <a:ext cx="2476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8B5CF6"/>
            </a:solidFill>
            <a:prstDash val="solid"/>
          </a:ln>
        </p:spPr>
      </p:cxnSp>
      <p:cxnSp>
        <p:nvCxnSpPr>
          <p:cNvPr id="32" name="prod-stair-4"/>
          <p:cNvCxnSpPr/>
          <p:nvPr/>
        </p:nvCxnSpPr>
        <p:spPr>
          <a:xfrm xmlns:a="http://schemas.openxmlformats.org/drawingml/2006/main">
            <a:off x="5772150" y="3371850"/>
            <a:ext cx="953" cy="990600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FF6B6B"/>
            </a:solidFill>
            <a:prstDash val="solid"/>
          </a:ln>
        </p:spPr>
      </p:cxnSp>
      <p:cxnSp>
        <p:nvCxnSpPr>
          <p:cNvPr id="33" name="prod-stair-5"/>
          <p:cNvCxnSpPr/>
          <p:nvPr/>
        </p:nvCxnSpPr>
        <p:spPr>
          <a:xfrm xmlns:a="http://schemas.openxmlformats.org/drawingml/2006/main">
            <a:off x="5772150" y="3371850"/>
            <a:ext cx="2476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FF6B6B"/>
            </a:solidFill>
            <a:prstDash val="solid"/>
          </a:ln>
        </p:spPr>
      </p:cxnSp>
      <p:cxnSp>
        <p:nvCxnSpPr>
          <p:cNvPr id="34" name="prod-stair-6"/>
          <p:cNvCxnSpPr/>
          <p:nvPr/>
        </p:nvCxnSpPr>
        <p:spPr>
          <a:xfrm xmlns:a="http://schemas.openxmlformats.org/drawingml/2006/main">
            <a:off x="8248650" y="2381250"/>
            <a:ext cx="953" cy="990600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22C55E"/>
            </a:solidFill>
            <a:prstDash val="solid"/>
          </a:ln>
        </p:spPr>
      </p:cxnSp>
      <p:cxnSp>
        <p:nvCxnSpPr>
          <p:cNvPr id="35" name="prod-stair-7"/>
          <p:cNvCxnSpPr/>
          <p:nvPr/>
        </p:nvCxnSpPr>
        <p:spPr>
          <a:xfrm xmlns:a="http://schemas.openxmlformats.org/drawingml/2006/main">
            <a:off x="8248650" y="2381250"/>
            <a:ext cx="3048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22C55E"/>
            </a:solidFill>
            <a:prstDash val="solid"/>
          </a:ln>
        </p:spPr>
      </p:cxnSp>
      <p:sp>
        <p:nvSpPr>
          <p:cNvPr id="12" name="prod-local-dot">
            <a:extLst xmlns:a="http://schemas.openxmlformats.org/drawingml/2006/main">
              <a:ext uri="{FF2B5EF4-FFF2-40B4-BE49-F238E27FC236}">
                <a16:creationId xmlns:a16="http://schemas.microsoft.com/office/drawing/2014/main" id="{E2E44350-7929-4C4D-8087-8E869D20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d-ci-dot">
            <a:extLst xmlns:a="http://schemas.openxmlformats.org/drawingml/2006/main">
              <a:ext uri="{FF2B5EF4-FFF2-40B4-BE49-F238E27FC236}">
                <a16:creationId xmlns:a16="http://schemas.microsoft.com/office/drawing/2014/main" id="{FEB87E54-C0C0-4112-8E66-AA8B3C2E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52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d-scale-dot">
            <a:extLst xmlns:a="http://schemas.openxmlformats.org/drawingml/2006/main">
              <a:ext uri="{FF2B5EF4-FFF2-40B4-BE49-F238E27FC236}">
                <a16:creationId xmlns:a16="http://schemas.microsoft.com/office/drawing/2014/main" id="{D7432D9D-2392-4C64-8F38-753B95E9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62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d-enterprise-dot">
            <a:extLst xmlns:a="http://schemas.openxmlformats.org/drawingml/2006/main">
              <a:ext uri="{FF2B5EF4-FFF2-40B4-BE49-F238E27FC236}">
                <a16:creationId xmlns:a16="http://schemas.microsoft.com/office/drawing/2014/main" id="{150A7CD1-CCA8-4E11-83FF-DFAAFEA6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71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d-local-title">
            <a:extLst xmlns:a="http://schemas.openxmlformats.org/drawingml/2006/main">
              <a:ext uri="{FF2B5EF4-FFF2-40B4-BE49-F238E27FC236}">
                <a16:creationId xmlns:a16="http://schemas.microsoft.com/office/drawing/2014/main" id="{78489327-1ABF-4FD9-B67B-B6C8C197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t>NOW</a:t>
            </a:r>
          </a:p>
        </p:txBody>
      </p:sp>
      <p:sp>
        <p:nvSpPr>
          <p:cNvPr id="17" name="prod-local-body">
            <a:extLst xmlns:a="http://schemas.openxmlformats.org/drawingml/2006/main">
              <a:ext uri="{FF2B5EF4-FFF2-40B4-BE49-F238E27FC236}">
                <a16:creationId xmlns:a16="http://schemas.microsoft.com/office/drawing/2014/main" id="{17A1CEEF-3621-4AF8-A835-CE578456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1336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5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one offline script
lockfiles + pins
runtime API + source guard</a:t>
            </a:r>
          </a:p>
        </p:txBody>
      </p:sp>
      <p:sp>
        <p:nvSpPr>
          <p:cNvPr id="18" name="prod-ci-title">
            <a:extLst xmlns:a="http://schemas.openxmlformats.org/drawingml/2006/main">
              <a:ext uri="{FF2B5EF4-FFF2-40B4-BE49-F238E27FC236}">
                <a16:creationId xmlns:a16="http://schemas.microsoft.com/office/drawing/2014/main" id="{CD5011E5-2685-45B0-869A-2E2782AD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TEAM GATE</a:t>
            </a:r>
          </a:p>
        </p:txBody>
      </p:sp>
      <p:sp>
        <p:nvSpPr>
          <p:cNvPr id="19" name="prod-ci-body">
            <a:extLst xmlns:a="http://schemas.openxmlformats.org/drawingml/2006/main">
              <a:ext uri="{FF2B5EF4-FFF2-40B4-BE49-F238E27FC236}">
                <a16:creationId xmlns:a16="http://schemas.microsoft.com/office/drawing/2014/main" id="{E48208B1-064F-4350-A150-951D16AE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2286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required PR check
branch protection
ownership + SLAs</a:t>
            </a:r>
          </a:p>
        </p:txBody>
      </p:sp>
      <p:sp>
        <p:nvSpPr>
          <p:cNvPr id="20" name="prod-scale-title">
            <a:extLst xmlns:a="http://schemas.openxmlformats.org/drawingml/2006/main">
              <a:ext uri="{FF2B5EF4-FFF2-40B4-BE49-F238E27FC236}">
                <a16:creationId xmlns:a16="http://schemas.microsoft.com/office/drawing/2014/main" id="{9A76AAC5-26B8-479D-B8D6-280D028D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SCALE</a:t>
            </a:r>
          </a:p>
        </p:txBody>
      </p:sp>
      <p:sp>
        <p:nvSpPr>
          <p:cNvPr id="21" name="prod-scale-body">
            <a:extLst xmlns:a="http://schemas.openxmlformats.org/drawingml/2006/main">
              <a:ext uri="{FF2B5EF4-FFF2-40B4-BE49-F238E27FC236}">
                <a16:creationId xmlns:a16="http://schemas.microsoft.com/office/drawing/2014/main" id="{5B18DC44-F624-4B1C-A4A1-D288817D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57650"/>
            <a:ext cx="1714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pre-commit
Renovate
CodeQL</a:t>
            </a:r>
          </a:p>
        </p:txBody>
      </p:sp>
      <p:sp>
        <p:nvSpPr>
          <p:cNvPr id="22" name="prod-enterprise-title">
            <a:extLst xmlns:a="http://schemas.openxmlformats.org/drawingml/2006/main">
              <a:ext uri="{FF2B5EF4-FFF2-40B4-BE49-F238E27FC236}">
                <a16:creationId xmlns:a16="http://schemas.microsoft.com/office/drawing/2014/main" id="{775FEC3B-544C-4EF5-AEA9-F43A89F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2724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MATURE PLATFORM</a:t>
            </a:r>
          </a:p>
        </p:txBody>
      </p:sp>
      <p:sp>
        <p:nvSpPr>
          <p:cNvPr id="23" name="prod-enterprise-body">
            <a:extLst xmlns:a="http://schemas.openxmlformats.org/drawingml/2006/main">
              <a:ext uri="{FF2B5EF4-FFF2-40B4-BE49-F238E27FC236}">
                <a16:creationId xmlns:a16="http://schemas.microsoft.com/office/drawing/2014/main" id="{8BCB3467-577E-4353-8185-F41ABDEC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27241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policy exceptions
parallel shards
provenance + attestations
OpenSSF Scorecard</a:t>
            </a:r>
          </a:p>
        </p:txBody>
      </p:sp>
      <p:sp>
        <p:nvSpPr>
          <p:cNvPr id="24" name="prod-signal">
            <a:extLst xmlns:a="http://schemas.openxmlformats.org/drawingml/2006/main">
              <a:ext uri="{FF2B5EF4-FFF2-40B4-BE49-F238E27FC236}">
                <a16:creationId xmlns:a16="http://schemas.microsoft.com/office/drawing/2014/main" id="{FF60A89A-5E6F-4378-B7A5-B9C6C9F9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051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Graduate when feedback time, supply-chain risk, or team coordination outgrows one linear gate.</a:t>
            </a:r>
          </a:p>
        </p:txBody>
      </p:sp>
    </p:spTree>
    <p:extLst>
      <p:ext uri="{BB962C8B-B14F-4D97-AF65-F5344CB8AC3E}">
        <p14:creationId xmlns:p14="http://schemas.microsoft.com/office/powerpoint/2010/main" val="510418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">
            <a:extLst xmlns:a="http://schemas.openxmlformats.org/drawingml/2006/main">
              <a:ext uri="{FF2B5EF4-FFF2-40B4-BE49-F238E27FC236}">
                <a16:creationId xmlns:a16="http://schemas.microsoft.com/office/drawing/2014/main" id="{18E6AFFA-9379-4102-A0E6-38C1CED5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CAH-007  /  REPOSITORY CHECKS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0DA257B-F5DA-4702-B019-633A7F91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t>Trust rises because the trade-offs stay visible</a:t>
            </a:r>
          </a:p>
        </p:txBody>
      </p:sp>
      <p:cxnSp>
        <p:nvCxnSpPr>
          <p:cNvPr id="20" name="header-rule-9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3"/>
            </a:solidFill>
            <a:prstDash val="solid"/>
          </a:ln>
        </p:spPr>
      </p:cxnSp>
      <p:sp>
        <p:nvSpPr>
          <p:cNvPr id="4" name="number-9">
            <a:extLst xmlns:a="http://schemas.openxmlformats.org/drawingml/2006/main">
              <a:ext uri="{FF2B5EF4-FFF2-40B4-BE49-F238E27FC236}">
                <a16:creationId xmlns:a16="http://schemas.microsoft.com/office/drawing/2014/main" id="{5798878F-D9F5-4B47-9A2F-3E96B6A3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D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cxnSp>
        <p:nvCxnSpPr>
          <p:cNvPr id="22" name="trade-beam"/>
          <p:cNvCxnSpPr/>
          <p:nvPr/>
        </p:nvCxnSpPr>
        <p:spPr>
          <a:xfrm xmlns:a="http://schemas.openxmlformats.org/drawingml/2006/main">
            <a:off x="2038350" y="3371850"/>
            <a:ext cx="81153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0B1F33"/>
            </a:solidFill>
            <a:prstDash val="solid"/>
          </a:ln>
        </p:spPr>
      </p:cxnSp>
      <p:sp>
        <p:nvSpPr>
          <p:cNvPr id="6" name="trade-fulcrum">
            <a:extLst xmlns:a="http://schemas.openxmlformats.org/drawingml/2006/main">
              <a:ext uri="{FF2B5EF4-FFF2-40B4-BE49-F238E27FC236}">
                <a16:creationId xmlns:a16="http://schemas.microsoft.com/office/drawing/2014/main" id="{F1B54760-455C-4E95-8619-4E26E953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ade-left-pan">
            <a:extLst xmlns:a="http://schemas.openxmlformats.org/drawingml/2006/main">
              <a:ext uri="{FF2B5EF4-FFF2-40B4-BE49-F238E27FC236}">
                <a16:creationId xmlns:a16="http://schemas.microsoft.com/office/drawing/2014/main" id="{62FE0D0E-DB4C-4D2C-BF5A-C341D693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6766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F9EF"/>
          </a:solidFill>
          <a:ln xmlns:a="http://schemas.openxmlformats.org/drawingml/2006/main" w="28575">
            <a:solidFill>
              <a:srgbClr val="22C55E"/>
            </a:solidFill>
            <a:prstDash val="solid"/>
          </a:ln>
        </p:spPr>
      </p:sp>
      <p:sp>
        <p:nvSpPr>
          <p:cNvPr id="8" name="trade-right-pan">
            <a:extLst xmlns:a="http://schemas.openxmlformats.org/drawingml/2006/main">
              <a:ext uri="{FF2B5EF4-FFF2-40B4-BE49-F238E27FC236}">
                <a16:creationId xmlns:a16="http://schemas.microsoft.com/office/drawing/2014/main" id="{12DFCF38-1157-403D-A72B-E36DE67D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95700"/>
            <a:ext cx="36766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cxnSp>
        <p:nvCxnSpPr>
          <p:cNvPr id="26" name="trade-left-rope"/>
          <p:cNvCxnSpPr/>
          <p:nvPr/>
        </p:nvCxnSpPr>
        <p:spPr>
          <a:xfrm xmlns:a="http://schemas.openxmlformats.org/drawingml/2006/main">
            <a:off x="2038350" y="3371850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1F33"/>
            </a:solidFill>
            <a:prstDash val="solid"/>
          </a:ln>
        </p:spPr>
      </p:cxnSp>
      <p:cxnSp>
        <p:nvCxnSpPr>
          <p:cNvPr id="27" name="trade-right-rope"/>
          <p:cNvCxnSpPr/>
          <p:nvPr/>
        </p:nvCxnSpPr>
        <p:spPr>
          <a:xfrm xmlns:a="http://schemas.openxmlformats.org/drawingml/2006/main">
            <a:off x="10153650" y="3371850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1F33"/>
            </a:solidFill>
            <a:prstDash val="solid"/>
          </a:ln>
        </p:spPr>
      </p:cxnSp>
      <p:sp>
        <p:nvSpPr>
          <p:cNvPr id="11" name="trade-left-title">
            <a:extLst xmlns:a="http://schemas.openxmlformats.org/drawingml/2006/main">
              <a:ext uri="{FF2B5EF4-FFF2-40B4-BE49-F238E27FC236}">
                <a16:creationId xmlns:a16="http://schemas.microsoft.com/office/drawing/2014/main" id="{0881B94D-D7F1-4DFD-8A1D-E83C7869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WHAT WE GAIN</a:t>
            </a:r>
          </a:p>
        </p:txBody>
      </p:sp>
      <p:sp>
        <p:nvSpPr>
          <p:cNvPr id="12" name="trade-left-body">
            <a:extLst xmlns:a="http://schemas.openxmlformats.org/drawingml/2006/main">
              <a:ext uri="{FF2B5EF4-FFF2-40B4-BE49-F238E27FC236}">
                <a16:creationId xmlns:a16="http://schemas.microsoft.com/office/drawing/2014/main" id="{4EF1D507-6D18-48D4-BE26-3DCE5D89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31051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one definition of green
offline confidence
clear layer attribution</a:t>
            </a:r>
          </a:p>
        </p:txBody>
      </p:sp>
      <p:sp>
        <p:nvSpPr>
          <p:cNvPr id="13" name="trade-right-title">
            <a:extLst xmlns:a="http://schemas.openxmlformats.org/drawingml/2006/main">
              <a:ext uri="{FF2B5EF4-FFF2-40B4-BE49-F238E27FC236}">
                <a16:creationId xmlns:a16="http://schemas.microsoft.com/office/drawing/2014/main" id="{C5A919DF-CA74-44C3-86CC-C604DFEA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WHAT WE ACCEPT</a:t>
            </a:r>
          </a:p>
        </p:txBody>
      </p:sp>
      <p:sp>
        <p:nvSpPr>
          <p:cNvPr id="14" name="trade-right-body">
            <a:extLst xmlns:a="http://schemas.openxmlformats.org/drawingml/2006/main">
              <a:ext uri="{FF2B5EF4-FFF2-40B4-BE49-F238E27FC236}">
                <a16:creationId xmlns:a16="http://schemas.microsoft.com/office/drawing/2014/main" id="{9CF5234A-BD7D-4504-B4DB-387912C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1051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fail-fast, not full aggregation
a deliberately blunt static guard
serial checks before optimization</a:t>
            </a:r>
          </a:p>
        </p:txBody>
      </p:sp>
      <p:sp>
        <p:nvSpPr>
          <p:cNvPr id="15" name="trade-center">
            <a:extLst xmlns:a="http://schemas.openxmlformats.org/drawingml/2006/main">
              <a:ext uri="{FF2B5EF4-FFF2-40B4-BE49-F238E27FC236}">
                <a16:creationId xmlns:a16="http://schemas.microsoft.com/office/drawing/2014/main" id="{5966E8A1-04CC-400B-BCC9-18E64B2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33750"/>
            <a:ext cx="609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M0</a:t>
            </a:r>
          </a:p>
        </p:txBody>
      </p:sp>
      <p:sp>
        <p:nvSpPr>
          <p:cNvPr id="16" name="trade-rule">
            <a:extLst xmlns:a="http://schemas.openxmlformats.org/drawingml/2006/main">
              <a:ext uri="{FF2B5EF4-FFF2-40B4-BE49-F238E27FC236}">
                <a16:creationId xmlns:a16="http://schemas.microsoft.com/office/drawing/2014/main" id="{E233CD75-00CF-48B6-8162-9047942E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62600"/>
            <a:ext cx="8153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ade-rule-text">
            <a:extLst xmlns:a="http://schemas.openxmlformats.org/drawingml/2006/main">
              <a:ext uri="{FF2B5EF4-FFF2-40B4-BE49-F238E27FC236}">
                <a16:creationId xmlns:a16="http://schemas.microsoft.com/office/drawing/2014/main" id="{605035CC-FD27-48F7-BF30-5F09FC46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53100"/>
            <a:ext cx="750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Optimize only after measured pain—never by quietly changing the meaning of green.</a:t>
            </a:r>
          </a:p>
        </p:txBody>
      </p:sp>
    </p:spTree>
    <p:extLst>
      <p:ext uri="{BB962C8B-B14F-4D97-AF65-F5344CB8AC3E}">
        <p14:creationId xmlns:p14="http://schemas.microsoft.com/office/powerpoint/2010/main" val="1598033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bg">
            <a:extLst xmlns:a="http://schemas.openxmlformats.org/drawingml/2006/main">
              <a:ext uri="{FF2B5EF4-FFF2-40B4-BE49-F238E27FC236}">
                <a16:creationId xmlns:a16="http://schemas.microsoft.com/office/drawing/2014/main" id="{D9733515-092A-4933-81A9-203B41C4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1" name="close-runway"/>
          <p:cNvCxnSpPr/>
          <p:nvPr/>
        </p:nvCxnSpPr>
        <p:spPr>
          <a:xfrm xmlns:a="http://schemas.openxmlformats.org/drawingml/2006/main">
            <a:off x="1123950" y="4953000"/>
            <a:ext cx="9391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71450">
            <a:solidFill>
              <a:srgbClr val="29445F"/>
            </a:solidFill>
            <a:prstDash val="solid"/>
          </a:ln>
        </p:spPr>
      </p:cxnSp>
      <p:cxnSp>
        <p:nvCxnSpPr>
          <p:cNvPr id="22" name="close-runway-green"/>
          <p:cNvCxnSpPr/>
          <p:nvPr/>
        </p:nvCxnSpPr>
        <p:spPr>
          <a:xfrm xmlns:a="http://schemas.openxmlformats.org/drawingml/2006/main">
            <a:off x="1123950" y="4953000"/>
            <a:ext cx="723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71450">
            <a:solidFill>
              <a:srgbClr val="22C55E"/>
            </a:solidFill>
            <a:prstDash val="solid"/>
          </a:ln>
        </p:spPr>
      </p:cxnSp>
      <p:sp>
        <p:nvSpPr>
          <p:cNvPr id="4" name="close-arrow">
            <a:extLst xmlns:a="http://schemas.openxmlformats.org/drawingml/2006/main">
              <a:ext uri="{FF2B5EF4-FFF2-40B4-BE49-F238E27FC236}">
                <a16:creationId xmlns:a16="http://schemas.microsoft.com/office/drawing/2014/main" id="{A897502A-748E-4A44-A065-4A73A480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146685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check-ring">
            <a:extLst xmlns:a="http://schemas.openxmlformats.org/drawingml/2006/main">
              <a:ext uri="{FF2B5EF4-FFF2-40B4-BE49-F238E27FC236}">
                <a16:creationId xmlns:a16="http://schemas.microsoft.com/office/drawing/2014/main" id="{519DB2A4-86D2-4350-86E3-48AC1A44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86200"/>
            <a:ext cx="1962150" cy="1962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51F"/>
          </a:solidFill>
          <a:ln xmlns:a="http://schemas.openxmlformats.org/drawingml/2006/main" w="76200">
            <a:solidFill>
              <a:srgbClr val="22C55E"/>
            </a:solidFill>
            <a:prstDash val="solid"/>
          </a:ln>
        </p:spPr>
      </p:sp>
      <p:sp>
        <p:nvSpPr>
          <p:cNvPr id="6" name="close-check">
            <a:extLst xmlns:a="http://schemas.openxmlformats.org/drawingml/2006/main">
              <a:ext uri="{FF2B5EF4-FFF2-40B4-BE49-F238E27FC236}">
                <a16:creationId xmlns:a16="http://schemas.microsoft.com/office/drawing/2014/main" id="{08EA8315-FDF0-439E-9758-90E2937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33850"/>
            <a:ext cx="11620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C9654D29-BAC5-42DB-89EF-6E562257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571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t>CAH-007  •  GATE ESTABLISHED</a:t>
            </a:r>
          </a:p>
        </p:txBody>
      </p:sp>
      <p:sp>
        <p:nvSpPr>
          <p:cNvPr id="8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D0C7E3C-2367-4788-832B-CD0971C9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7429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Make green mean
something.</a:t>
            </a:r>
          </a:p>
        </p:txBody>
      </p:sp>
      <p:sp>
        <p:nvSpPr>
          <p:cNvPr id="9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E224CC97-950B-45E1-8624-301124D7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819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E5F4"/>
                </a:solidFill>
                <a:latin typeface="Aptos"/>
                <a:ea typeface="Aptos"/>
                <a:cs typeface="Aptos"/>
              </a:defRPr>
            </a:pPr>
            <a:r>
              <a:t>One command. Locked setup. Offline validation. Honest failures.</a:t>
            </a:r>
          </a:p>
        </p:txBody>
      </p:sp>
      <p:sp>
        <p:nvSpPr>
          <p:cNvPr id="10" name="close-num-0">
            <a:extLst xmlns:a="http://schemas.openxmlformats.org/drawingml/2006/main">
              <a:ext uri="{FF2B5EF4-FFF2-40B4-BE49-F238E27FC236}">
                <a16:creationId xmlns:a16="http://schemas.microsoft.com/office/drawing/2014/main" id="{80C4883C-DE5B-4175-AB99-39783F5F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1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A3DF6494-6C7B-4645-8BE6-03D25DA5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38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Use ./scripts/check before Done</a:t>
            </a:r>
          </a:p>
        </p:txBody>
      </p:sp>
      <p:sp>
        <p:nvSpPr>
          <p:cNvPr id="12" name="close-num-1">
            <a:extLst xmlns:a="http://schemas.openxmlformats.org/drawingml/2006/main">
              <a:ext uri="{FF2B5EF4-FFF2-40B4-BE49-F238E27FC236}">
                <a16:creationId xmlns:a16="http://schemas.microsoft.com/office/drawing/2014/main" id="{DD7CCFF4-FDBB-46EE-882E-1F8E9F0A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76650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3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E135F0D4-1773-4E6E-982F-6D2F688D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14750"/>
            <a:ext cx="2038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Trust seams, not just modules</a:t>
            </a:r>
          </a:p>
        </p:txBody>
      </p:sp>
      <p:sp>
        <p:nvSpPr>
          <p:cNvPr id="14" name="close-num-2">
            <a:extLst xmlns:a="http://schemas.openxmlformats.org/drawingml/2006/main">
              <a:ext uri="{FF2B5EF4-FFF2-40B4-BE49-F238E27FC236}">
                <a16:creationId xmlns:a16="http://schemas.microsoft.com/office/drawing/2014/main" id="{BBA98648-F391-4F26-837A-1C361914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5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DB709DC9-18AB-4685-875C-15733CD5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14750"/>
            <a:ext cx="2038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Let CI reuse the same contract</a:t>
            </a:r>
          </a:p>
        </p:txBody>
      </p:sp>
      <p:sp>
        <p:nvSpPr>
          <p:cNvPr id="16" name="close-next">
            <a:extLst xmlns:a="http://schemas.openxmlformats.org/drawingml/2006/main">
              <a:ext uri="{FF2B5EF4-FFF2-40B4-BE49-F238E27FC236}">
                <a16:creationId xmlns:a16="http://schemas.microsoft.com/office/drawing/2014/main" id="{D500070A-0B52-4A40-BAE4-2AFA6538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80200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17" name="close-next-kicker">
            <a:extLst xmlns:a="http://schemas.openxmlformats.org/drawingml/2006/main">
              <a:ext uri="{FF2B5EF4-FFF2-40B4-BE49-F238E27FC236}">
                <a16:creationId xmlns:a16="http://schemas.microsoft.com/office/drawing/2014/main" id="{09B6911B-CDE6-47E1-8ED5-86B55273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19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NEXT  →  CAH-010</a:t>
            </a:r>
          </a:p>
        </p:txBody>
      </p:sp>
      <p:sp>
        <p:nvSpPr>
          <p:cNvPr id="18" name="close-next-body">
            <a:extLst xmlns:a="http://schemas.openxmlformats.org/drawingml/2006/main">
              <a:ext uri="{FF2B5EF4-FFF2-40B4-BE49-F238E27FC236}">
                <a16:creationId xmlns:a16="http://schemas.microsoft.com/office/drawing/2014/main" id="{FED20119-7710-4D2D-8F52-3A554E66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86450"/>
            <a:ext cx="518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Build the session-state reducer behind a gate we can trust.</a:t>
            </a:r>
          </a:p>
        </p:txBody>
      </p:sp>
      <p:sp>
        <p:nvSpPr>
          <p:cNvPr id="19" name="close-fun">
            <a:extLst xmlns:a="http://schemas.openxmlformats.org/drawingml/2006/main">
              <a:ext uri="{FF2B5EF4-FFF2-40B4-BE49-F238E27FC236}">
                <a16:creationId xmlns:a16="http://schemas.microsoft.com/office/drawing/2014/main" id="{9CA15C33-B5C7-4745-B9CF-8007EE4E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76950"/>
            <a:ext cx="2343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The robot approves.</a:t>
            </a:r>
          </a:p>
        </p:txBody>
      </p:sp>
    </p:spTree>
    <p:extLst>
      <p:ext uri="{BB962C8B-B14F-4D97-AF65-F5344CB8AC3E}">
        <p14:creationId xmlns:p14="http://schemas.microsoft.com/office/powerpoint/2010/main" val="422683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2026-07-30T22:07:18.5380000Z</dcterms:created>
  <dcterms:modified xsi:type="dcterms:W3CDTF">2026-07-30T22:07:18.5380000Z</dcterms:modified>
</coreProperties>
</file>