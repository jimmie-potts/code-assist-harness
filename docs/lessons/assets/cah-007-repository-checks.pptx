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d8f928860404fa2" /><Relationship Type="http://schemas.openxmlformats.org/officeDocument/2006/relationships/extended-properties" Target="/docProps/app.xml" Id="R77894d9efd044242" /><Relationship Type="http://schemas.openxmlformats.org/officeDocument/2006/relationships/officeDocument" Target="/ppt/presentation.xml" Id="Rf7bb158fab1045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bdf20e5ac864355"/>
  </p:sldMasterIdLst>
  <p:notesMasterIdLst>
    <p:notesMasterId xmlns:r="http://schemas.openxmlformats.org/officeDocument/2006/relationships" r:id="R9558172af17b4dde"/>
  </p:notesMasterIdLst>
  <p:sldIdLst>
    <p:sldId xmlns:r="http://schemas.openxmlformats.org/officeDocument/2006/relationships" id="256" r:id="R37fbbe55f2374acc"/>
    <p:sldId xmlns:r="http://schemas.openxmlformats.org/officeDocument/2006/relationships" id="257" r:id="R185efa2b73d84ca9"/>
    <p:sldId xmlns:r="http://schemas.openxmlformats.org/officeDocument/2006/relationships" id="258" r:id="Rdc2007f95d21480a"/>
    <p:sldId xmlns:r="http://schemas.openxmlformats.org/officeDocument/2006/relationships" id="259" r:id="Re1fdb3361415408c"/>
    <p:sldId xmlns:r="http://schemas.openxmlformats.org/officeDocument/2006/relationships" id="260" r:id="R6ee9fccb34494900"/>
    <p:sldId xmlns:r="http://schemas.openxmlformats.org/officeDocument/2006/relationships" id="261" r:id="R149887008ab645b1"/>
    <p:sldId xmlns:r="http://schemas.openxmlformats.org/officeDocument/2006/relationships" id="262" r:id="R7d17c26d4edf43fc"/>
    <p:sldId xmlns:r="http://schemas.openxmlformats.org/officeDocument/2006/relationships" id="263" r:id="R6324f25714a740d7"/>
    <p:sldId xmlns:r="http://schemas.openxmlformats.org/officeDocument/2006/relationships" id="264" r:id="Reed08546372949d8"/>
    <p:sldId xmlns:r="http://schemas.openxmlformats.org/officeDocument/2006/relationships" id="265" r:id="Rb4d5925cb17b40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f618f1556e43e7" /><Relationship Type="http://schemas.openxmlformats.org/officeDocument/2006/relationships/slideMaster" Target="/ppt/slideMasters/slideMaster1.xml" Id="R4bdf20e5ac864355" /><Relationship Type="http://schemas.openxmlformats.org/officeDocument/2006/relationships/notesMaster" Target="/ppt/notesMasters/notesMaster1.xml" Id="R9558172af17b4dde" /><Relationship Type="http://schemas.openxmlformats.org/officeDocument/2006/relationships/presProps" Target="/ppt/presProps.xml" Id="R6381f32e91624af7" /><Relationship Type="http://schemas.openxmlformats.org/officeDocument/2006/relationships/tableStyles" Target="/ppt/tableStyles.xml" Id="Rad3c3b4bd39241d4" /><Relationship Type="http://schemas.openxmlformats.org/officeDocument/2006/relationships/slide" Target="/ppt/slides/slide1.xml" Id="R37fbbe55f2374acc" /><Relationship Type="http://schemas.openxmlformats.org/officeDocument/2006/relationships/slide" Target="/ppt/slides/slide2.xml" Id="R185efa2b73d84ca9" /><Relationship Type="http://schemas.openxmlformats.org/officeDocument/2006/relationships/slide" Target="/ppt/slides/slide3.xml" Id="Rdc2007f95d21480a" /><Relationship Type="http://schemas.openxmlformats.org/officeDocument/2006/relationships/slide" Target="/ppt/slides/slide4.xml" Id="Re1fdb3361415408c" /><Relationship Type="http://schemas.openxmlformats.org/officeDocument/2006/relationships/slide" Target="/ppt/slides/slide5.xml" Id="R6ee9fccb34494900" /><Relationship Type="http://schemas.openxmlformats.org/officeDocument/2006/relationships/slide" Target="/ppt/slides/slide6.xml" Id="R149887008ab645b1" /><Relationship Type="http://schemas.openxmlformats.org/officeDocument/2006/relationships/slide" Target="/ppt/slides/slide7.xml" Id="R7d17c26d4edf43fc" /><Relationship Type="http://schemas.openxmlformats.org/officeDocument/2006/relationships/slide" Target="/ppt/slides/slide8.xml" Id="R6324f25714a740d7" /><Relationship Type="http://schemas.openxmlformats.org/officeDocument/2006/relationships/slide" Target="/ppt/slides/slide9.xml" Id="Reed08546372949d8" /><Relationship Type="http://schemas.openxmlformats.org/officeDocument/2006/relationships/slide" Target="/ppt/slides/slide10.xml" Id="Rb4d5925cb17b40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9ab9d679f5948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997048a4754a36" /><Relationship Type="http://schemas.openxmlformats.org/officeDocument/2006/relationships/notesMaster" Target="/ppt/notesMasters/notesMaster1.xml" Id="Rd0962ecc3dcf4df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8385b67b0b4df4" /><Relationship Type="http://schemas.openxmlformats.org/officeDocument/2006/relationships/notesMaster" Target="/ppt/notesMasters/notesMaster1.xml" Id="R25b93843b3b641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fce57b4bb14657" /><Relationship Type="http://schemas.openxmlformats.org/officeDocument/2006/relationships/notesMaster" Target="/ppt/notesMasters/notesMaster1.xml" Id="R6f99326955164c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decec1b17249ef" /><Relationship Type="http://schemas.openxmlformats.org/officeDocument/2006/relationships/notesMaster" Target="/ppt/notesMasters/notesMaster1.xml" Id="Rbc2f9928571447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1c6026bdd24c62" /><Relationship Type="http://schemas.openxmlformats.org/officeDocument/2006/relationships/notesMaster" Target="/ppt/notesMasters/notesMaster1.xml" Id="R911b3e31ef2a406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7456b8f7f64f99" /><Relationship Type="http://schemas.openxmlformats.org/officeDocument/2006/relationships/notesMaster" Target="/ppt/notesMasters/notesMaster1.xml" Id="Rfcf56c82bb9c468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8a154240e7400e" /><Relationship Type="http://schemas.openxmlformats.org/officeDocument/2006/relationships/notesMaster" Target="/ppt/notesMasters/notesMaster1.xml" Id="Rb11bf76f3ed34c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ae945798fed44d4" /><Relationship Type="http://schemas.openxmlformats.org/officeDocument/2006/relationships/notesMaster" Target="/ppt/notesMasters/notesMaster1.xml" Id="Rd3629e763f5c4f7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65d1bac92e492d" /><Relationship Type="http://schemas.openxmlformats.org/officeDocument/2006/relationships/notesMaster" Target="/ppt/notesMasters/notesMaster1.xml" Id="Rac48779142054d3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1ab7e7b65b24e76" /><Relationship Type="http://schemas.openxmlformats.org/officeDocument/2006/relationships/notesMaster" Target="/ppt/notesMasters/notesMaster1.xml" Id="R7b086226873a45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06885014e447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a35965d86f4d99" /><Relationship Type="http://schemas.openxmlformats.org/officeDocument/2006/relationships/slideLayout" Target="/ppt/slideLayouts/slideLayout1.xml" Id="R5913169983a3442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913169983a3442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412f1cae654714" /><Relationship Type="http://schemas.openxmlformats.org/officeDocument/2006/relationships/image" Target="/ppt/media/image.png" Id="R25caf125a7224983" /><Relationship Type="http://schemas.openxmlformats.org/officeDocument/2006/relationships/notesSlide" Target="/ppt/notesSlides/notesSlide1.xml" Id="R51e82220a8d14da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99909bde9433a" /><Relationship Type="http://schemas.openxmlformats.org/officeDocument/2006/relationships/notesSlide" Target="/ppt/notesSlides/notesSlide2.xml" Id="Ra4c234834b534b8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a27e071c142b7" /><Relationship Type="http://schemas.openxmlformats.org/officeDocument/2006/relationships/notesSlide" Target="/ppt/notesSlides/notesSlide3.xml" Id="R87addb3516574d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9f12f77dac48ee" /><Relationship Type="http://schemas.openxmlformats.org/officeDocument/2006/relationships/notesSlide" Target="/ppt/notesSlides/notesSlide4.xml" Id="Reffe08f25912492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43ed92f2754a18" /><Relationship Type="http://schemas.openxmlformats.org/officeDocument/2006/relationships/notesSlide" Target="/ppt/notesSlides/notesSlide5.xml" Id="R8c9d092846f240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4ba6fe083843e5" /><Relationship Type="http://schemas.openxmlformats.org/officeDocument/2006/relationships/notesSlide" Target="/ppt/notesSlides/notesSlide6.xml" Id="R48493b63582d45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4a9cabd754e54" /><Relationship Type="http://schemas.openxmlformats.org/officeDocument/2006/relationships/notesSlide" Target="/ppt/notesSlides/notesSlide7.xml" Id="R231283d997744b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e591058a84c93" /><Relationship Type="http://schemas.openxmlformats.org/officeDocument/2006/relationships/notesSlide" Target="/ppt/notesSlides/notesSlide8.xml" Id="R08d28fa4e8584a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f0cf6837ea4b17" /><Relationship Type="http://schemas.openxmlformats.org/officeDocument/2006/relationships/notesSlide" Target="/ppt/notesSlides/notesSlide9.xml" Id="R19bbe0c01b394d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f2fadc3cd3415c" /><Relationship Type="http://schemas.openxmlformats.org/officeDocument/2006/relationships/notesSlide" Target="/ppt/notesSlides/notesSlide10.xml" Id="Rfcac84aa45f74e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caf125a722498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shade">
            <a:extLst xmlns:a="http://schemas.openxmlformats.org/drawingml/2006/main">
              <a:ext uri="{FF2B5EF4-FFF2-40B4-BE49-F238E27FC236}">
                <a16:creationId xmlns:a16="http://schemas.microsoft.com/office/drawing/2014/main" id="{C51409D2-7F9A-46E1-B032-BB2E0530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581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cyan">
            <a:extLst xmlns:a="http://schemas.openxmlformats.org/drawingml/2006/main">
              <a:ext uri="{FF2B5EF4-FFF2-40B4-BE49-F238E27FC236}">
                <a16:creationId xmlns:a16="http://schemas.microsoft.com/office/drawing/2014/main" id="{D5624BCC-CFE9-4B2B-894A-A39888C8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90600"/>
            <a:ext cx="95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40E55C31-F518-4333-BFDB-F265A5125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4762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VERIFIED VISUAL LESSON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BC1D002-5DB4-412F-BCFA-76CC6855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33450"/>
            <a:ext cx="4514850" cy="2019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One green check.
The whole walking skeleton.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ED839B6-E68B-4113-AA01-224D251A9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424815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A canonical offline gate for Python, TypeScript, protocol fixtures, docs, policy, and the real process boundary.</a:t>
            </a:r>
          </a:p>
        </p:txBody>
      </p:sp>
      <p:sp>
        <p:nvSpPr>
          <p:cNvPr id="7" name="cover-command">
            <a:extLst xmlns:a="http://schemas.openxmlformats.org/drawingml/2006/main">
              <a:ext uri="{FF2B5EF4-FFF2-40B4-BE49-F238E27FC236}">
                <a16:creationId xmlns:a16="http://schemas.microsoft.com/office/drawing/2014/main" id="{843E6167-7C74-4CCE-B8F0-AA6304B8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31623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22D3EE"/>
            </a:solidFill>
            <a:prstDash val="solid"/>
          </a:ln>
        </p:spPr>
      </p:sp>
      <p:sp>
        <p:nvSpPr>
          <p:cNvPr id="8" name="cover-command-text">
            <a:extLst xmlns:a="http://schemas.openxmlformats.org/drawingml/2006/main">
              <a:ext uri="{FF2B5EF4-FFF2-40B4-BE49-F238E27FC236}">
                <a16:creationId xmlns:a16="http://schemas.microsoft.com/office/drawing/2014/main" id="{01011B06-F1BE-4C06-B484-16EBF769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05375"/>
            <a:ext cx="2705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2D3EE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sp>
        <p:nvSpPr>
          <p:cNvPr id="9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610D8718-510A-467C-85D2-359029A7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00700"/>
            <a:ext cx="4000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No live provider. No mystery. Just the gate.</a:t>
            </a:r>
          </a:p>
        </p:txBody>
      </p:sp>
      <p:sp>
        <p:nvSpPr>
          <p:cNvPr id="10" name="cover-footer">
            <a:extLst xmlns:a="http://schemas.openxmlformats.org/drawingml/2006/main">
              <a:ext uri="{FF2B5EF4-FFF2-40B4-BE49-F238E27FC236}">
                <a16:creationId xmlns:a16="http://schemas.microsoft.com/office/drawing/2014/main" id="{5825094D-C002-4C92-9113-32F97D187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343650"/>
            <a:ext cx="1733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M0 QUALITY MACHINE</a:t>
            </a:r>
          </a:p>
        </p:txBody>
      </p:sp>
    </p:spTree>
    <p:extLst>
      <p:ext uri="{BB962C8B-B14F-4D97-AF65-F5344CB8AC3E}">
        <p14:creationId xmlns:p14="http://schemas.microsoft.com/office/powerpoint/2010/main" val="70178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2">
            <a:extLst xmlns:a="http://schemas.openxmlformats.org/drawingml/2006/main">
              <a:ext uri="{FF2B5EF4-FFF2-40B4-BE49-F238E27FC236}">
                <a16:creationId xmlns:a16="http://schemas.microsoft.com/office/drawing/2014/main" id="{5C42869D-58C9-4E35-98A7-AAC34463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9BBB2FA-D1F8-4E00-9771-7512B79C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A pile of soloists does not make one reliable orchestra</a:t>
            </a:r>
          </a:p>
        </p:txBody>
      </p:sp>
      <p:cxnSp>
        <p:nvCxnSpPr>
          <p:cNvPr id="44" name="header-rule-2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2">
            <a:extLst xmlns:a="http://schemas.openxmlformats.org/drawingml/2006/main">
              <a:ext uri="{FF2B5EF4-FFF2-40B4-BE49-F238E27FC236}">
                <a16:creationId xmlns:a16="http://schemas.microsoft.com/office/drawing/2014/main" id="{BF49BC89-713E-4909-A492-2935637B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cxnSp>
        <p:nvCxnSpPr>
          <p:cNvPr id="46" name="solo-line-0"/>
          <p:cNvCxnSpPr/>
          <p:nvPr/>
        </p:nvCxnSpPr>
        <p:spPr>
          <a:xfrm xmlns:a="http://schemas.openxmlformats.org/drawingml/2006/main">
            <a:off x="838200" y="22860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6" name="solo-dot-0">
            <a:extLst xmlns:a="http://schemas.openxmlformats.org/drawingml/2006/main">
              <a:ext uri="{FF2B5EF4-FFF2-40B4-BE49-F238E27FC236}">
                <a16:creationId xmlns:a16="http://schemas.microsoft.com/office/drawing/2014/main" id="{FC0C1EF2-97EC-4EF4-A507-56368286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48" name="solo-line-1"/>
          <p:cNvCxnSpPr/>
          <p:nvPr/>
        </p:nvCxnSpPr>
        <p:spPr>
          <a:xfrm xmlns:a="http://schemas.openxmlformats.org/drawingml/2006/main">
            <a:off x="838200" y="27813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8" name="solo-dot-1">
            <a:extLst xmlns:a="http://schemas.openxmlformats.org/drawingml/2006/main">
              <a:ext uri="{FF2B5EF4-FFF2-40B4-BE49-F238E27FC236}">
                <a16:creationId xmlns:a16="http://schemas.microsoft.com/office/drawing/2014/main" id="{2C9533B8-C3F1-44DA-B47C-D8DE1DE4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0" name="solo-line-2"/>
          <p:cNvCxnSpPr/>
          <p:nvPr/>
        </p:nvCxnSpPr>
        <p:spPr>
          <a:xfrm xmlns:a="http://schemas.openxmlformats.org/drawingml/2006/main">
            <a:off x="838200" y="32766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0" name="solo-dot-2">
            <a:extLst xmlns:a="http://schemas.openxmlformats.org/drawingml/2006/main">
              <a:ext uri="{FF2B5EF4-FFF2-40B4-BE49-F238E27FC236}">
                <a16:creationId xmlns:a16="http://schemas.microsoft.com/office/drawing/2014/main" id="{57588140-44E3-4ADC-803D-7799A0BD9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051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2" name="solo-line-3"/>
          <p:cNvCxnSpPr/>
          <p:nvPr/>
        </p:nvCxnSpPr>
        <p:spPr>
          <a:xfrm xmlns:a="http://schemas.openxmlformats.org/drawingml/2006/main">
            <a:off x="838200" y="37719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2" name="solo-dot-3">
            <a:extLst xmlns:a="http://schemas.openxmlformats.org/drawingml/2006/main">
              <a:ext uri="{FF2B5EF4-FFF2-40B4-BE49-F238E27FC236}">
                <a16:creationId xmlns:a16="http://schemas.microsoft.com/office/drawing/2014/main" id="{F07C621C-F269-4069-9971-EB8D259E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4" name="solo-line-4"/>
          <p:cNvCxnSpPr/>
          <p:nvPr/>
        </p:nvCxnSpPr>
        <p:spPr>
          <a:xfrm xmlns:a="http://schemas.openxmlformats.org/drawingml/2006/main">
            <a:off x="838200" y="42672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4" name="solo-dot-4">
            <a:extLst xmlns:a="http://schemas.openxmlformats.org/drawingml/2006/main">
              <a:ext uri="{FF2B5EF4-FFF2-40B4-BE49-F238E27FC236}">
                <a16:creationId xmlns:a16="http://schemas.microsoft.com/office/drawing/2014/main" id="{C430AD1C-881C-4C8A-9D51-6800393E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6" name="solo-line-5"/>
          <p:cNvCxnSpPr/>
          <p:nvPr/>
        </p:nvCxnSpPr>
        <p:spPr>
          <a:xfrm xmlns:a="http://schemas.openxmlformats.org/drawingml/2006/main">
            <a:off x="838200" y="47625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6" name="solo-dot-5">
            <a:extLst xmlns:a="http://schemas.openxmlformats.org/drawingml/2006/main">
              <a:ext uri="{FF2B5EF4-FFF2-40B4-BE49-F238E27FC236}">
                <a16:creationId xmlns:a16="http://schemas.microsoft.com/office/drawing/2014/main" id="{09DDF6BF-3635-4072-9B56-4BA6ADE3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58" name="solo-line-6"/>
          <p:cNvCxnSpPr/>
          <p:nvPr/>
        </p:nvCxnSpPr>
        <p:spPr>
          <a:xfrm xmlns:a="http://schemas.openxmlformats.org/drawingml/2006/main">
            <a:off x="838200" y="5257800"/>
            <a:ext cx="581025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D7DEE7"/>
            </a:solidFill>
            <a:prstDash val="solid"/>
          </a:ln>
        </p:spPr>
      </p:cxnSp>
      <p:sp>
        <p:nvSpPr>
          <p:cNvPr id="18" name="solo-dot-6">
            <a:extLst xmlns:a="http://schemas.openxmlformats.org/drawingml/2006/main">
              <a:ext uri="{FF2B5EF4-FFF2-40B4-BE49-F238E27FC236}">
                <a16:creationId xmlns:a16="http://schemas.microsoft.com/office/drawing/2014/main" id="{2C2C25D0-96AA-48A0-BD87-B9DF05C3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86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60" name="orchestra-spine"/>
          <p:cNvCxnSpPr/>
          <p:nvPr/>
        </p:nvCxnSpPr>
        <p:spPr>
          <a:xfrm xmlns:a="http://schemas.openxmlformats.org/drawingml/2006/main">
            <a:off x="6705600" y="2286000"/>
            <a:ext cx="953" cy="302895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1F33"/>
            </a:solidFill>
            <a:prstDash val="solid"/>
          </a:ln>
        </p:spPr>
      </p:cxnSp>
      <p:sp>
        <p:nvSpPr>
          <p:cNvPr id="20" name="orchestra-arrow">
            <a:extLst xmlns:a="http://schemas.openxmlformats.org/drawingml/2006/main">
              <a:ext uri="{FF2B5EF4-FFF2-40B4-BE49-F238E27FC236}">
                <a16:creationId xmlns:a16="http://schemas.microsoft.com/office/drawing/2014/main" id="{D791E011-A7DD-49A8-B848-7EBEAF58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93345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orchestra-check-ring">
            <a:extLst xmlns:a="http://schemas.openxmlformats.org/drawingml/2006/main">
              <a:ext uri="{FF2B5EF4-FFF2-40B4-BE49-F238E27FC236}">
                <a16:creationId xmlns:a16="http://schemas.microsoft.com/office/drawing/2014/main" id="{D7BBCC37-8335-4616-92D1-5A4AAADB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71750"/>
            <a:ext cx="2343150" cy="2343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F9EF"/>
          </a:solidFill>
          <a:ln xmlns:a="http://schemas.openxmlformats.org/drawingml/2006/main" w="95250">
            <a:solidFill>
              <a:srgbClr val="22C55E"/>
            </a:solidFill>
            <a:prstDash val="solid"/>
          </a:ln>
        </p:spPr>
      </p:sp>
      <p:sp>
        <p:nvSpPr>
          <p:cNvPr id="22" name="orchestra-check">
            <a:extLst xmlns:a="http://schemas.openxmlformats.org/drawingml/2006/main">
              <a:ext uri="{FF2B5EF4-FFF2-40B4-BE49-F238E27FC236}">
                <a16:creationId xmlns:a16="http://schemas.microsoft.com/office/drawing/2014/main" id="{BC231EC2-A022-4C07-8BFA-067BB7BDD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00350"/>
            <a:ext cx="150495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4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23" name="orchestra-baton">
            <a:extLst xmlns:a="http://schemas.openxmlformats.org/drawingml/2006/main">
              <a:ext uri="{FF2B5EF4-FFF2-40B4-BE49-F238E27FC236}">
                <a16:creationId xmlns:a16="http://schemas.microsoft.com/office/drawing/2014/main" id="{2513138B-BFC1-4830-A4A5-246F0CDCF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247900"/>
            <a:ext cx="9525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orchestra-baton-tip">
            <a:extLst xmlns:a="http://schemas.openxmlformats.org/drawingml/2006/main">
              <a:ext uri="{FF2B5EF4-FFF2-40B4-BE49-F238E27FC236}">
                <a16:creationId xmlns:a16="http://schemas.microsoft.com/office/drawing/2014/main" id="{4105C363-D66B-449C-8E48-42ED9A6BD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20764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olo-label-0">
            <a:extLst xmlns:a="http://schemas.openxmlformats.org/drawingml/2006/main">
              <a:ext uri="{FF2B5EF4-FFF2-40B4-BE49-F238E27FC236}">
                <a16:creationId xmlns:a16="http://schemas.microsoft.com/office/drawing/2014/main" id="{118A08B2-56A5-4B4E-9565-E79AD219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526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6" name="solo-note-0">
            <a:extLst xmlns:a="http://schemas.openxmlformats.org/drawingml/2006/main">
              <a:ext uri="{FF2B5EF4-FFF2-40B4-BE49-F238E27FC236}">
                <a16:creationId xmlns:a16="http://schemas.microsoft.com/office/drawing/2014/main" id="{D1F7ABED-56A8-40C6-B25A-7B260B21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383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27" name="solo-label-1">
            <a:extLst xmlns:a="http://schemas.openxmlformats.org/drawingml/2006/main">
              <a:ext uri="{FF2B5EF4-FFF2-40B4-BE49-F238E27FC236}">
                <a16:creationId xmlns:a16="http://schemas.microsoft.com/office/drawing/2014/main" id="{3AB0D319-0D84-40C0-9BED-483F9C32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479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style</a:t>
            </a:r>
          </a:p>
        </p:txBody>
      </p:sp>
      <p:sp>
        <p:nvSpPr>
          <p:cNvPr id="28" name="solo-note-1">
            <a:extLst xmlns:a="http://schemas.openxmlformats.org/drawingml/2006/main">
              <a:ext uri="{FF2B5EF4-FFF2-40B4-BE49-F238E27FC236}">
                <a16:creationId xmlns:a16="http://schemas.microsoft.com/office/drawing/2014/main" id="{91F2AA3C-A71E-4484-857D-B88B9509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25336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29" name="solo-label-2">
            <a:extLst xmlns:a="http://schemas.openxmlformats.org/drawingml/2006/main">
              <a:ext uri="{FF2B5EF4-FFF2-40B4-BE49-F238E27FC236}">
                <a16:creationId xmlns:a16="http://schemas.microsoft.com/office/drawing/2014/main" id="{5C9E05A4-F507-45C5-BAF8-E6EAFF45E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432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docs</a:t>
            </a:r>
          </a:p>
        </p:txBody>
      </p:sp>
      <p:sp>
        <p:nvSpPr>
          <p:cNvPr id="30" name="solo-note-2">
            <a:extLst xmlns:a="http://schemas.openxmlformats.org/drawingml/2006/main">
              <a:ext uri="{FF2B5EF4-FFF2-40B4-BE49-F238E27FC236}">
                <a16:creationId xmlns:a16="http://schemas.microsoft.com/office/drawing/2014/main" id="{55281D87-44F0-4FBA-878A-48D5B47C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289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1" name="solo-label-3">
            <a:extLst xmlns:a="http://schemas.openxmlformats.org/drawingml/2006/main">
              <a:ext uri="{FF2B5EF4-FFF2-40B4-BE49-F238E27FC236}">
                <a16:creationId xmlns:a16="http://schemas.microsoft.com/office/drawing/2014/main" id="{3C09475B-C8C4-47CA-9E10-5EB407BC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385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policy</a:t>
            </a:r>
          </a:p>
        </p:txBody>
      </p:sp>
      <p:sp>
        <p:nvSpPr>
          <p:cNvPr id="32" name="solo-note-3">
            <a:extLst xmlns:a="http://schemas.openxmlformats.org/drawingml/2006/main">
              <a:ext uri="{FF2B5EF4-FFF2-40B4-BE49-F238E27FC236}">
                <a16:creationId xmlns:a16="http://schemas.microsoft.com/office/drawing/2014/main" id="{99F5F917-C878-4CC8-A12F-D227FD0F6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5242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3" name="solo-label-4">
            <a:extLst xmlns:a="http://schemas.openxmlformats.org/drawingml/2006/main">
              <a:ext uri="{FF2B5EF4-FFF2-40B4-BE49-F238E27FC236}">
                <a16:creationId xmlns:a16="http://schemas.microsoft.com/office/drawing/2014/main" id="{31147CE2-ED70-4B1D-BA44-1858953B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338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fixtures</a:t>
            </a:r>
          </a:p>
        </p:txBody>
      </p:sp>
      <p:sp>
        <p:nvSpPr>
          <p:cNvPr id="34" name="solo-note-4">
            <a:extLst xmlns:a="http://schemas.openxmlformats.org/drawingml/2006/main">
              <a:ext uri="{FF2B5EF4-FFF2-40B4-BE49-F238E27FC236}">
                <a16:creationId xmlns:a16="http://schemas.microsoft.com/office/drawing/2014/main" id="{96F07D35-6454-4BE0-B7C8-C2AE12EF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195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5" name="solo-label-5">
            <a:extLst xmlns:a="http://schemas.openxmlformats.org/drawingml/2006/main">
              <a:ext uri="{FF2B5EF4-FFF2-40B4-BE49-F238E27FC236}">
                <a16:creationId xmlns:a16="http://schemas.microsoft.com/office/drawing/2014/main" id="{BF55B5D9-F296-498B-B8AB-B622DDE8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291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36" name="solo-note-5">
            <a:extLst xmlns:a="http://schemas.openxmlformats.org/drawingml/2006/main">
              <a:ext uri="{FF2B5EF4-FFF2-40B4-BE49-F238E27FC236}">
                <a16:creationId xmlns:a16="http://schemas.microsoft.com/office/drawing/2014/main" id="{AE20D876-4E85-4F2F-97AF-A8524D37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5148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♫</a:t>
            </a:r>
          </a:p>
        </p:txBody>
      </p:sp>
      <p:sp>
        <p:nvSpPr>
          <p:cNvPr id="37" name="solo-label-6">
            <a:extLst xmlns:a="http://schemas.openxmlformats.org/drawingml/2006/main">
              <a:ext uri="{FF2B5EF4-FFF2-40B4-BE49-F238E27FC236}">
                <a16:creationId xmlns:a16="http://schemas.microsoft.com/office/drawing/2014/main" id="{F51C2505-363D-43B9-8613-73A7AD10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24450"/>
            <a:ext cx="1428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boundary</a:t>
            </a:r>
          </a:p>
        </p:txBody>
      </p:sp>
      <p:sp>
        <p:nvSpPr>
          <p:cNvPr id="38" name="solo-note-6">
            <a:extLst xmlns:a="http://schemas.openxmlformats.org/drawingml/2006/main">
              <a:ext uri="{FF2B5EF4-FFF2-40B4-BE49-F238E27FC236}">
                <a16:creationId xmlns:a16="http://schemas.microsoft.com/office/drawing/2014/main" id="{9909E5EA-6801-4F22-946D-FE87AC0F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10150"/>
            <a:ext cx="495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♪</a:t>
            </a:r>
          </a:p>
        </p:txBody>
      </p:sp>
      <p:sp>
        <p:nvSpPr>
          <p:cNvPr id="39" name="orchestra-caption">
            <a:extLst xmlns:a="http://schemas.openxmlformats.org/drawingml/2006/main">
              <a:ext uri="{FF2B5EF4-FFF2-40B4-BE49-F238E27FC236}">
                <a16:creationId xmlns:a16="http://schemas.microsoft.com/office/drawing/2014/main" id="{2E77C6CB-4159-4300-B4C4-F8FE2C15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933950"/>
            <a:ext cx="36576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Individually useful.
Collectively trustworthy only when one command owns the order.</a:t>
            </a:r>
          </a:p>
        </p:txBody>
      </p:sp>
      <p:sp>
        <p:nvSpPr>
          <p:cNvPr id="40" name="orchestra-punchline">
            <a:extLst xmlns:a="http://schemas.openxmlformats.org/drawingml/2006/main">
              <a:ext uri="{FF2B5EF4-FFF2-40B4-BE49-F238E27FC236}">
                <a16:creationId xmlns:a16="http://schemas.microsoft.com/office/drawing/2014/main" id="{7121D0DD-A83C-4929-B4C5-ABC20A03F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62650"/>
            <a:ext cx="11277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orchestra-punchline-text">
            <a:extLst xmlns:a="http://schemas.openxmlformats.org/drawingml/2006/main">
              <a:ext uri="{FF2B5EF4-FFF2-40B4-BE49-F238E27FC236}">
                <a16:creationId xmlns:a16="http://schemas.microsoft.com/office/drawing/2014/main" id="{3BE58A16-4559-4C89-87D8-3E4C811E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7695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The product is not a pile of green commands—it is one reproducible decision.</a:t>
            </a:r>
          </a:p>
        </p:txBody>
      </p:sp>
    </p:spTree>
    <p:extLst>
      <p:ext uri="{BB962C8B-B14F-4D97-AF65-F5344CB8AC3E}">
        <p14:creationId xmlns:p14="http://schemas.microsoft.com/office/powerpoint/2010/main" val="2459740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3">
            <a:extLst xmlns:a="http://schemas.openxmlformats.org/drawingml/2006/main">
              <a:ext uri="{FF2B5EF4-FFF2-40B4-BE49-F238E27FC236}">
                <a16:creationId xmlns:a16="http://schemas.microsoft.com/office/drawing/2014/main" id="{D3FDDD57-DB2E-41DA-8752-366B4EF93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655271D-FB24-406D-8413-6B72BB9E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Twelve named stations make failures attributable</a:t>
            </a:r>
          </a:p>
        </p:txBody>
      </p:sp>
      <p:cxnSp>
        <p:nvCxnSpPr>
          <p:cNvPr id="45" name="header-rule-3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3">
            <a:extLst xmlns:a="http://schemas.openxmlformats.org/drawingml/2006/main">
              <a:ext uri="{FF2B5EF4-FFF2-40B4-BE49-F238E27FC236}">
                <a16:creationId xmlns:a16="http://schemas.microsoft.com/office/drawing/2014/main" id="{DE6557B3-4786-47B8-8C76-4DDB498E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cxnSp>
        <p:nvCxnSpPr>
          <p:cNvPr id="47" name="station-line-0"/>
          <p:cNvCxnSpPr/>
          <p:nvPr/>
        </p:nvCxnSpPr>
        <p:spPr>
          <a:xfrm xmlns:a="http://schemas.openxmlformats.org/drawingml/2006/main">
            <a:off x="3124200" y="22669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38BDF8"/>
            </a:solidFill>
            <a:prstDash val="solid"/>
          </a:ln>
        </p:spPr>
      </p:cxnSp>
      <p:sp>
        <p:nvSpPr>
          <p:cNvPr id="6" name="station-group-0">
            <a:extLst xmlns:a="http://schemas.openxmlformats.org/drawingml/2006/main">
              <a:ext uri="{FF2B5EF4-FFF2-40B4-BE49-F238E27FC236}">
                <a16:creationId xmlns:a16="http://schemas.microsoft.com/office/drawing/2014/main" id="{277B4ED2-0600-4286-9AA5-9F664201F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812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 CORE  •  4</a:t>
            </a:r>
          </a:p>
        </p:txBody>
      </p:sp>
      <p:sp>
        <p:nvSpPr>
          <p:cNvPr id="7" name="station-dot-0-0">
            <a:extLst xmlns:a="http://schemas.openxmlformats.org/drawingml/2006/main">
              <a:ext uri="{FF2B5EF4-FFF2-40B4-BE49-F238E27FC236}">
                <a16:creationId xmlns:a16="http://schemas.microsoft.com/office/drawing/2014/main" id="{06FF9650-B08E-4DBF-BCAE-A14407C4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8" name="station-label-0-0">
            <a:extLst xmlns:a="http://schemas.openxmlformats.org/drawingml/2006/main">
              <a:ext uri="{FF2B5EF4-FFF2-40B4-BE49-F238E27FC236}">
                <a16:creationId xmlns:a16="http://schemas.microsoft.com/office/drawing/2014/main" id="{15F79A4F-D362-4892-8A45-89C8A1E7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lock + environment</a:t>
            </a:r>
          </a:p>
        </p:txBody>
      </p:sp>
      <p:sp>
        <p:nvSpPr>
          <p:cNvPr id="9" name="station-dot-0-1">
            <a:extLst xmlns:a="http://schemas.openxmlformats.org/drawingml/2006/main">
              <a:ext uri="{FF2B5EF4-FFF2-40B4-BE49-F238E27FC236}">
                <a16:creationId xmlns:a16="http://schemas.microsoft.com/office/drawing/2014/main" id="{7B0E1E7D-F6D1-442B-BF93-F92C7C11D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0" name="station-label-0-1">
            <a:extLst xmlns:a="http://schemas.openxmlformats.org/drawingml/2006/main">
              <a:ext uri="{FF2B5EF4-FFF2-40B4-BE49-F238E27FC236}">
                <a16:creationId xmlns:a16="http://schemas.microsoft.com/office/drawing/2014/main" id="{7F4BDC57-4760-4225-979B-5F048217A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2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 + docstrings</a:t>
            </a:r>
          </a:p>
        </p:txBody>
      </p:sp>
      <p:sp>
        <p:nvSpPr>
          <p:cNvPr id="11" name="station-dot-0-2">
            <a:extLst xmlns:a="http://schemas.openxmlformats.org/drawingml/2006/main">
              <a:ext uri="{FF2B5EF4-FFF2-40B4-BE49-F238E27FC236}">
                <a16:creationId xmlns:a16="http://schemas.microsoft.com/office/drawing/2014/main" id="{1097D9F4-28DB-4CB8-9F80-1EE26451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2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2" name="station-label-0-2">
            <a:extLst xmlns:a="http://schemas.openxmlformats.org/drawingml/2006/main">
              <a:ext uri="{FF2B5EF4-FFF2-40B4-BE49-F238E27FC236}">
                <a16:creationId xmlns:a16="http://schemas.microsoft.com/office/drawing/2014/main" id="{841485D9-7496-4B0C-A2CD-33A8B53D9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90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format</a:t>
            </a:r>
          </a:p>
        </p:txBody>
      </p:sp>
      <p:sp>
        <p:nvSpPr>
          <p:cNvPr id="13" name="station-dot-0-3">
            <a:extLst xmlns:a="http://schemas.openxmlformats.org/drawingml/2006/main">
              <a:ext uri="{FF2B5EF4-FFF2-40B4-BE49-F238E27FC236}">
                <a16:creationId xmlns:a16="http://schemas.microsoft.com/office/drawing/2014/main" id="{C0A78CC6-393F-4692-BA15-D3D97A63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21240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4" name="station-label-0-3">
            <a:extLst xmlns:a="http://schemas.openxmlformats.org/drawingml/2006/main">
              <a:ext uri="{FF2B5EF4-FFF2-40B4-BE49-F238E27FC236}">
                <a16:creationId xmlns:a16="http://schemas.microsoft.com/office/drawing/2014/main" id="{76176960-F6F0-4307-B565-43F5449AE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3812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57" name="station-line-1"/>
          <p:cNvCxnSpPr/>
          <p:nvPr/>
        </p:nvCxnSpPr>
        <p:spPr>
          <a:xfrm xmlns:a="http://schemas.openxmlformats.org/drawingml/2006/main">
            <a:off x="3124200" y="31432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8B5CF6"/>
            </a:solidFill>
            <a:prstDash val="solid"/>
          </a:ln>
        </p:spPr>
      </p:cxnSp>
      <p:sp>
        <p:nvSpPr>
          <p:cNvPr id="16" name="station-group-1">
            <a:extLst xmlns:a="http://schemas.openxmlformats.org/drawingml/2006/main">
              <a:ext uri="{FF2B5EF4-FFF2-40B4-BE49-F238E27FC236}">
                <a16:creationId xmlns:a16="http://schemas.microsoft.com/office/drawing/2014/main" id="{6B6F04CB-1522-402D-B0A2-EB37AF6DD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TRUST BOUNDARY  •  2</a:t>
            </a:r>
          </a:p>
        </p:txBody>
      </p:sp>
      <p:sp>
        <p:nvSpPr>
          <p:cNvPr id="17" name="station-dot-1-0">
            <a:extLst xmlns:a="http://schemas.openxmlformats.org/drawingml/2006/main">
              <a:ext uri="{FF2B5EF4-FFF2-40B4-BE49-F238E27FC236}">
                <a16:creationId xmlns:a16="http://schemas.microsoft.com/office/drawing/2014/main" id="{3EF9CD01-1021-45E8-9752-C42F8B47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8" name="station-label-1-0">
            <a:extLst xmlns:a="http://schemas.openxmlformats.org/drawingml/2006/main">
              <a:ext uri="{FF2B5EF4-FFF2-40B4-BE49-F238E27FC236}">
                <a16:creationId xmlns:a16="http://schemas.microsoft.com/office/drawing/2014/main" id="{14E2EB19-D54D-4CFC-A172-4D5F0E17C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fixtures</a:t>
            </a:r>
          </a:p>
        </p:txBody>
      </p:sp>
      <p:sp>
        <p:nvSpPr>
          <p:cNvPr id="19" name="station-dot-1-1">
            <a:extLst xmlns:a="http://schemas.openxmlformats.org/drawingml/2006/main">
              <a:ext uri="{FF2B5EF4-FFF2-40B4-BE49-F238E27FC236}">
                <a16:creationId xmlns:a16="http://schemas.microsoft.com/office/drawing/2014/main" id="{851CE4B1-07F1-4A43-BB5B-B89456693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0" name="station-label-1-1">
            <a:extLst xmlns:a="http://schemas.openxmlformats.org/drawingml/2006/main">
              <a:ext uri="{FF2B5EF4-FFF2-40B4-BE49-F238E27FC236}">
                <a16:creationId xmlns:a16="http://schemas.microsoft.com/office/drawing/2014/main" id="{11E50755-D47F-4CAC-B1B3-7FA8C4FA7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2575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repository policy</a:t>
            </a:r>
          </a:p>
        </p:txBody>
      </p:sp>
      <p:cxnSp>
        <p:nvCxnSpPr>
          <p:cNvPr id="63" name="station-line-2"/>
          <p:cNvCxnSpPr/>
          <p:nvPr/>
        </p:nvCxnSpPr>
        <p:spPr>
          <a:xfrm xmlns:a="http://schemas.openxmlformats.org/drawingml/2006/main">
            <a:off x="3124200" y="40195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FF6B6B"/>
            </a:solidFill>
            <a:prstDash val="solid"/>
          </a:ln>
        </p:spPr>
      </p:cxnSp>
      <p:sp>
        <p:nvSpPr>
          <p:cNvPr id="22" name="station-group-2">
            <a:extLst xmlns:a="http://schemas.openxmlformats.org/drawingml/2006/main">
              <a:ext uri="{FF2B5EF4-FFF2-40B4-BE49-F238E27FC236}">
                <a16:creationId xmlns:a16="http://schemas.microsoft.com/office/drawing/2014/main" id="{3AA5F6DC-4196-4FDB-B333-9427F351F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338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TUI CORE  •  4</a:t>
            </a:r>
          </a:p>
        </p:txBody>
      </p:sp>
      <p:sp>
        <p:nvSpPr>
          <p:cNvPr id="23" name="station-dot-2-0">
            <a:extLst xmlns:a="http://schemas.openxmlformats.org/drawingml/2006/main">
              <a:ext uri="{FF2B5EF4-FFF2-40B4-BE49-F238E27FC236}">
                <a16:creationId xmlns:a16="http://schemas.microsoft.com/office/drawing/2014/main" id="{DB292F1F-5126-447D-A60E-7502D7BD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4" name="station-label-2-0">
            <a:extLst xmlns:a="http://schemas.openxmlformats.org/drawingml/2006/main">
              <a:ext uri="{FF2B5EF4-FFF2-40B4-BE49-F238E27FC236}">
                <a16:creationId xmlns:a16="http://schemas.microsoft.com/office/drawing/2014/main" id="{B5850E79-7E42-4BE5-8B8B-69DC353F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runtime range</a:t>
            </a:r>
          </a:p>
        </p:txBody>
      </p:sp>
      <p:sp>
        <p:nvSpPr>
          <p:cNvPr id="25" name="station-dot-2-1">
            <a:extLst xmlns:a="http://schemas.openxmlformats.org/drawingml/2006/main">
              <a:ext uri="{FF2B5EF4-FFF2-40B4-BE49-F238E27FC236}">
                <a16:creationId xmlns:a16="http://schemas.microsoft.com/office/drawing/2014/main" id="{96A95DE7-70AB-4840-B5B0-2763D354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197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6" name="station-label-2-1">
            <a:extLst xmlns:a="http://schemas.openxmlformats.org/drawingml/2006/main">
              <a:ext uri="{FF2B5EF4-FFF2-40B4-BE49-F238E27FC236}">
                <a16:creationId xmlns:a16="http://schemas.microsoft.com/office/drawing/2014/main" id="{4A5A3303-1C10-4793-965E-21BA9549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425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typecheck</a:t>
            </a:r>
          </a:p>
        </p:txBody>
      </p:sp>
      <p:sp>
        <p:nvSpPr>
          <p:cNvPr id="27" name="station-dot-2-2">
            <a:extLst xmlns:a="http://schemas.openxmlformats.org/drawingml/2006/main">
              <a:ext uri="{FF2B5EF4-FFF2-40B4-BE49-F238E27FC236}">
                <a16:creationId xmlns:a16="http://schemas.microsoft.com/office/drawing/2014/main" id="{D430F59B-7469-4455-87B4-A30697CF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62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8" name="station-label-2-2">
            <a:extLst xmlns:a="http://schemas.openxmlformats.org/drawingml/2006/main">
              <a:ext uri="{FF2B5EF4-FFF2-40B4-BE49-F238E27FC236}">
                <a16:creationId xmlns:a16="http://schemas.microsoft.com/office/drawing/2014/main" id="{3CF31333-7584-4B82-B0B3-86CCC81E7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90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lint</a:t>
            </a:r>
          </a:p>
        </p:txBody>
      </p:sp>
      <p:sp>
        <p:nvSpPr>
          <p:cNvPr id="29" name="station-dot-2-3">
            <a:extLst xmlns:a="http://schemas.openxmlformats.org/drawingml/2006/main">
              <a:ext uri="{FF2B5EF4-FFF2-40B4-BE49-F238E27FC236}">
                <a16:creationId xmlns:a16="http://schemas.microsoft.com/office/drawing/2014/main" id="{F83811FD-78B3-4E49-8EE4-AA7C0CA98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38766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0" name="station-label-2-3">
            <a:extLst xmlns:a="http://schemas.openxmlformats.org/drawingml/2006/main">
              <a:ext uri="{FF2B5EF4-FFF2-40B4-BE49-F238E27FC236}">
                <a16:creationId xmlns:a16="http://schemas.microsoft.com/office/drawing/2014/main" id="{1C35D5CD-758E-4402-9C15-F1ACE1E37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core tests</a:t>
            </a:r>
          </a:p>
        </p:txBody>
      </p:sp>
      <p:cxnSp>
        <p:nvCxnSpPr>
          <p:cNvPr id="73" name="station-line-3"/>
          <p:cNvCxnSpPr/>
          <p:nvPr/>
        </p:nvCxnSpPr>
        <p:spPr>
          <a:xfrm xmlns:a="http://schemas.openxmlformats.org/drawingml/2006/main">
            <a:off x="3124200" y="4895850"/>
            <a:ext cx="798195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22C55E"/>
            </a:solidFill>
            <a:prstDash val="solid"/>
          </a:ln>
        </p:spPr>
      </p:cxnSp>
      <p:sp>
        <p:nvSpPr>
          <p:cNvPr id="32" name="station-group-3">
            <a:extLst xmlns:a="http://schemas.openxmlformats.org/drawingml/2006/main">
              <a:ext uri="{FF2B5EF4-FFF2-40B4-BE49-F238E27FC236}">
                <a16:creationId xmlns:a16="http://schemas.microsoft.com/office/drawing/2014/main" id="{3217E0E2-AB2E-461D-BAF3-B98A9407E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10100"/>
            <a:ext cx="2324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CROSS-PROCESS  •  2</a:t>
            </a:r>
          </a:p>
        </p:txBody>
      </p:sp>
      <p:sp>
        <p:nvSpPr>
          <p:cNvPr id="33" name="station-dot-3-0">
            <a:extLst xmlns:a="http://schemas.openxmlformats.org/drawingml/2006/main">
              <a:ext uri="{FF2B5EF4-FFF2-40B4-BE49-F238E27FC236}">
                <a16:creationId xmlns:a16="http://schemas.microsoft.com/office/drawing/2014/main" id="{A8C054B6-4E41-4A3A-B1BA-8F969674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4" name="station-label-3-0">
            <a:extLst xmlns:a="http://schemas.openxmlformats.org/drawingml/2006/main">
              <a:ext uri="{FF2B5EF4-FFF2-40B4-BE49-F238E27FC236}">
                <a16:creationId xmlns:a16="http://schemas.microsoft.com/office/drawing/2014/main" id="{38A8FFB4-B318-42A7-B8BA-90DBCC00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 fixtures</a:t>
            </a:r>
          </a:p>
        </p:txBody>
      </p:sp>
      <p:sp>
        <p:nvSpPr>
          <p:cNvPr id="35" name="station-dot-3-1">
            <a:extLst xmlns:a="http://schemas.openxmlformats.org/drawingml/2006/main">
              <a:ext uri="{FF2B5EF4-FFF2-40B4-BE49-F238E27FC236}">
                <a16:creationId xmlns:a16="http://schemas.microsoft.com/office/drawing/2014/main" id="{81467B94-8131-40BD-BF73-5D950F2C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3275" y="47529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36" name="station-label-3-1">
            <a:extLst xmlns:a="http://schemas.openxmlformats.org/drawingml/2006/main">
              <a:ext uri="{FF2B5EF4-FFF2-40B4-BE49-F238E27FC236}">
                <a16:creationId xmlns:a16="http://schemas.microsoft.com/office/drawing/2014/main" id="{A31EA028-4B6B-4FE7-AA2F-9F79BC90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010150"/>
            <a:ext cx="1981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Node–Python integration</a:t>
            </a:r>
          </a:p>
        </p:txBody>
      </p:sp>
      <p:sp>
        <p:nvSpPr>
          <p:cNvPr id="37" name="spine-fail">
            <a:extLst xmlns:a="http://schemas.openxmlformats.org/drawingml/2006/main">
              <a:ext uri="{FF2B5EF4-FFF2-40B4-BE49-F238E27FC236}">
                <a16:creationId xmlns:a16="http://schemas.microsoft.com/office/drawing/2014/main" id="{A390A73B-0A53-40A1-9F8D-7177C94A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57850"/>
            <a:ext cx="66865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38" name="spine-fail-icon">
            <a:extLst xmlns:a="http://schemas.openxmlformats.org/drawingml/2006/main">
              <a:ext uri="{FF2B5EF4-FFF2-40B4-BE49-F238E27FC236}">
                <a16:creationId xmlns:a16="http://schemas.microsoft.com/office/drawing/2014/main" id="{5BEF443E-4CA5-41F9-BE48-4E39F9ED5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72150"/>
            <a:ext cx="4762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!</a:t>
            </a:r>
          </a:p>
        </p:txBody>
      </p:sp>
      <p:sp>
        <p:nvSpPr>
          <p:cNvPr id="39" name="spine-fail-text">
            <a:extLst xmlns:a="http://schemas.openxmlformats.org/drawingml/2006/main">
              <a:ext uri="{FF2B5EF4-FFF2-40B4-BE49-F238E27FC236}">
                <a16:creationId xmlns:a16="http://schemas.microsoft.com/office/drawing/2014/main" id="{FC379A67-E93C-4700-9676-3449293F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781675"/>
            <a:ext cx="54673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First failure stops the train;
the last  ==&gt;  label names the layer.</a:t>
            </a:r>
          </a:p>
        </p:txBody>
      </p:sp>
      <p:sp>
        <p:nvSpPr>
          <p:cNvPr id="40" name="spine-pass">
            <a:extLst xmlns:a="http://schemas.openxmlformats.org/drawingml/2006/main">
              <a:ext uri="{FF2B5EF4-FFF2-40B4-BE49-F238E27FC236}">
                <a16:creationId xmlns:a16="http://schemas.microsoft.com/office/drawing/2014/main" id="{712B6AE3-5EF8-431C-AD1F-35C695C5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657850"/>
            <a:ext cx="4286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41" name="spine-pass-icon">
            <a:extLst xmlns:a="http://schemas.openxmlformats.org/drawingml/2006/main">
              <a:ext uri="{FF2B5EF4-FFF2-40B4-BE49-F238E27FC236}">
                <a16:creationId xmlns:a16="http://schemas.microsoft.com/office/drawing/2014/main" id="{A14FAEC4-04C2-460F-B7D6-23EB823E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5762625"/>
            <a:ext cx="495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42" name="spine-pass-text">
            <a:extLst xmlns:a="http://schemas.openxmlformats.org/drawingml/2006/main">
              <a:ext uri="{FF2B5EF4-FFF2-40B4-BE49-F238E27FC236}">
                <a16:creationId xmlns:a16="http://schemas.microsoft.com/office/drawing/2014/main" id="{5119D3E2-6218-4041-9C52-846907290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781675"/>
            <a:ext cx="30670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Only after station 12:
All repository checks passed.</a:t>
            </a:r>
          </a:p>
        </p:txBody>
      </p:sp>
    </p:spTree>
    <p:extLst>
      <p:ext uri="{BB962C8B-B14F-4D97-AF65-F5344CB8AC3E}">
        <p14:creationId xmlns:p14="http://schemas.microsoft.com/office/powerpoint/2010/main" val="16131394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4">
            <a:extLst xmlns:a="http://schemas.openxmlformats.org/drawingml/2006/main">
              <a:ext uri="{FF2B5EF4-FFF2-40B4-BE49-F238E27FC236}">
                <a16:creationId xmlns:a16="http://schemas.microsoft.com/office/drawing/2014/main" id="{F6F424F2-7DE8-42F6-B433-AA7327AB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1C8F3F67-C2A2-4C88-9668-11B08F3C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Setup may fetch; validation closes the airlock</a:t>
            </a:r>
          </a:p>
        </p:txBody>
      </p:sp>
      <p:cxnSp>
        <p:nvCxnSpPr>
          <p:cNvPr id="26" name="header-rule-4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4">
            <a:extLst xmlns:a="http://schemas.openxmlformats.org/drawingml/2006/main">
              <a:ext uri="{FF2B5EF4-FFF2-40B4-BE49-F238E27FC236}">
                <a16:creationId xmlns:a16="http://schemas.microsoft.com/office/drawing/2014/main" id="{F9BABAC7-85DB-437F-AD1B-66AA061A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cxnSp>
        <p:nvCxnSpPr>
          <p:cNvPr id="28" name="airlock-bridge"/>
          <p:cNvCxnSpPr/>
          <p:nvPr/>
        </p:nvCxnSpPr>
        <p:spPr>
          <a:xfrm xmlns:a="http://schemas.openxmlformats.org/drawingml/2006/main">
            <a:off x="4438650" y="3486150"/>
            <a:ext cx="3333750" cy="953"/>
          </a:xfrm>
          <a:prstGeom xmlns:a="http://schemas.openxmlformats.org/drawingml/2006/main" prst="straightConnector1">
            <a:avLst/>
          </a:prstGeom>
          <a:ln xmlns:a="http://schemas.openxmlformats.org/drawingml/2006/main" w="152400">
            <a:solidFill>
              <a:srgbClr val="CBD5E1"/>
            </a:solidFill>
            <a:prstDash val="solid"/>
          </a:ln>
        </p:spPr>
      </p:cxnSp>
      <p:sp>
        <p:nvSpPr>
          <p:cNvPr id="6" name="airlock-arrow">
            <a:extLst xmlns:a="http://schemas.openxmlformats.org/drawingml/2006/main">
              <a:ext uri="{FF2B5EF4-FFF2-40B4-BE49-F238E27FC236}">
                <a16:creationId xmlns:a16="http://schemas.microsoft.com/office/drawing/2014/main" id="{7F6A8592-08AD-4BB4-8331-7E59293A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38500"/>
            <a:ext cx="9144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etup-island">
            <a:extLst xmlns:a="http://schemas.openxmlformats.org/drawingml/2006/main">
              <a:ext uri="{FF2B5EF4-FFF2-40B4-BE49-F238E27FC236}">
                <a16:creationId xmlns:a16="http://schemas.microsoft.com/office/drawing/2014/main" id="{6487F895-B21E-4660-8CC0-24B4EDDB8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6F7FD"/>
          </a:solidFill>
          <a:ln xmlns:a="http://schemas.openxmlformats.org/drawingml/2006/main" w="28575">
            <a:solidFill>
              <a:srgbClr val="38BDF8"/>
            </a:solidFill>
            <a:prstDash val="solid"/>
          </a:ln>
        </p:spPr>
      </p:sp>
      <p:sp>
        <p:nvSpPr>
          <p:cNvPr id="8" name="check-island">
            <a:extLst xmlns:a="http://schemas.openxmlformats.org/drawingml/2006/main">
              <a:ext uri="{FF2B5EF4-FFF2-40B4-BE49-F238E27FC236}">
                <a16:creationId xmlns:a16="http://schemas.microsoft.com/office/drawing/2014/main" id="{6380725A-6868-4C83-B490-E999C48AC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52650"/>
            <a:ext cx="36766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9" name="airlock-door">
            <a:extLst xmlns:a="http://schemas.openxmlformats.org/drawingml/2006/main">
              <a:ext uri="{FF2B5EF4-FFF2-40B4-BE49-F238E27FC236}">
                <a16:creationId xmlns:a16="http://schemas.microsoft.com/office/drawing/2014/main" id="{97F3945D-2AC4-4C27-AAE6-5C4BB927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47900"/>
            <a:ext cx="118110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irlock-lock">
            <a:extLst xmlns:a="http://schemas.openxmlformats.org/drawingml/2006/main">
              <a:ext uri="{FF2B5EF4-FFF2-40B4-BE49-F238E27FC236}">
                <a16:creationId xmlns:a16="http://schemas.microsoft.com/office/drawing/2014/main" id="{6A068D43-0F3F-40D4-9075-ADD085B4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9146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irlock-keyhole">
            <a:extLst xmlns:a="http://schemas.openxmlformats.org/drawingml/2006/main">
              <a:ext uri="{FF2B5EF4-FFF2-40B4-BE49-F238E27FC236}">
                <a16:creationId xmlns:a16="http://schemas.microsoft.com/office/drawing/2014/main" id="{F8A3D4D4-94E5-4976-A86D-2F4A3769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390900"/>
            <a:ext cx="1333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irlock-cross">
            <a:extLst xmlns:a="http://schemas.openxmlformats.org/drawingml/2006/main">
              <a:ext uri="{FF2B5EF4-FFF2-40B4-BE49-F238E27FC236}">
                <a16:creationId xmlns:a16="http://schemas.microsoft.com/office/drawing/2014/main" id="{E620ED9F-92C9-411A-A9EE-3543F4F5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267200"/>
            <a:ext cx="8001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54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×</a:t>
            </a:r>
          </a:p>
        </p:txBody>
      </p:sp>
      <p:sp>
        <p:nvSpPr>
          <p:cNvPr id="13" name="setup-label">
            <a:extLst xmlns:a="http://schemas.openxmlformats.org/drawingml/2006/main">
              <a:ext uri="{FF2B5EF4-FFF2-40B4-BE49-F238E27FC236}">
                <a16:creationId xmlns:a16="http://schemas.microsoft.com/office/drawing/2014/main" id="{1B90450C-ACEB-400C-A3D9-AE28192C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SETUP ZONE</a:t>
            </a:r>
          </a:p>
        </p:txBody>
      </p:sp>
      <p:sp>
        <p:nvSpPr>
          <p:cNvPr id="14" name="setup-title">
            <a:extLst xmlns:a="http://schemas.openxmlformats.org/drawingml/2006/main">
              <a:ext uri="{FF2B5EF4-FFF2-40B4-BE49-F238E27FC236}">
                <a16:creationId xmlns:a16="http://schemas.microsoft.com/office/drawing/2014/main" id="{5B8E1887-B160-43B0-8146-0EAD4892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Reproducible installs</a:t>
            </a:r>
          </a:p>
        </p:txBody>
      </p:sp>
      <p:sp>
        <p:nvSpPr>
          <p:cNvPr id="15" name="setup-command-1">
            <a:extLst xmlns:a="http://schemas.openxmlformats.org/drawingml/2006/main">
              <a:ext uri="{FF2B5EF4-FFF2-40B4-BE49-F238E27FC236}">
                <a16:creationId xmlns:a16="http://schemas.microsoft.com/office/drawing/2014/main" id="{FE928729-A5A9-4523-A3BB-A710E338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48050"/>
            <a:ext cx="2762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uv sync --dev</a:t>
            </a:r>
          </a:p>
        </p:txBody>
      </p:sp>
      <p:sp>
        <p:nvSpPr>
          <p:cNvPr id="16" name="setup-command-2">
            <a:extLst xmlns:a="http://schemas.openxmlformats.org/drawingml/2006/main">
              <a:ext uri="{FF2B5EF4-FFF2-40B4-BE49-F238E27FC236}">
                <a16:creationId xmlns:a16="http://schemas.microsoft.com/office/drawing/2014/main" id="{0F5396A2-6904-47D2-9B26-2799784C5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CI: uv sync --locked</a:t>
            </a:r>
          </a:p>
        </p:txBody>
      </p:sp>
      <p:sp>
        <p:nvSpPr>
          <p:cNvPr id="17" name="setup-command-3">
            <a:extLst xmlns:a="http://schemas.openxmlformats.org/drawingml/2006/main">
              <a:ext uri="{FF2B5EF4-FFF2-40B4-BE49-F238E27FC236}">
                <a16:creationId xmlns:a16="http://schemas.microsoft.com/office/drawing/2014/main" id="{DB1F42E9-6D44-4377-8592-1BFA3D37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2857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npm --prefix tui ci</a:t>
            </a:r>
          </a:p>
        </p:txBody>
      </p:sp>
      <p:sp>
        <p:nvSpPr>
          <p:cNvPr id="18" name="setup-caption">
            <a:extLst xmlns:a="http://schemas.openxmlformats.org/drawingml/2006/main">
              <a:ext uri="{FF2B5EF4-FFF2-40B4-BE49-F238E27FC236}">
                <a16:creationId xmlns:a16="http://schemas.microsoft.com/office/drawing/2014/main" id="{E4454C72-FC53-4CC4-BB60-81FDD4EF4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2857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Network is allowed only to prepare
the locked environment.</a:t>
            </a:r>
          </a:p>
        </p:txBody>
      </p:sp>
      <p:sp>
        <p:nvSpPr>
          <p:cNvPr id="19" name="check-label">
            <a:extLst xmlns:a="http://schemas.openxmlformats.org/drawingml/2006/main">
              <a:ext uri="{FF2B5EF4-FFF2-40B4-BE49-F238E27FC236}">
                <a16:creationId xmlns:a16="http://schemas.microsoft.com/office/drawing/2014/main" id="{B5BBAFB7-5D7E-4B5A-BD55-5D46DFE97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19350"/>
            <a:ext cx="30670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CHECK ZONE</a:t>
            </a:r>
          </a:p>
        </p:txBody>
      </p:sp>
      <p:sp>
        <p:nvSpPr>
          <p:cNvPr id="20" name="check-title">
            <a:extLst xmlns:a="http://schemas.openxmlformats.org/drawingml/2006/main">
              <a:ext uri="{FF2B5EF4-FFF2-40B4-BE49-F238E27FC236}">
                <a16:creationId xmlns:a16="http://schemas.microsoft.com/office/drawing/2014/main" id="{57FDEFAB-AB87-4E47-B10A-5BC31640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876550"/>
            <a:ext cx="3067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Offline guardrails active</a:t>
            </a:r>
          </a:p>
        </p:txBody>
      </p:sp>
      <p:sp>
        <p:nvSpPr>
          <p:cNvPr id="21" name="check-list">
            <a:extLst xmlns:a="http://schemas.openxmlformats.org/drawingml/2006/main">
              <a:ext uri="{FF2B5EF4-FFF2-40B4-BE49-F238E27FC236}">
                <a16:creationId xmlns:a16="http://schemas.microsoft.com/office/drawing/2014/main" id="{3C1CE623-FF29-497C-89C9-378AC14B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33750"/>
            <a:ext cx="2952750" cy="1657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B1F33"/>
                </a:solidFill>
                <a:latin typeface="Consolas"/>
                <a:ea typeface="Consolas"/>
                <a:cs typeface="Consolas"/>
              </a:defRPr>
            </a:pPr>
            <a:r>
              <a:t>secrets + uv selectors unset
network guards active
uv sync --check
uv run --no-sync
offline + frozen
Node range checked</a:t>
            </a:r>
          </a:p>
        </p:txBody>
      </p:sp>
      <p:sp>
        <p:nvSpPr>
          <p:cNvPr id="22" name="airlock-caption">
            <a:extLst xmlns:a="http://schemas.openxmlformats.org/drawingml/2006/main">
              <a:ext uri="{FF2B5EF4-FFF2-40B4-BE49-F238E27FC236}">
                <a16:creationId xmlns:a16="http://schemas.microsoft.com/office/drawing/2014/main" id="{F4715C34-45D4-468F-967D-3B42FB7BF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619750"/>
            <a:ext cx="1333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STATIC GUARD</a:t>
            </a:r>
          </a:p>
        </p:txBody>
      </p:sp>
      <p:sp>
        <p:nvSpPr>
          <p:cNvPr id="23" name="airlock-note">
            <a:extLst xmlns:a="http://schemas.openxmlformats.org/drawingml/2006/main">
              <a:ext uri="{FF2B5EF4-FFF2-40B4-BE49-F238E27FC236}">
                <a16:creationId xmlns:a16="http://schemas.microsoft.com/office/drawing/2014/main" id="{9AFEF94B-B638-43D4-8295-C958EC73E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981700"/>
            <a:ext cx="86106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Process guards + source denylist—not an OS sandbox. External links remain offline.</a:t>
            </a:r>
          </a:p>
        </p:txBody>
      </p:sp>
    </p:spTree>
    <p:extLst>
      <p:ext uri="{BB962C8B-B14F-4D97-AF65-F5344CB8AC3E}">
        <p14:creationId xmlns:p14="http://schemas.microsoft.com/office/powerpoint/2010/main" val="12428867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5">
            <a:extLst xmlns:a="http://schemas.openxmlformats.org/drawingml/2006/main">
              <a:ext uri="{FF2B5EF4-FFF2-40B4-BE49-F238E27FC236}">
                <a16:creationId xmlns:a16="http://schemas.microsoft.com/office/drawing/2014/main" id="{0F26C233-5346-45B4-A22C-7375FD5B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D964EDF8-D1B9-4D7C-B40C-D6A76FF39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seams get first-class seats in the test suite</a:t>
            </a:r>
          </a:p>
        </p:txBody>
      </p:sp>
      <p:cxnSp>
        <p:nvCxnSpPr>
          <p:cNvPr id="32" name="header-rule-5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5">
            <a:extLst xmlns:a="http://schemas.openxmlformats.org/drawingml/2006/main">
              <a:ext uri="{FF2B5EF4-FFF2-40B4-BE49-F238E27FC236}">
                <a16:creationId xmlns:a16="http://schemas.microsoft.com/office/drawing/2014/main" id="{FD3F5A2A-DDB1-4AD8-ADBD-9B8FECAC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cxnSp>
        <p:nvCxnSpPr>
          <p:cNvPr id="34" name="seam-main"/>
          <p:cNvCxnSpPr/>
          <p:nvPr/>
        </p:nvCxnSpPr>
        <p:spPr>
          <a:xfrm xmlns:a="http://schemas.openxmlformats.org/drawingml/2006/main">
            <a:off x="1123950" y="3448050"/>
            <a:ext cx="9906000" cy="953"/>
          </a:xfrm>
          <a:prstGeom xmlns:a="http://schemas.openxmlformats.org/drawingml/2006/main" prst="straightConnector1">
            <a:avLst/>
          </a:prstGeom>
          <a:ln xmlns:a="http://schemas.openxmlformats.org/drawingml/2006/main" w="57150">
            <a:solidFill>
              <a:srgbClr val="0B1F33"/>
            </a:solidFill>
            <a:prstDash val="solid"/>
          </a:ln>
        </p:spPr>
      </p:cxnSp>
      <p:cxnSp>
        <p:nvCxnSpPr>
          <p:cNvPr id="35" name="seam-doc"/>
          <p:cNvCxnSpPr/>
          <p:nvPr/>
        </p:nvCxnSpPr>
        <p:spPr>
          <a:xfrm xmlns:a="http://schemas.openxmlformats.org/drawingml/2006/main">
            <a:off x="24574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cxnSp>
        <p:nvCxnSpPr>
          <p:cNvPr id="36" name="seam-policy"/>
          <p:cNvCxnSpPr/>
          <p:nvPr/>
        </p:nvCxnSpPr>
        <p:spPr>
          <a:xfrm xmlns:a="http://schemas.openxmlformats.org/drawingml/2006/main">
            <a:off x="47053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cxnSp>
        <p:nvCxnSpPr>
          <p:cNvPr id="37" name="seam-fixture"/>
          <p:cNvCxnSpPr/>
          <p:nvPr/>
        </p:nvCxnSpPr>
        <p:spPr>
          <a:xfrm xmlns:a="http://schemas.openxmlformats.org/drawingml/2006/main">
            <a:off x="6953250" y="2457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cxnSp>
        <p:nvCxnSpPr>
          <p:cNvPr id="38" name="seam-integration"/>
          <p:cNvCxnSpPr/>
          <p:nvPr/>
        </p:nvCxnSpPr>
        <p:spPr>
          <a:xfrm xmlns:a="http://schemas.openxmlformats.org/drawingml/2006/main">
            <a:off x="9201150" y="3448050"/>
            <a:ext cx="953" cy="11811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10" name="seam-ring-0">
            <a:extLst xmlns:a="http://schemas.openxmlformats.org/drawingml/2006/main">
              <a:ext uri="{FF2B5EF4-FFF2-40B4-BE49-F238E27FC236}">
                <a16:creationId xmlns:a16="http://schemas.microsoft.com/office/drawing/2014/main" id="{71C75564-55C8-4F0B-B3E0-981328EB0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1" name="seam-box-0">
            <a:extLst xmlns:a="http://schemas.openxmlformats.org/drawingml/2006/main">
              <a:ext uri="{FF2B5EF4-FFF2-40B4-BE49-F238E27FC236}">
                <a16:creationId xmlns:a16="http://schemas.microsoft.com/office/drawing/2014/main" id="{839548C1-18C8-45F7-855B-3AAE2AE9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6B6B"/>
            </a:solidFill>
            <a:prstDash val="solid"/>
          </a:ln>
        </p:spPr>
      </p:sp>
      <p:sp>
        <p:nvSpPr>
          <p:cNvPr id="12" name="seam-heading-0">
            <a:extLst xmlns:a="http://schemas.openxmlformats.org/drawingml/2006/main">
              <a:ext uri="{FF2B5EF4-FFF2-40B4-BE49-F238E27FC236}">
                <a16:creationId xmlns:a16="http://schemas.microsoft.com/office/drawing/2014/main" id="{1ACB93FB-148A-43C9-8C46-1C08ED425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DOC LINKS</a:t>
            </a:r>
          </a:p>
        </p:txBody>
      </p:sp>
      <p:sp>
        <p:nvSpPr>
          <p:cNvPr id="13" name="seam-body-0">
            <a:extLst xmlns:a="http://schemas.openxmlformats.org/drawingml/2006/main">
              <a:ext uri="{FF2B5EF4-FFF2-40B4-BE49-F238E27FC236}">
                <a16:creationId xmlns:a16="http://schemas.microsoft.com/office/drawing/2014/main" id="{5AA5C08B-E975-4F94-A006-3B2CB8F21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targets + headings
must resolve</a:t>
            </a:r>
          </a:p>
        </p:txBody>
      </p:sp>
      <p:sp>
        <p:nvSpPr>
          <p:cNvPr id="14" name="seam-ring-1">
            <a:extLst xmlns:a="http://schemas.openxmlformats.org/drawingml/2006/main">
              <a:ext uri="{FF2B5EF4-FFF2-40B4-BE49-F238E27FC236}">
                <a16:creationId xmlns:a16="http://schemas.microsoft.com/office/drawing/2014/main" id="{58A1043A-B9D1-41BC-99B4-34248ECF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5" name="seam-box-1">
            <a:extLst xmlns:a="http://schemas.openxmlformats.org/drawingml/2006/main">
              <a:ext uri="{FF2B5EF4-FFF2-40B4-BE49-F238E27FC236}">
                <a16:creationId xmlns:a16="http://schemas.microsoft.com/office/drawing/2014/main" id="{CEBC216C-E7A7-4896-8A51-0DCCD987F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6" name="seam-heading-1">
            <a:extLst xmlns:a="http://schemas.openxmlformats.org/drawingml/2006/main">
              <a:ext uri="{FF2B5EF4-FFF2-40B4-BE49-F238E27FC236}">
                <a16:creationId xmlns:a16="http://schemas.microsoft.com/office/drawing/2014/main" id="{B569BFB8-C341-4F9D-9C78-4DDA82AE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LOCK + NETWORK</a:t>
            </a:r>
          </a:p>
        </p:txBody>
      </p:sp>
      <p:sp>
        <p:nvSpPr>
          <p:cNvPr id="17" name="seam-body-1">
            <a:extLst xmlns:a="http://schemas.openxmlformats.org/drawingml/2006/main">
              <a:ext uri="{FF2B5EF4-FFF2-40B4-BE49-F238E27FC236}">
                <a16:creationId xmlns:a16="http://schemas.microsoft.com/office/drawing/2014/main" id="{3CC950DF-8E90-4AA7-81FA-B069B5EB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Full lock graph + source
policy fail synthetically</a:t>
            </a:r>
          </a:p>
        </p:txBody>
      </p:sp>
      <p:sp>
        <p:nvSpPr>
          <p:cNvPr id="18" name="seam-ring-2">
            <a:extLst xmlns:a="http://schemas.openxmlformats.org/drawingml/2006/main">
              <a:ext uri="{FF2B5EF4-FFF2-40B4-BE49-F238E27FC236}">
                <a16:creationId xmlns:a16="http://schemas.microsoft.com/office/drawing/2014/main" id="{6A0680D3-488D-4650-99DA-2C552171A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19" name="seam-box-2">
            <a:extLst xmlns:a="http://schemas.openxmlformats.org/drawingml/2006/main">
              <a:ext uri="{FF2B5EF4-FFF2-40B4-BE49-F238E27FC236}">
                <a16:creationId xmlns:a16="http://schemas.microsoft.com/office/drawing/2014/main" id="{736044D5-68AB-4962-9754-77954FECB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8600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20" name="seam-heading-2">
            <a:extLst xmlns:a="http://schemas.openxmlformats.org/drawingml/2006/main">
              <a:ext uri="{FF2B5EF4-FFF2-40B4-BE49-F238E27FC236}">
                <a16:creationId xmlns:a16="http://schemas.microsoft.com/office/drawing/2014/main" id="{186BA8EC-C488-4BD6-93CE-6286ACAAB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3840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GOLDEN FIXTURES</a:t>
            </a:r>
          </a:p>
        </p:txBody>
      </p:sp>
      <p:sp>
        <p:nvSpPr>
          <p:cNvPr id="21" name="seam-body-2">
            <a:extLst xmlns:a="http://schemas.openxmlformats.org/drawingml/2006/main">
              <a:ext uri="{FF2B5EF4-FFF2-40B4-BE49-F238E27FC236}">
                <a16:creationId xmlns:a16="http://schemas.microsoft.com/office/drawing/2014/main" id="{8D295C20-2DC5-4042-B6EF-AEB4F12E7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4320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 and TypeScript read
the same protocol truth</a:t>
            </a:r>
          </a:p>
        </p:txBody>
      </p:sp>
      <p:sp>
        <p:nvSpPr>
          <p:cNvPr id="22" name="seam-ring-3">
            <a:extLst xmlns:a="http://schemas.openxmlformats.org/drawingml/2006/main">
              <a:ext uri="{FF2B5EF4-FFF2-40B4-BE49-F238E27FC236}">
                <a16:creationId xmlns:a16="http://schemas.microsoft.com/office/drawing/2014/main" id="{576468ED-6794-4D1A-8923-9B6E5743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004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38100">
            <a:solidFill>
              <a:srgbClr val="FFF8ED"/>
            </a:solidFill>
            <a:prstDash val="solid"/>
          </a:ln>
        </p:spPr>
      </p:sp>
      <p:sp>
        <p:nvSpPr>
          <p:cNvPr id="23" name="seam-box-3">
            <a:extLst xmlns:a="http://schemas.openxmlformats.org/drawingml/2006/main">
              <a:ext uri="{FF2B5EF4-FFF2-40B4-BE49-F238E27FC236}">
                <a16:creationId xmlns:a16="http://schemas.microsoft.com/office/drawing/2014/main" id="{D3A208C5-8443-48CA-97DC-0AA3AB58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629150"/>
            <a:ext cx="28575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3FF"/>
          </a:solidFill>
          <a:ln xmlns:a="http://schemas.openxmlformats.org/drawingml/2006/main" w="19050">
            <a:solidFill>
              <a:srgbClr val="22C55E"/>
            </a:solidFill>
            <a:prstDash val="solid"/>
          </a:ln>
        </p:spPr>
      </p:sp>
      <p:sp>
        <p:nvSpPr>
          <p:cNvPr id="24" name="seam-heading-3">
            <a:extLst xmlns:a="http://schemas.openxmlformats.org/drawingml/2006/main">
              <a:ext uri="{FF2B5EF4-FFF2-40B4-BE49-F238E27FC236}">
                <a16:creationId xmlns:a16="http://schemas.microsoft.com/office/drawing/2014/main" id="{39A3253D-79CB-453F-B023-F6F3F977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81550"/>
            <a:ext cx="2400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REAL BOUNDARY</a:t>
            </a:r>
          </a:p>
        </p:txBody>
      </p:sp>
      <p:sp>
        <p:nvSpPr>
          <p:cNvPr id="25" name="seam-body-3">
            <a:extLst xmlns:a="http://schemas.openxmlformats.org/drawingml/2006/main">
              <a:ext uri="{FF2B5EF4-FFF2-40B4-BE49-F238E27FC236}">
                <a16:creationId xmlns:a16="http://schemas.microsoft.com/office/drawing/2014/main" id="{5E76392D-4C8E-4AC8-88CF-F538D997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086350"/>
            <a:ext cx="24003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Node launches Python and
observes real NDJSON</a:t>
            </a:r>
          </a:p>
        </p:txBody>
      </p:sp>
      <p:sp>
        <p:nvSpPr>
          <p:cNvPr id="26" name="seam-python">
            <a:extLst xmlns:a="http://schemas.openxmlformats.org/drawingml/2006/main">
              <a:ext uri="{FF2B5EF4-FFF2-40B4-BE49-F238E27FC236}">
                <a16:creationId xmlns:a16="http://schemas.microsoft.com/office/drawing/2014/main" id="{A9653239-0C46-48D8-AC1C-B78D1E374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19450"/>
            <a:ext cx="114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27" name="seam-tui">
            <a:extLst xmlns:a="http://schemas.openxmlformats.org/drawingml/2006/main">
              <a:ext uri="{FF2B5EF4-FFF2-40B4-BE49-F238E27FC236}">
                <a16:creationId xmlns:a16="http://schemas.microsoft.com/office/drawing/2014/main" id="{181AC79D-4AFA-4301-AB2A-8DA6B838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219450"/>
            <a:ext cx="8001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TUI</a:t>
            </a:r>
          </a:p>
        </p:txBody>
      </p:sp>
      <p:sp>
        <p:nvSpPr>
          <p:cNvPr id="28" name="seam-footer">
            <a:extLst xmlns:a="http://schemas.openxmlformats.org/drawingml/2006/main">
              <a:ext uri="{FF2B5EF4-FFF2-40B4-BE49-F238E27FC236}">
                <a16:creationId xmlns:a16="http://schemas.microsoft.com/office/drawing/2014/main" id="{A0E21A75-8D17-4863-A33F-1BCB55BE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776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eam-footer-text">
            <a:extLst xmlns:a="http://schemas.openxmlformats.org/drawingml/2006/main">
              <a:ext uri="{FF2B5EF4-FFF2-40B4-BE49-F238E27FC236}">
                <a16:creationId xmlns:a16="http://schemas.microsoft.com/office/drawing/2014/main" id="{E6DA395C-4CB3-44C7-A1B5-F610BC01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57900"/>
            <a:ext cx="1070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 walking skeleton fails at boundaries; the gate checks the boundaries on purpose.</a:t>
            </a:r>
          </a:p>
        </p:txBody>
      </p:sp>
    </p:spTree>
    <p:extLst>
      <p:ext uri="{BB962C8B-B14F-4D97-AF65-F5344CB8AC3E}">
        <p14:creationId xmlns:p14="http://schemas.microsoft.com/office/powerpoint/2010/main" val="6677637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6">
            <a:extLst xmlns:a="http://schemas.openxmlformats.org/drawingml/2006/main">
              <a:ext uri="{FF2B5EF4-FFF2-40B4-BE49-F238E27FC236}">
                <a16:creationId xmlns:a16="http://schemas.microsoft.com/office/drawing/2014/main" id="{278606C3-5140-4EDC-8E11-3F4DAC95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4E5696B2-BA85-457C-A37E-A77D4CCF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CI prepares the room, then calls the same conductor</a:t>
            </a:r>
          </a:p>
        </p:txBody>
      </p:sp>
      <p:cxnSp>
        <p:nvCxnSpPr>
          <p:cNvPr id="19" name="header-rule-6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6">
            <a:extLst xmlns:a="http://schemas.openxmlformats.org/drawingml/2006/main">
              <a:ext uri="{FF2B5EF4-FFF2-40B4-BE49-F238E27FC236}">
                <a16:creationId xmlns:a16="http://schemas.microsoft.com/office/drawing/2014/main" id="{EE307751-C9B8-43AA-9ED4-78B569C6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5" name="ci-arrow">
            <a:extLst xmlns:a="http://schemas.openxmlformats.org/drawingml/2006/main">
              <a:ext uri="{FF2B5EF4-FFF2-40B4-BE49-F238E27FC236}">
                <a16:creationId xmlns:a16="http://schemas.microsoft.com/office/drawing/2014/main" id="{6B6547A5-D035-441A-AF9E-882E4FE2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314700"/>
            <a:ext cx="1219200" cy="514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2" name="ci-reflection"/>
          <p:cNvCxnSpPr/>
          <p:nvPr/>
        </p:nvCxnSpPr>
        <p:spPr>
          <a:xfrm xmlns:a="http://schemas.openxmlformats.org/drawingml/2006/main">
            <a:off x="6076950" y="2019300"/>
            <a:ext cx="953" cy="3619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BD5E1"/>
            </a:solidFill>
            <a:prstDash val="solid"/>
          </a:ln>
        </p:spPr>
      </p:cxnSp>
      <p:sp>
        <p:nvSpPr>
          <p:cNvPr id="7" name="ci-setup">
            <a:extLst xmlns:a="http://schemas.openxmlformats.org/drawingml/2006/main">
              <a:ext uri="{FF2B5EF4-FFF2-40B4-BE49-F238E27FC236}">
                <a16:creationId xmlns:a16="http://schemas.microsoft.com/office/drawing/2014/main" id="{A0C7BD2B-CC4C-4FA7-98CC-3BC328661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F1EAFF"/>
          </a:solidFill>
          <a:ln xmlns:a="http://schemas.openxmlformats.org/drawingml/2006/main" w="28575">
            <a:solidFill>
              <a:srgbClr val="8B5CF6"/>
            </a:solidFill>
            <a:prstDash val="solid"/>
          </a:ln>
        </p:spPr>
      </p:sp>
      <p:sp>
        <p:nvSpPr>
          <p:cNvPr id="8" name="ci-command">
            <a:extLst xmlns:a="http://schemas.openxmlformats.org/drawingml/2006/main">
              <a:ext uri="{FF2B5EF4-FFF2-40B4-BE49-F238E27FC236}">
                <a16:creationId xmlns:a16="http://schemas.microsoft.com/office/drawing/2014/main" id="{0ACEAF70-FA5C-4225-B575-D34D14FB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4686300" cy="3467100"/>
          </a:xfrm>
          <a:prstGeom xmlns:a="http://schemas.openxmlformats.org/drawingml/2006/main" prst="roundRect">
            <a:avLst>
              <a:gd name="adj" fmla="val 2198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28575">
            <a:solidFill>
              <a:srgbClr val="22D3EE"/>
            </a:solidFill>
            <a:prstDash val="solid"/>
          </a:ln>
        </p:spPr>
      </p:sp>
      <p:sp>
        <p:nvSpPr>
          <p:cNvPr id="9" name="ci-left-kicker">
            <a:extLst xmlns:a="http://schemas.openxmlformats.org/drawingml/2006/main">
              <a:ext uri="{FF2B5EF4-FFF2-40B4-BE49-F238E27FC236}">
                <a16:creationId xmlns:a16="http://schemas.microsoft.com/office/drawing/2014/main" id="{ADE21992-1791-46EA-8D3F-E07A9760D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43150"/>
            <a:ext cx="4095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GITHUB ACTIONS  •  UBUNTU 24.04</a:t>
            </a:r>
          </a:p>
        </p:txBody>
      </p:sp>
      <p:sp>
        <p:nvSpPr>
          <p:cNvPr id="10" name="ci-left-title">
            <a:extLst xmlns:a="http://schemas.openxmlformats.org/drawingml/2006/main">
              <a:ext uri="{FF2B5EF4-FFF2-40B4-BE49-F238E27FC236}">
                <a16:creationId xmlns:a16="http://schemas.microsoft.com/office/drawing/2014/main" id="{999159A8-ED1C-4E22-8B7E-30558394C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9433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Prepare reproducibly</a:t>
            </a:r>
          </a:p>
        </p:txBody>
      </p:sp>
      <p:sp>
        <p:nvSpPr>
          <p:cNvPr id="11" name="ci-left-list">
            <a:extLst xmlns:a="http://schemas.openxmlformats.org/drawingml/2006/main">
              <a:ext uri="{FF2B5EF4-FFF2-40B4-BE49-F238E27FC236}">
                <a16:creationId xmlns:a16="http://schemas.microsoft.com/office/drawing/2014/main" id="{24C55C1A-4C5F-4348-9B18-29BA5AAC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3829050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contents: read
immutable action SHAs
.python-version + .node-version
uv sync --locked
npm ci
15-minute timeout</a:t>
            </a:r>
          </a:p>
        </p:txBody>
      </p:sp>
      <p:sp>
        <p:nvSpPr>
          <p:cNvPr id="12" name="ci-right-kicker">
            <a:extLst xmlns:a="http://schemas.openxmlformats.org/drawingml/2006/main">
              <a:ext uri="{FF2B5EF4-FFF2-40B4-BE49-F238E27FC236}">
                <a16:creationId xmlns:a16="http://schemas.microsoft.com/office/drawing/2014/main" id="{37E486E6-1B4D-43CA-ADCB-17CCFBCD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43150"/>
            <a:ext cx="40767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THE ONLY VALIDATION INVOCATION</a:t>
            </a:r>
          </a:p>
        </p:txBody>
      </p:sp>
      <p:sp>
        <p:nvSpPr>
          <p:cNvPr id="13" name="ci-right-command">
            <a:extLst xmlns:a="http://schemas.openxmlformats.org/drawingml/2006/main">
              <a:ext uri="{FF2B5EF4-FFF2-40B4-BE49-F238E27FC236}">
                <a16:creationId xmlns:a16="http://schemas.microsoft.com/office/drawing/2014/main" id="{AC1CFE81-3BD7-4CCA-A750-BB123EC3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05150"/>
            <a:ext cx="4076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625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./scripts/check</a:t>
            </a:r>
          </a:p>
        </p:txBody>
      </p:sp>
      <p:cxnSp>
        <p:nvCxnSpPr>
          <p:cNvPr id="30" name="ci-command-rule"/>
          <p:cNvCxnSpPr/>
          <p:nvPr/>
        </p:nvCxnSpPr>
        <p:spPr>
          <a:xfrm xmlns:a="http://schemas.openxmlformats.org/drawingml/2006/main">
            <a:off x="7715250" y="4057650"/>
            <a:ext cx="33528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9445F"/>
            </a:solidFill>
            <a:prstDash val="solid"/>
          </a:ln>
        </p:spPr>
      </p:cxnSp>
      <p:sp>
        <p:nvSpPr>
          <p:cNvPr id="15" name="ci-right-caption">
            <a:extLst xmlns:a="http://schemas.openxmlformats.org/drawingml/2006/main">
              <a:ext uri="{FF2B5EF4-FFF2-40B4-BE49-F238E27FC236}">
                <a16:creationId xmlns:a16="http://schemas.microsoft.com/office/drawing/2014/main" id="{87402B3A-EDE8-4519-AEA8-DE1CBB937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36957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No duplicated lint list.
No local-versus-CI remix.</a:t>
            </a:r>
          </a:p>
        </p:txBody>
      </p:sp>
      <p:sp>
        <p:nvSpPr>
          <p:cNvPr id="16" name="ci-footer">
            <a:extLst xmlns:a="http://schemas.openxmlformats.org/drawingml/2006/main">
              <a:ext uri="{FF2B5EF4-FFF2-40B4-BE49-F238E27FC236}">
                <a16:creationId xmlns:a16="http://schemas.microsoft.com/office/drawing/2014/main" id="{C6C597C2-9F7C-49BD-BA9F-6BBEE961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62650"/>
            <a:ext cx="9906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Local and CI can differ in setup. They must not differ in what “green” means.</a:t>
            </a:r>
          </a:p>
        </p:txBody>
      </p:sp>
    </p:spTree>
    <p:extLst>
      <p:ext uri="{BB962C8B-B14F-4D97-AF65-F5344CB8AC3E}">
        <p14:creationId xmlns:p14="http://schemas.microsoft.com/office/powerpoint/2010/main" val="9048083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7">
            <a:extLst xmlns:a="http://schemas.openxmlformats.org/drawingml/2006/main">
              <a:ext uri="{FF2B5EF4-FFF2-40B4-BE49-F238E27FC236}">
                <a16:creationId xmlns:a16="http://schemas.microsoft.com/office/drawing/2014/main" id="{09CDB642-97E2-4CFE-8246-7195E15D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68A35B2E-FAA6-42EC-9167-2C58603F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Break one layer on purpose; watch the label catch it</a:t>
            </a:r>
          </a:p>
        </p:txBody>
      </p:sp>
      <p:cxnSp>
        <p:nvCxnSpPr>
          <p:cNvPr id="38" name="header-rule-7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7">
            <a:extLst xmlns:a="http://schemas.openxmlformats.org/drawingml/2006/main">
              <a:ext uri="{FF2B5EF4-FFF2-40B4-BE49-F238E27FC236}">
                <a16:creationId xmlns:a16="http://schemas.microsoft.com/office/drawing/2014/main" id="{2664DB54-6D45-4D5C-BF23-36D79EA2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cxnSp>
        <p:nvCxnSpPr>
          <p:cNvPr id="40" name="lab-fuse-0"/>
          <p:cNvCxnSpPr/>
          <p:nvPr/>
        </p:nvCxnSpPr>
        <p:spPr>
          <a:xfrm xmlns:a="http://schemas.openxmlformats.org/drawingml/2006/main">
            <a:off x="16573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6B6B"/>
            </a:solidFill>
            <a:prstDash val="solid"/>
          </a:ln>
        </p:spPr>
      </p:cxnSp>
      <p:sp>
        <p:nvSpPr>
          <p:cNvPr id="6" name="lab-bulb-0">
            <a:extLst xmlns:a="http://schemas.openxmlformats.org/drawingml/2006/main">
              <a:ext uri="{FF2B5EF4-FFF2-40B4-BE49-F238E27FC236}">
                <a16:creationId xmlns:a16="http://schemas.microsoft.com/office/drawing/2014/main" id="{2411ABBE-DBF3-4357-B36C-FE881A5F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b-flag-0">
            <a:extLst xmlns:a="http://schemas.openxmlformats.org/drawingml/2006/main">
              <a:ext uri="{FF2B5EF4-FFF2-40B4-BE49-F238E27FC236}">
                <a16:creationId xmlns:a16="http://schemas.microsoft.com/office/drawing/2014/main" id="{57AEBF9B-6014-48E8-90E3-9E3D6027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8" name="lab-icon-0">
            <a:extLst xmlns:a="http://schemas.openxmlformats.org/drawingml/2006/main">
              <a:ext uri="{FF2B5EF4-FFF2-40B4-BE49-F238E27FC236}">
                <a16:creationId xmlns:a16="http://schemas.microsoft.com/office/drawing/2014/main" id="{1A6610FD-58F4-4B29-854F-E8C5487C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PY</a:t>
            </a:r>
          </a:p>
        </p:txBody>
      </p:sp>
      <p:sp>
        <p:nvSpPr>
          <p:cNvPr id="9" name="lab-heading-0">
            <a:extLst xmlns:a="http://schemas.openxmlformats.org/drawingml/2006/main">
              <a:ext uri="{FF2B5EF4-FFF2-40B4-BE49-F238E27FC236}">
                <a16:creationId xmlns:a16="http://schemas.microsoft.com/office/drawing/2014/main" id="{D97DE98B-0A19-4C57-803C-D0CC2C6C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Python</a:t>
            </a:r>
          </a:p>
        </p:txBody>
      </p:sp>
      <p:sp>
        <p:nvSpPr>
          <p:cNvPr id="10" name="lab-failure-0">
            <a:extLst xmlns:a="http://schemas.openxmlformats.org/drawingml/2006/main">
              <a:ext uri="{FF2B5EF4-FFF2-40B4-BE49-F238E27FC236}">
                <a16:creationId xmlns:a16="http://schemas.microsoft.com/office/drawing/2014/main" id="{31B212D9-60AD-46E2-B9E7-BA954C2D7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bad format / failing test</a:t>
            </a:r>
          </a:p>
        </p:txBody>
      </p:sp>
      <p:sp>
        <p:nvSpPr>
          <p:cNvPr id="11" name="lab-stop-0">
            <a:extLst xmlns:a="http://schemas.openxmlformats.org/drawingml/2006/main">
              <a:ext uri="{FF2B5EF4-FFF2-40B4-BE49-F238E27FC236}">
                <a16:creationId xmlns:a16="http://schemas.microsoft.com/office/drawing/2014/main" id="{BA8300C0-2512-4BAB-8F07-C864761AE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47" name="lab-fuse-1"/>
          <p:cNvCxnSpPr/>
          <p:nvPr/>
        </p:nvCxnSpPr>
        <p:spPr>
          <a:xfrm xmlns:a="http://schemas.openxmlformats.org/drawingml/2006/main">
            <a:off x="44196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8B5CF6"/>
            </a:solidFill>
            <a:prstDash val="solid"/>
          </a:ln>
        </p:spPr>
      </p:cxnSp>
      <p:sp>
        <p:nvSpPr>
          <p:cNvPr id="13" name="lab-bulb-1">
            <a:extLst xmlns:a="http://schemas.openxmlformats.org/drawingml/2006/main">
              <a:ext uri="{FF2B5EF4-FFF2-40B4-BE49-F238E27FC236}">
                <a16:creationId xmlns:a16="http://schemas.microsoft.com/office/drawing/2014/main" id="{85031734-8AFE-4883-9AFD-33DE566D7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lab-flag-1">
            <a:extLst xmlns:a="http://schemas.openxmlformats.org/drawingml/2006/main">
              <a:ext uri="{FF2B5EF4-FFF2-40B4-BE49-F238E27FC236}">
                <a16:creationId xmlns:a16="http://schemas.microsoft.com/office/drawing/2014/main" id="{BC8A423A-1535-4134-AF92-4E2BB26C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15" name="lab-icon-1">
            <a:extLst xmlns:a="http://schemas.openxmlformats.org/drawingml/2006/main">
              <a:ext uri="{FF2B5EF4-FFF2-40B4-BE49-F238E27FC236}">
                <a16:creationId xmlns:a16="http://schemas.microsoft.com/office/drawing/2014/main" id="{8DD01D1F-A41F-4F35-B089-0D0BAA41B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TS</a:t>
            </a:r>
          </a:p>
        </p:txBody>
      </p:sp>
      <p:sp>
        <p:nvSpPr>
          <p:cNvPr id="16" name="lab-heading-1">
            <a:extLst xmlns:a="http://schemas.openxmlformats.org/drawingml/2006/main">
              <a:ext uri="{FF2B5EF4-FFF2-40B4-BE49-F238E27FC236}">
                <a16:creationId xmlns:a16="http://schemas.microsoft.com/office/drawing/2014/main" id="{41CEE8E3-3180-4FA1-BD4B-9F645FA19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TypeScript</a:t>
            </a:r>
          </a:p>
        </p:txBody>
      </p:sp>
      <p:sp>
        <p:nvSpPr>
          <p:cNvPr id="17" name="lab-failure-1">
            <a:extLst xmlns:a="http://schemas.openxmlformats.org/drawingml/2006/main">
              <a:ext uri="{FF2B5EF4-FFF2-40B4-BE49-F238E27FC236}">
                <a16:creationId xmlns:a16="http://schemas.microsoft.com/office/drawing/2014/main" id="{A690F62A-51E2-4808-9CEA-4E86BB11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type or lint error</a:t>
            </a:r>
          </a:p>
        </p:txBody>
      </p:sp>
      <p:sp>
        <p:nvSpPr>
          <p:cNvPr id="18" name="lab-stop-1">
            <a:extLst xmlns:a="http://schemas.openxmlformats.org/drawingml/2006/main">
              <a:ext uri="{FF2B5EF4-FFF2-40B4-BE49-F238E27FC236}">
                <a16:creationId xmlns:a16="http://schemas.microsoft.com/office/drawing/2014/main" id="{465E1A24-A5E9-4B93-BF0F-8F17E446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54" name="lab-fuse-2"/>
          <p:cNvCxnSpPr/>
          <p:nvPr/>
        </p:nvCxnSpPr>
        <p:spPr>
          <a:xfrm xmlns:a="http://schemas.openxmlformats.org/drawingml/2006/main">
            <a:off x="718185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FFD166"/>
            </a:solidFill>
            <a:prstDash val="solid"/>
          </a:ln>
        </p:spPr>
      </p:cxnSp>
      <p:sp>
        <p:nvSpPr>
          <p:cNvPr id="20" name="lab-bulb-2">
            <a:extLst xmlns:a="http://schemas.openxmlformats.org/drawingml/2006/main">
              <a:ext uri="{FF2B5EF4-FFF2-40B4-BE49-F238E27FC236}">
                <a16:creationId xmlns:a16="http://schemas.microsoft.com/office/drawing/2014/main" id="{B5513251-7AF6-486C-BE88-D88FB44E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lab-flag-2">
            <a:extLst xmlns:a="http://schemas.openxmlformats.org/drawingml/2006/main">
              <a:ext uri="{FF2B5EF4-FFF2-40B4-BE49-F238E27FC236}">
                <a16:creationId xmlns:a16="http://schemas.microsoft.com/office/drawing/2014/main" id="{CEEFFC62-A1BC-47D6-AE83-5B307CDCC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2" name="lab-icon-2">
            <a:extLst xmlns:a="http://schemas.openxmlformats.org/drawingml/2006/main">
              <a:ext uri="{FF2B5EF4-FFF2-40B4-BE49-F238E27FC236}">
                <a16:creationId xmlns:a16="http://schemas.microsoft.com/office/drawing/2014/main" id="{D632D152-88E8-4693-8E58-D354A6449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{}</a:t>
            </a:r>
          </a:p>
        </p:txBody>
      </p:sp>
      <p:sp>
        <p:nvSpPr>
          <p:cNvPr id="23" name="lab-heading-2">
            <a:extLst xmlns:a="http://schemas.openxmlformats.org/drawingml/2006/main">
              <a:ext uri="{FF2B5EF4-FFF2-40B4-BE49-F238E27FC236}">
                <a16:creationId xmlns:a16="http://schemas.microsoft.com/office/drawing/2014/main" id="{F56A76B6-461B-4BF4-AE34-24106673F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Protocol fixture</a:t>
            </a:r>
          </a:p>
        </p:txBody>
      </p:sp>
      <p:sp>
        <p:nvSpPr>
          <p:cNvPr id="24" name="lab-failure-2">
            <a:extLst xmlns:a="http://schemas.openxmlformats.org/drawingml/2006/main">
              <a:ext uri="{FF2B5EF4-FFF2-40B4-BE49-F238E27FC236}">
                <a16:creationId xmlns:a16="http://schemas.microsoft.com/office/drawing/2014/main" id="{09DC6094-80D6-43A1-873D-C93971E9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cross-language mismatch</a:t>
            </a:r>
          </a:p>
        </p:txBody>
      </p:sp>
      <p:sp>
        <p:nvSpPr>
          <p:cNvPr id="25" name="lab-stop-2">
            <a:extLst xmlns:a="http://schemas.openxmlformats.org/drawingml/2006/main">
              <a:ext uri="{FF2B5EF4-FFF2-40B4-BE49-F238E27FC236}">
                <a16:creationId xmlns:a16="http://schemas.microsoft.com/office/drawing/2014/main" id="{9C7F3928-2F7F-45FA-A85E-D77C255D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cxnSp>
        <p:nvCxnSpPr>
          <p:cNvPr id="61" name="lab-fuse-3"/>
          <p:cNvCxnSpPr/>
          <p:nvPr/>
        </p:nvCxnSpPr>
        <p:spPr>
          <a:xfrm xmlns:a="http://schemas.openxmlformats.org/drawingml/2006/main">
            <a:off x="9944100" y="2857500"/>
            <a:ext cx="953" cy="1905000"/>
          </a:xfrm>
          <a:prstGeom xmlns:a="http://schemas.openxmlformats.org/drawingml/2006/main" prst="straightConnector1">
            <a:avLst/>
          </a:prstGeom>
          <a:ln xmlns:a="http://schemas.openxmlformats.org/drawingml/2006/main" w="47625">
            <a:solidFill>
              <a:srgbClr val="22C55E"/>
            </a:solidFill>
            <a:prstDash val="solid"/>
          </a:ln>
        </p:spPr>
      </p:cxnSp>
      <p:sp>
        <p:nvSpPr>
          <p:cNvPr id="27" name="lab-bulb-3">
            <a:extLst xmlns:a="http://schemas.openxmlformats.org/drawingml/2006/main">
              <a:ext uri="{FF2B5EF4-FFF2-40B4-BE49-F238E27FC236}">
                <a16:creationId xmlns:a16="http://schemas.microsoft.com/office/drawing/2014/main" id="{3B2E4F49-FD28-498E-AEAD-42CDFA0D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133600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ab-flag-3">
            <a:extLst xmlns:a="http://schemas.openxmlformats.org/drawingml/2006/main">
              <a:ext uri="{FF2B5EF4-FFF2-40B4-BE49-F238E27FC236}">
                <a16:creationId xmlns:a16="http://schemas.microsoft.com/office/drawing/2014/main" id="{779C9628-8022-4758-94F4-7918584CF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95800"/>
            <a:ext cx="17145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9050">
            <a:solidFill>
              <a:srgbClr val="EF4444"/>
            </a:solidFill>
            <a:prstDash val="solid"/>
          </a:ln>
        </p:spPr>
      </p:sp>
      <p:sp>
        <p:nvSpPr>
          <p:cNvPr id="29" name="lab-icon-3">
            <a:extLst xmlns:a="http://schemas.openxmlformats.org/drawingml/2006/main">
              <a:ext uri="{FF2B5EF4-FFF2-40B4-BE49-F238E27FC236}">
                <a16:creationId xmlns:a16="http://schemas.microsoft.com/office/drawing/2014/main" id="{79D9517E-3437-4C6D-B80D-9B73BC88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33625"/>
            <a:ext cx="57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↔</a:t>
            </a:r>
          </a:p>
        </p:txBody>
      </p:sp>
      <p:sp>
        <p:nvSpPr>
          <p:cNvPr id="30" name="lab-heading-3">
            <a:extLst xmlns:a="http://schemas.openxmlformats.org/drawingml/2006/main">
              <a:ext uri="{FF2B5EF4-FFF2-40B4-BE49-F238E27FC236}">
                <a16:creationId xmlns:a16="http://schemas.microsoft.com/office/drawing/2014/main" id="{44B4D6A6-67E5-4E35-AAE4-94806308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181350"/>
            <a:ext cx="24003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Integration</a:t>
            </a:r>
          </a:p>
        </p:txBody>
      </p:sp>
      <p:sp>
        <p:nvSpPr>
          <p:cNvPr id="31" name="lab-failure-3">
            <a:extLst xmlns:a="http://schemas.openxmlformats.org/drawingml/2006/main">
              <a:ext uri="{FF2B5EF4-FFF2-40B4-BE49-F238E27FC236}">
                <a16:creationId xmlns:a16="http://schemas.microsoft.com/office/drawing/2014/main" id="{BA378E5D-4BA4-4E8B-B823-108CDB6E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695700"/>
            <a:ext cx="24003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Node↔Python tape breaks</a:t>
            </a:r>
          </a:p>
        </p:txBody>
      </p:sp>
      <p:sp>
        <p:nvSpPr>
          <p:cNvPr id="32" name="lab-stop-3">
            <a:extLst xmlns:a="http://schemas.openxmlformats.org/drawingml/2006/main">
              <a:ext uri="{FF2B5EF4-FFF2-40B4-BE49-F238E27FC236}">
                <a16:creationId xmlns:a16="http://schemas.microsoft.com/office/drawing/2014/main" id="{1F94556B-7347-4007-9DA1-645E09F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667250"/>
            <a:ext cx="1409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F4444"/>
                </a:solidFill>
                <a:latin typeface="Aptos"/>
                <a:ea typeface="Aptos"/>
                <a:cs typeface="Aptos"/>
              </a:defRPr>
            </a:pPr>
            <a:r>
              <a:t>STOP HERE</a:t>
            </a:r>
          </a:p>
        </p:txBody>
      </p:sp>
      <p:sp>
        <p:nvSpPr>
          <p:cNvPr id="33" name="lab-command">
            <a:extLst xmlns:a="http://schemas.openxmlformats.org/drawingml/2006/main">
              <a:ext uri="{FF2B5EF4-FFF2-40B4-BE49-F238E27FC236}">
                <a16:creationId xmlns:a16="http://schemas.microsoft.com/office/drawing/2014/main" id="{85E7061D-A202-465C-A484-19B26D0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81650"/>
            <a:ext cx="91821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lab-command-text">
            <a:extLst xmlns:a="http://schemas.openxmlformats.org/drawingml/2006/main">
              <a:ext uri="{FF2B5EF4-FFF2-40B4-BE49-F238E27FC236}">
                <a16:creationId xmlns:a16="http://schemas.microsoft.com/office/drawing/2014/main" id="{7755AF30-4C7C-4022-9F53-F607D413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753100"/>
            <a:ext cx="8648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read the last  ==&gt;  label  •  fix that layer  •  rerun the same command</a:t>
            </a:r>
          </a:p>
        </p:txBody>
      </p:sp>
      <p:sp>
        <p:nvSpPr>
          <p:cNvPr id="35" name="lab-note">
            <a:extLst xmlns:a="http://schemas.openxmlformats.org/drawingml/2006/main">
              <a:ext uri="{FF2B5EF4-FFF2-40B4-BE49-F238E27FC236}">
                <a16:creationId xmlns:a16="http://schemas.microsoft.com/office/drawing/2014/main" id="{087FF9AC-262D-4C46-862D-99AA15BD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305550"/>
            <a:ext cx="647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The script itself has a deterministic fail-fast regression suite.</a:t>
            </a:r>
          </a:p>
        </p:txBody>
      </p:sp>
    </p:spTree>
    <p:extLst>
      <p:ext uri="{BB962C8B-B14F-4D97-AF65-F5344CB8AC3E}">
        <p14:creationId xmlns:p14="http://schemas.microsoft.com/office/powerpoint/2010/main" val="5182520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8">
            <a:extLst xmlns:a="http://schemas.openxmlformats.org/drawingml/2006/main">
              <a:ext uri="{FF2B5EF4-FFF2-40B4-BE49-F238E27FC236}">
                <a16:creationId xmlns:a16="http://schemas.microsoft.com/office/drawing/2014/main" id="{F5C22F35-9933-4A5C-939A-12828C240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63EF820B-3124-42B1-A46A-378EC081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The local gate is a contract—not an entire platform</a:t>
            </a:r>
          </a:p>
        </p:txBody>
      </p:sp>
      <p:cxnSp>
        <p:nvCxnSpPr>
          <p:cNvPr id="27" name="header-rule-8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8">
            <a:extLst xmlns:a="http://schemas.openxmlformats.org/drawingml/2006/main">
              <a:ext uri="{FF2B5EF4-FFF2-40B4-BE49-F238E27FC236}">
                <a16:creationId xmlns:a16="http://schemas.microsoft.com/office/drawing/2014/main" id="{68EAA4A3-450E-4DEB-B5E4-8C9CB457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  <p:cxnSp>
        <p:nvCxnSpPr>
          <p:cNvPr id="29" name="prod-stair-1"/>
          <p:cNvCxnSpPr/>
          <p:nvPr/>
        </p:nvCxnSpPr>
        <p:spPr>
          <a:xfrm xmlns:a="http://schemas.openxmlformats.org/drawingml/2006/main">
            <a:off x="819150" y="53530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38BDF8"/>
            </a:solidFill>
            <a:prstDash val="solid"/>
          </a:ln>
        </p:spPr>
      </p:cxnSp>
      <p:cxnSp>
        <p:nvCxnSpPr>
          <p:cNvPr id="30" name="prod-stair-2"/>
          <p:cNvCxnSpPr/>
          <p:nvPr/>
        </p:nvCxnSpPr>
        <p:spPr>
          <a:xfrm xmlns:a="http://schemas.openxmlformats.org/drawingml/2006/main">
            <a:off x="3295650" y="43624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1" name="prod-stair-3"/>
          <p:cNvCxnSpPr/>
          <p:nvPr/>
        </p:nvCxnSpPr>
        <p:spPr>
          <a:xfrm xmlns:a="http://schemas.openxmlformats.org/drawingml/2006/main">
            <a:off x="3295650" y="43624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8B5CF6"/>
            </a:solidFill>
            <a:prstDash val="solid"/>
          </a:ln>
        </p:spPr>
      </p:cxnSp>
      <p:cxnSp>
        <p:nvCxnSpPr>
          <p:cNvPr id="32" name="prod-stair-4"/>
          <p:cNvCxnSpPr/>
          <p:nvPr/>
        </p:nvCxnSpPr>
        <p:spPr>
          <a:xfrm xmlns:a="http://schemas.openxmlformats.org/drawingml/2006/main">
            <a:off x="5772150" y="33718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3" name="prod-stair-5"/>
          <p:cNvCxnSpPr/>
          <p:nvPr/>
        </p:nvCxnSpPr>
        <p:spPr>
          <a:xfrm xmlns:a="http://schemas.openxmlformats.org/drawingml/2006/main">
            <a:off x="5772150" y="3371850"/>
            <a:ext cx="24765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FF6B6B"/>
            </a:solidFill>
            <a:prstDash val="solid"/>
          </a:ln>
        </p:spPr>
      </p:cxnSp>
      <p:cxnSp>
        <p:nvCxnSpPr>
          <p:cNvPr id="34" name="prod-stair-6"/>
          <p:cNvCxnSpPr/>
          <p:nvPr/>
        </p:nvCxnSpPr>
        <p:spPr>
          <a:xfrm xmlns:a="http://schemas.openxmlformats.org/drawingml/2006/main">
            <a:off x="8248650" y="2381250"/>
            <a:ext cx="953" cy="990600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cxnSp>
        <p:nvCxnSpPr>
          <p:cNvPr id="35" name="prod-stair-7"/>
          <p:cNvCxnSpPr/>
          <p:nvPr/>
        </p:nvCxnSpPr>
        <p:spPr>
          <a:xfrm xmlns:a="http://schemas.openxmlformats.org/drawingml/2006/main">
            <a:off x="8248650" y="2381250"/>
            <a:ext cx="30480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22C55E"/>
            </a:solidFill>
            <a:prstDash val="solid"/>
          </a:ln>
        </p:spPr>
      </p:cxnSp>
      <p:sp>
        <p:nvSpPr>
          <p:cNvPr id="12" name="prod-local-dot">
            <a:extLst xmlns:a="http://schemas.openxmlformats.org/drawingml/2006/main">
              <a:ext uri="{FF2B5EF4-FFF2-40B4-BE49-F238E27FC236}">
                <a16:creationId xmlns:a16="http://schemas.microsoft.com/office/drawing/2014/main" id="{21D622BE-E0C9-416D-A55F-A0F5A9F9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rod-ci-dot">
            <a:extLst xmlns:a="http://schemas.openxmlformats.org/drawingml/2006/main">
              <a:ext uri="{FF2B5EF4-FFF2-40B4-BE49-F238E27FC236}">
                <a16:creationId xmlns:a16="http://schemas.microsoft.com/office/drawing/2014/main" id="{FF968E55-914A-467F-99CF-08FD8E94D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529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rod-scale-dot">
            <a:extLst xmlns:a="http://schemas.openxmlformats.org/drawingml/2006/main">
              <a:ext uri="{FF2B5EF4-FFF2-40B4-BE49-F238E27FC236}">
                <a16:creationId xmlns:a16="http://schemas.microsoft.com/office/drawing/2014/main" id="{62D84512-8A2E-4C5B-BAE0-28FBE8E85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1623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6B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d-enterprise-dot">
            <a:extLst xmlns:a="http://schemas.openxmlformats.org/drawingml/2006/main">
              <a:ext uri="{FF2B5EF4-FFF2-40B4-BE49-F238E27FC236}">
                <a16:creationId xmlns:a16="http://schemas.microsoft.com/office/drawing/2014/main" id="{F18AF40D-7E58-4A9B-B49F-5FD2F9B5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71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d-local-title">
            <a:extLst xmlns:a="http://schemas.openxmlformats.org/drawingml/2006/main">
              <a:ext uri="{FF2B5EF4-FFF2-40B4-BE49-F238E27FC236}">
                <a16:creationId xmlns:a16="http://schemas.microsoft.com/office/drawing/2014/main" id="{EB4BEC01-83C6-43B5-9122-32B219FC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8595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8BDF8"/>
                </a:solidFill>
                <a:latin typeface="Aptos"/>
                <a:ea typeface="Aptos"/>
                <a:cs typeface="Aptos"/>
              </a:defRPr>
            </a:pPr>
            <a:r>
              <a:t>NOW</a:t>
            </a:r>
          </a:p>
        </p:txBody>
      </p:sp>
      <p:sp>
        <p:nvSpPr>
          <p:cNvPr id="17" name="prod-local-body">
            <a:extLst xmlns:a="http://schemas.openxmlformats.org/drawingml/2006/main">
              <a:ext uri="{FF2B5EF4-FFF2-40B4-BE49-F238E27FC236}">
                <a16:creationId xmlns:a16="http://schemas.microsoft.com/office/drawing/2014/main" id="{F2C738DF-26D1-4F04-9788-DC84FE1B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21336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955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offline script
lockfiles + pins
runtime API + source guard</a:t>
            </a:r>
          </a:p>
        </p:txBody>
      </p:sp>
      <p:sp>
        <p:nvSpPr>
          <p:cNvPr id="18" name="prod-ci-title">
            <a:extLst xmlns:a="http://schemas.openxmlformats.org/drawingml/2006/main">
              <a:ext uri="{FF2B5EF4-FFF2-40B4-BE49-F238E27FC236}">
                <a16:creationId xmlns:a16="http://schemas.microsoft.com/office/drawing/2014/main" id="{6A1FBB77-A85C-47AB-9EDA-FEC0E4E45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70535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TEAM GATE</a:t>
            </a:r>
          </a:p>
        </p:txBody>
      </p:sp>
      <p:sp>
        <p:nvSpPr>
          <p:cNvPr id="19" name="prod-ci-body">
            <a:extLst xmlns:a="http://schemas.openxmlformats.org/drawingml/2006/main">
              <a:ext uri="{FF2B5EF4-FFF2-40B4-BE49-F238E27FC236}">
                <a16:creationId xmlns:a16="http://schemas.microsoft.com/office/drawing/2014/main" id="{6AF17FE8-AE3D-47C6-A3E3-73B9A7206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48250"/>
            <a:ext cx="22860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required PR check
branch protection
ownership + SLAs</a:t>
            </a:r>
          </a:p>
        </p:txBody>
      </p:sp>
      <p:sp>
        <p:nvSpPr>
          <p:cNvPr id="20" name="prod-scale-title">
            <a:extLst xmlns:a="http://schemas.openxmlformats.org/drawingml/2006/main">
              <a:ext uri="{FF2B5EF4-FFF2-40B4-BE49-F238E27FC236}">
                <a16:creationId xmlns:a16="http://schemas.microsoft.com/office/drawing/2014/main" id="{BCE32D1F-7AD4-4BCA-B456-0208FFEB2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1475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SCALE</a:t>
            </a:r>
          </a:p>
        </p:txBody>
      </p:sp>
      <p:sp>
        <p:nvSpPr>
          <p:cNvPr id="21" name="prod-scale-body">
            <a:extLst xmlns:a="http://schemas.openxmlformats.org/drawingml/2006/main">
              <a:ext uri="{FF2B5EF4-FFF2-40B4-BE49-F238E27FC236}">
                <a16:creationId xmlns:a16="http://schemas.microsoft.com/office/drawing/2014/main" id="{44497F6A-11B6-45F7-9E06-9886723F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576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pre-commit
Renovate
CodeQL</a:t>
            </a:r>
          </a:p>
        </p:txBody>
      </p:sp>
      <p:sp>
        <p:nvSpPr>
          <p:cNvPr id="22" name="prod-enterprise-title">
            <a:extLst xmlns:a="http://schemas.openxmlformats.org/drawingml/2006/main">
              <a:ext uri="{FF2B5EF4-FFF2-40B4-BE49-F238E27FC236}">
                <a16:creationId xmlns:a16="http://schemas.microsoft.com/office/drawing/2014/main" id="{EDB9EDBE-877C-46AE-8996-CD6F34E0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743200"/>
            <a:ext cx="27241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MATURE PLATFORM</a:t>
            </a:r>
          </a:p>
        </p:txBody>
      </p:sp>
      <p:sp>
        <p:nvSpPr>
          <p:cNvPr id="23" name="prod-enterprise-body">
            <a:extLst xmlns:a="http://schemas.openxmlformats.org/drawingml/2006/main">
              <a:ext uri="{FF2B5EF4-FFF2-40B4-BE49-F238E27FC236}">
                <a16:creationId xmlns:a16="http://schemas.microsoft.com/office/drawing/2014/main" id="{B53F5AF0-AE2B-4580-9FB2-8F48E6C7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162300"/>
            <a:ext cx="272415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policy exceptions
parallel shards
provenance + attestations
OpenSSF Scorecard</a:t>
            </a:r>
          </a:p>
        </p:txBody>
      </p:sp>
      <p:sp>
        <p:nvSpPr>
          <p:cNvPr id="24" name="prod-signal">
            <a:extLst xmlns:a="http://schemas.openxmlformats.org/drawingml/2006/main">
              <a:ext uri="{FF2B5EF4-FFF2-40B4-BE49-F238E27FC236}">
                <a16:creationId xmlns:a16="http://schemas.microsoft.com/office/drawing/2014/main" id="{A994A405-CE39-44D3-84C9-29F7AF183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29350"/>
            <a:ext cx="105156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Graduate when feedback time, supply-chain risk, or team coordination outgrows one linear gate.</a:t>
            </a:r>
          </a:p>
        </p:txBody>
      </p:sp>
    </p:spTree>
    <p:extLst>
      <p:ext uri="{BB962C8B-B14F-4D97-AF65-F5344CB8AC3E}">
        <p14:creationId xmlns:p14="http://schemas.microsoft.com/office/powerpoint/2010/main" val="46934665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8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-9">
            <a:extLst xmlns:a="http://schemas.openxmlformats.org/drawingml/2006/main">
              <a:ext uri="{FF2B5EF4-FFF2-40B4-BE49-F238E27FC236}">
                <a16:creationId xmlns:a16="http://schemas.microsoft.com/office/drawing/2014/main" id="{9A78AA41-08B6-4F1A-8205-D6C9247D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59055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CAH-007  /  REPOSITORY CHECKS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A2B441AE-5538-4E8F-AC02-F6C5D6C4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7700"/>
            <a:ext cx="10668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B1F33"/>
                </a:solidFill>
                <a:latin typeface="Aptos Display"/>
                <a:ea typeface="Aptos Display"/>
                <a:cs typeface="Aptos Display"/>
              </a:defRPr>
            </a:pPr>
            <a:r>
              <a:t>Trust rises because the trade-offs stay visible</a:t>
            </a:r>
          </a:p>
        </p:txBody>
      </p:sp>
      <p:cxnSp>
        <p:nvCxnSpPr>
          <p:cNvPr id="20" name="header-rule-9"/>
          <p:cNvCxnSpPr/>
          <p:nvPr/>
        </p:nvCxnSpPr>
        <p:spPr>
          <a:xfrm xmlns:a="http://schemas.openxmlformats.org/drawingml/2006/main">
            <a:off x="457200" y="1409700"/>
            <a:ext cx="11277600" cy="953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B1F33"/>
            </a:solidFill>
            <a:prstDash val="solid"/>
          </a:ln>
        </p:spPr>
      </p:cxnSp>
      <p:sp>
        <p:nvSpPr>
          <p:cNvPr id="4" name="number-9">
            <a:extLst xmlns:a="http://schemas.openxmlformats.org/drawingml/2006/main">
              <a:ext uri="{FF2B5EF4-FFF2-40B4-BE49-F238E27FC236}">
                <a16:creationId xmlns:a16="http://schemas.microsoft.com/office/drawing/2014/main" id="{4372260C-FBCE-4F6E-A56B-F2AEFC25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23850"/>
            <a:ext cx="5905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E6B7D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  <p:cxnSp>
        <p:nvCxnSpPr>
          <p:cNvPr id="22" name="trade-beam"/>
          <p:cNvCxnSpPr/>
          <p:nvPr/>
        </p:nvCxnSpPr>
        <p:spPr>
          <a:xfrm xmlns:a="http://schemas.openxmlformats.org/drawingml/2006/main">
            <a:off x="2038350" y="3371850"/>
            <a:ext cx="8115300" cy="953"/>
          </a:xfrm>
          <a:prstGeom xmlns:a="http://schemas.openxmlformats.org/drawingml/2006/main" prst="straightConnector1">
            <a:avLst/>
          </a:prstGeom>
          <a:ln xmlns:a="http://schemas.openxmlformats.org/drawingml/2006/main" w="95250">
            <a:solidFill>
              <a:srgbClr val="0B1F33"/>
            </a:solidFill>
            <a:prstDash val="solid"/>
          </a:ln>
        </p:spPr>
      </p:cxnSp>
      <p:sp>
        <p:nvSpPr>
          <p:cNvPr id="6" name="trade-fulcrum">
            <a:extLst xmlns:a="http://schemas.openxmlformats.org/drawingml/2006/main">
              <a:ext uri="{FF2B5EF4-FFF2-40B4-BE49-F238E27FC236}">
                <a16:creationId xmlns:a16="http://schemas.microsoft.com/office/drawing/2014/main" id="{142EB844-9FD3-4AC9-8E4D-489E5AC5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289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rade-left-pan">
            <a:extLst xmlns:a="http://schemas.openxmlformats.org/drawingml/2006/main">
              <a:ext uri="{FF2B5EF4-FFF2-40B4-BE49-F238E27FC236}">
                <a16:creationId xmlns:a16="http://schemas.microsoft.com/office/drawing/2014/main" id="{B5F198DE-C8DE-422D-88BA-500B0707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E9F9EF"/>
          </a:solidFill>
          <a:ln xmlns:a="http://schemas.openxmlformats.org/drawingml/2006/main" w="28575">
            <a:solidFill>
              <a:srgbClr val="22C55E"/>
            </a:solidFill>
            <a:prstDash val="solid"/>
          </a:ln>
        </p:spPr>
      </p:sp>
      <p:sp>
        <p:nvSpPr>
          <p:cNvPr id="8" name="trade-right-pan">
            <a:extLst xmlns:a="http://schemas.openxmlformats.org/drawingml/2006/main">
              <a:ext uri="{FF2B5EF4-FFF2-40B4-BE49-F238E27FC236}">
                <a16:creationId xmlns:a16="http://schemas.microsoft.com/office/drawing/2014/main" id="{1F111CE5-EE9B-4182-8A2F-32911BCFB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95700"/>
            <a:ext cx="3676650" cy="14859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28575">
            <a:solidFill>
              <a:srgbClr val="FF6B6B"/>
            </a:solidFill>
            <a:prstDash val="solid"/>
          </a:ln>
        </p:spPr>
      </p:sp>
      <p:cxnSp>
        <p:nvCxnSpPr>
          <p:cNvPr id="26" name="trade-left-rope"/>
          <p:cNvCxnSpPr/>
          <p:nvPr/>
        </p:nvCxnSpPr>
        <p:spPr>
          <a:xfrm xmlns:a="http://schemas.openxmlformats.org/drawingml/2006/main">
            <a:off x="20383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cxnSp>
        <p:nvCxnSpPr>
          <p:cNvPr id="27" name="trade-right-rope"/>
          <p:cNvCxnSpPr/>
          <p:nvPr/>
        </p:nvCxnSpPr>
        <p:spPr>
          <a:xfrm xmlns:a="http://schemas.openxmlformats.org/drawingml/2006/main">
            <a:off x="10153650" y="3371850"/>
            <a:ext cx="953" cy="3238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B1F33"/>
            </a:solidFill>
            <a:prstDash val="solid"/>
          </a:ln>
        </p:spPr>
      </p:cxnSp>
      <p:sp>
        <p:nvSpPr>
          <p:cNvPr id="11" name="trade-left-title">
            <a:extLst xmlns:a="http://schemas.openxmlformats.org/drawingml/2006/main">
              <a:ext uri="{FF2B5EF4-FFF2-40B4-BE49-F238E27FC236}">
                <a16:creationId xmlns:a16="http://schemas.microsoft.com/office/drawing/2014/main" id="{0F70CB1D-2B55-4872-AEA9-CB088ED62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WHAT WE GAIN</a:t>
            </a:r>
          </a:p>
        </p:txBody>
      </p:sp>
      <p:sp>
        <p:nvSpPr>
          <p:cNvPr id="12" name="trade-left-body">
            <a:extLst xmlns:a="http://schemas.openxmlformats.org/drawingml/2006/main">
              <a:ext uri="{FF2B5EF4-FFF2-40B4-BE49-F238E27FC236}">
                <a16:creationId xmlns:a16="http://schemas.microsoft.com/office/drawing/2014/main" id="{1561F458-E211-4B5A-AE86-A7CF72D7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one definition of green
offline confidence
clear layer attribution</a:t>
            </a:r>
          </a:p>
        </p:txBody>
      </p:sp>
      <p:sp>
        <p:nvSpPr>
          <p:cNvPr id="13" name="trade-right-title">
            <a:extLst xmlns:a="http://schemas.openxmlformats.org/drawingml/2006/main">
              <a:ext uri="{FF2B5EF4-FFF2-40B4-BE49-F238E27FC236}">
                <a16:creationId xmlns:a16="http://schemas.microsoft.com/office/drawing/2014/main" id="{640A4039-23CE-44EE-AB28-4F4396615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43350"/>
            <a:ext cx="3105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WHAT WE ACCEPT</a:t>
            </a:r>
          </a:p>
        </p:txBody>
      </p:sp>
      <p:sp>
        <p:nvSpPr>
          <p:cNvPr id="14" name="trade-right-body">
            <a:extLst xmlns:a="http://schemas.openxmlformats.org/drawingml/2006/main">
              <a:ext uri="{FF2B5EF4-FFF2-40B4-BE49-F238E27FC236}">
                <a16:creationId xmlns:a16="http://schemas.microsoft.com/office/drawing/2014/main" id="{F2FB0327-FC50-4809-BA51-8E4F9302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1051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fail-fast, not full aggregation
a deliberately blunt static guard
serial checks before optimization</a:t>
            </a:r>
          </a:p>
        </p:txBody>
      </p:sp>
      <p:sp>
        <p:nvSpPr>
          <p:cNvPr id="15" name="trade-center">
            <a:extLst xmlns:a="http://schemas.openxmlformats.org/drawingml/2006/main">
              <a:ext uri="{FF2B5EF4-FFF2-40B4-BE49-F238E27FC236}">
                <a16:creationId xmlns:a16="http://schemas.microsoft.com/office/drawing/2014/main" id="{AD2DF5A0-250B-4F43-A156-3453D975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333750"/>
            <a:ext cx="609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tos"/>
                <a:ea typeface="Aptos"/>
                <a:cs typeface="Aptos"/>
              </a:defRPr>
            </a:pPr>
            <a:r>
              <a:t>M0</a:t>
            </a:r>
          </a:p>
        </p:txBody>
      </p:sp>
      <p:sp>
        <p:nvSpPr>
          <p:cNvPr id="16" name="trade-rule">
            <a:extLst xmlns:a="http://schemas.openxmlformats.org/drawingml/2006/main">
              <a:ext uri="{FF2B5EF4-FFF2-40B4-BE49-F238E27FC236}">
                <a16:creationId xmlns:a16="http://schemas.microsoft.com/office/drawing/2014/main" id="{6BF9F27B-ADF0-4FF6-B825-2C215AB7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5562600"/>
            <a:ext cx="81534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rade-rule-text">
            <a:extLst xmlns:a="http://schemas.openxmlformats.org/drawingml/2006/main">
              <a:ext uri="{FF2B5EF4-FFF2-40B4-BE49-F238E27FC236}">
                <a16:creationId xmlns:a16="http://schemas.microsoft.com/office/drawing/2014/main" id="{3D551A24-FE5D-4BD4-BFC6-F1FDAA02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753100"/>
            <a:ext cx="75057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Optimize only after measured pain—never by quietly changing the meaning of green.</a:t>
            </a:r>
          </a:p>
        </p:txBody>
      </p:sp>
    </p:spTree>
    <p:extLst>
      <p:ext uri="{BB962C8B-B14F-4D97-AF65-F5344CB8AC3E}">
        <p14:creationId xmlns:p14="http://schemas.microsoft.com/office/powerpoint/2010/main" val="18658974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lose-bg">
            <a:extLst xmlns:a="http://schemas.openxmlformats.org/drawingml/2006/main">
              <a:ext uri="{FF2B5EF4-FFF2-40B4-BE49-F238E27FC236}">
                <a16:creationId xmlns:a16="http://schemas.microsoft.com/office/drawing/2014/main" id="{AA5ADDAD-D197-4498-B38B-31B54D95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426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21" name="close-runway"/>
          <p:cNvCxnSpPr/>
          <p:nvPr/>
        </p:nvCxnSpPr>
        <p:spPr>
          <a:xfrm xmlns:a="http://schemas.openxmlformats.org/drawingml/2006/main">
            <a:off x="1123950" y="4953000"/>
            <a:ext cx="939165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9445F"/>
            </a:solidFill>
            <a:prstDash val="solid"/>
          </a:ln>
        </p:spPr>
      </p:cxnSp>
      <p:cxnSp>
        <p:nvCxnSpPr>
          <p:cNvPr id="22" name="close-runway-green"/>
          <p:cNvCxnSpPr/>
          <p:nvPr/>
        </p:nvCxnSpPr>
        <p:spPr>
          <a:xfrm xmlns:a="http://schemas.openxmlformats.org/drawingml/2006/main">
            <a:off x="1123950" y="4953000"/>
            <a:ext cx="7239000" cy="953"/>
          </a:xfrm>
          <a:prstGeom xmlns:a="http://schemas.openxmlformats.org/drawingml/2006/main" prst="straightConnector1">
            <a:avLst/>
          </a:prstGeom>
          <a:ln xmlns:a="http://schemas.openxmlformats.org/drawingml/2006/main" w="171450">
            <a:solidFill>
              <a:srgbClr val="22C55E"/>
            </a:solidFill>
            <a:prstDash val="solid"/>
          </a:ln>
        </p:spPr>
      </p:cxnSp>
      <p:sp>
        <p:nvSpPr>
          <p:cNvPr id="4" name="close-arrow">
            <a:extLst xmlns:a="http://schemas.openxmlformats.org/drawingml/2006/main">
              <a:ext uri="{FF2B5EF4-FFF2-40B4-BE49-F238E27FC236}">
                <a16:creationId xmlns:a16="http://schemas.microsoft.com/office/drawing/2014/main" id="{54E65A9D-26DC-4623-A46C-F3455C63C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1466850" cy="685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check-ring">
            <a:extLst xmlns:a="http://schemas.openxmlformats.org/drawingml/2006/main">
              <a:ext uri="{FF2B5EF4-FFF2-40B4-BE49-F238E27FC236}">
                <a16:creationId xmlns:a16="http://schemas.microsoft.com/office/drawing/2014/main" id="{2ADFF26E-A1D0-4E10-BF65-460830EEE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86200"/>
            <a:ext cx="1962150" cy="1962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351F"/>
          </a:solidFill>
          <a:ln xmlns:a="http://schemas.openxmlformats.org/drawingml/2006/main" w="76200">
            <a:solidFill>
              <a:srgbClr val="22C55E"/>
            </a:solidFill>
            <a:prstDash val="solid"/>
          </a:ln>
        </p:spPr>
      </p:sp>
      <p:sp>
        <p:nvSpPr>
          <p:cNvPr id="6" name="close-check">
            <a:extLst xmlns:a="http://schemas.openxmlformats.org/drawingml/2006/main">
              <a:ext uri="{FF2B5EF4-FFF2-40B4-BE49-F238E27FC236}">
                <a16:creationId xmlns:a16="http://schemas.microsoft.com/office/drawing/2014/main" id="{2D3A7605-F9D7-4E67-88AA-7FAB91260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4133850"/>
            <a:ext cx="1162050" cy="1162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6300" b="1">
                <a:solidFill>
                  <a:srgbClr val="22C55E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7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B45269C4-C9F5-48BA-8759-9290F6DD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571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CAH-007  •  GATE ESTABLISHED</a:t>
            </a:r>
          </a:p>
        </p:txBody>
      </p:sp>
      <p:sp>
        <p:nvSpPr>
          <p:cNvPr id="8" name="close-title">
            <a:extLst xmlns:a="http://schemas.openxmlformats.org/drawingml/2006/main">
              <a:ext uri="{FF2B5EF4-FFF2-40B4-BE49-F238E27FC236}">
                <a16:creationId xmlns:a16="http://schemas.microsoft.com/office/drawing/2014/main" id="{52EB186D-40BB-4EE0-9B61-0FA891A0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47750"/>
            <a:ext cx="7429500" cy="1485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t>Make green mean
something.</a:t>
            </a:r>
          </a:p>
        </p:txBody>
      </p:sp>
      <p:sp>
        <p:nvSpPr>
          <p:cNvPr id="9" name="close-subtitle">
            <a:extLst xmlns:a="http://schemas.openxmlformats.org/drawingml/2006/main">
              <a:ext uri="{FF2B5EF4-FFF2-40B4-BE49-F238E27FC236}">
                <a16:creationId xmlns:a16="http://schemas.microsoft.com/office/drawing/2014/main" id="{C3B4E5A5-1D40-4B4C-A141-F2B3F411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57500"/>
            <a:ext cx="8191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7E5F4"/>
                </a:solidFill>
                <a:latin typeface="Aptos"/>
                <a:ea typeface="Aptos"/>
                <a:cs typeface="Aptos"/>
              </a:defRPr>
            </a:pPr>
            <a:r>
              <a:t>One command. Locked setup. Offline validation. Honest failures.</a:t>
            </a:r>
          </a:p>
        </p:txBody>
      </p:sp>
      <p:sp>
        <p:nvSpPr>
          <p:cNvPr id="10" name="close-num-0">
            <a:extLst xmlns:a="http://schemas.openxmlformats.org/drawingml/2006/main">
              <a:ext uri="{FF2B5EF4-FFF2-40B4-BE49-F238E27FC236}">
                <a16:creationId xmlns:a16="http://schemas.microsoft.com/office/drawing/2014/main" id="{AF346830-9D8E-481E-82AA-E048543F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22D3EE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11" name="close-body-0">
            <a:extLst xmlns:a="http://schemas.openxmlformats.org/drawingml/2006/main">
              <a:ext uri="{FF2B5EF4-FFF2-40B4-BE49-F238E27FC236}">
                <a16:creationId xmlns:a16="http://schemas.microsoft.com/office/drawing/2014/main" id="{2F8C2C04-3BAC-4298-BB0B-913A8B09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Use ./scripts/check before Done</a:t>
            </a:r>
          </a:p>
        </p:txBody>
      </p:sp>
      <p:sp>
        <p:nvSpPr>
          <p:cNvPr id="12" name="close-num-1">
            <a:extLst xmlns:a="http://schemas.openxmlformats.org/drawingml/2006/main">
              <a:ext uri="{FF2B5EF4-FFF2-40B4-BE49-F238E27FC236}">
                <a16:creationId xmlns:a16="http://schemas.microsoft.com/office/drawing/2014/main" id="{04E8D73A-4784-4C0A-9D82-8BDB22E2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3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531E3A18-AFEE-4612-9E3D-D0F7BD6C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Trust seams, not just modules</a:t>
            </a:r>
          </a:p>
        </p:txBody>
      </p:sp>
      <p:sp>
        <p:nvSpPr>
          <p:cNvPr id="14" name="close-num-2">
            <a:extLst xmlns:a="http://schemas.openxmlformats.org/drawingml/2006/main">
              <a:ext uri="{FF2B5EF4-FFF2-40B4-BE49-F238E27FC236}">
                <a16:creationId xmlns:a16="http://schemas.microsoft.com/office/drawing/2014/main" id="{5CC891AE-A9C1-41C9-8E35-15A7B1AF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76650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6B6B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5B696F0F-E341-4932-A344-E2A8EEA3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14750"/>
            <a:ext cx="20383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Let CI reuse the same contract</a:t>
            </a:r>
          </a:p>
        </p:txBody>
      </p:sp>
      <p:sp>
        <p:nvSpPr>
          <p:cNvPr id="16" name="close-next">
            <a:extLst xmlns:a="http://schemas.openxmlformats.org/drawingml/2006/main">
              <a:ext uri="{FF2B5EF4-FFF2-40B4-BE49-F238E27FC236}">
                <a16:creationId xmlns:a16="http://schemas.microsoft.com/office/drawing/2014/main" id="{FAEB7A47-271C-46DA-B461-2C289F4CB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734050"/>
            <a:ext cx="80200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112744"/>
          </a:solidFill>
          <a:ln xmlns:a="http://schemas.openxmlformats.org/drawingml/2006/main" w="19050">
            <a:solidFill>
              <a:srgbClr val="8B5CF6"/>
            </a:solidFill>
            <a:prstDash val="solid"/>
          </a:ln>
        </p:spPr>
      </p:sp>
      <p:sp>
        <p:nvSpPr>
          <p:cNvPr id="17" name="close-next-kicker">
            <a:extLst xmlns:a="http://schemas.openxmlformats.org/drawingml/2006/main">
              <a:ext uri="{FF2B5EF4-FFF2-40B4-BE49-F238E27FC236}">
                <a16:creationId xmlns:a16="http://schemas.microsoft.com/office/drawing/2014/main" id="{D3296212-1854-4434-BCDD-8C3A0817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05500"/>
            <a:ext cx="2190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8B5CF6"/>
                </a:solidFill>
                <a:latin typeface="Aptos"/>
                <a:ea typeface="Aptos"/>
                <a:cs typeface="Aptos"/>
              </a:defRPr>
            </a:pPr>
            <a:r>
              <a:t>NEXT  →  CAH-010</a:t>
            </a:r>
          </a:p>
        </p:txBody>
      </p:sp>
      <p:sp>
        <p:nvSpPr>
          <p:cNvPr id="18" name="close-next-body">
            <a:extLst xmlns:a="http://schemas.openxmlformats.org/drawingml/2006/main">
              <a:ext uri="{FF2B5EF4-FFF2-40B4-BE49-F238E27FC236}">
                <a16:creationId xmlns:a16="http://schemas.microsoft.com/office/drawing/2014/main" id="{B56B292A-3907-4578-8C1B-BCD539F78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886450"/>
            <a:ext cx="5181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Build the session-state reducer behind a gate we can trust.</a:t>
            </a:r>
          </a:p>
        </p:txBody>
      </p:sp>
      <p:sp>
        <p:nvSpPr>
          <p:cNvPr id="19" name="close-fun">
            <a:extLst xmlns:a="http://schemas.openxmlformats.org/drawingml/2006/main">
              <a:ext uri="{FF2B5EF4-FFF2-40B4-BE49-F238E27FC236}">
                <a16:creationId xmlns:a16="http://schemas.microsoft.com/office/drawing/2014/main" id="{236B32BD-CC74-42C5-9F0D-7ED8962F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6076950"/>
            <a:ext cx="23431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75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t>The robot approves.</a:t>
            </a:r>
          </a:p>
        </p:txBody>
      </p:sp>
    </p:spTree>
    <p:extLst>
      <p:ext uri="{BB962C8B-B14F-4D97-AF65-F5344CB8AC3E}">
        <p14:creationId xmlns:p14="http://schemas.microsoft.com/office/powerpoint/2010/main" val="15071793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2026-07-30T21:25:59.3160000Z</dcterms:created>
  <dcterms:modified xsi:type="dcterms:W3CDTF">2026-07-30T21:25:59.3160000Z</dcterms:modified>
</coreProperties>
</file>