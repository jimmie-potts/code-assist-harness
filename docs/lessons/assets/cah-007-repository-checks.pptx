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97635460286495d" /><Relationship Type="http://schemas.openxmlformats.org/officeDocument/2006/relationships/extended-properties" Target="/docProps/app.xml" Id="R23784a3ee53241f2" /><Relationship Type="http://schemas.openxmlformats.org/officeDocument/2006/relationships/officeDocument" Target="/ppt/presentation.xml" Id="R56a12c7b99714f9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7586dc47694e2c"/>
  </p:sldMasterIdLst>
  <p:notesMasterIdLst>
    <p:notesMasterId xmlns:r="http://schemas.openxmlformats.org/officeDocument/2006/relationships" r:id="R8aa5f248d4074cc8"/>
  </p:notesMasterIdLst>
  <p:sldIdLst>
    <p:sldId xmlns:r="http://schemas.openxmlformats.org/officeDocument/2006/relationships" id="256" r:id="R62f5435192384cf6"/>
    <p:sldId xmlns:r="http://schemas.openxmlformats.org/officeDocument/2006/relationships" id="257" r:id="Ra32c5fe1879b48fb"/>
    <p:sldId xmlns:r="http://schemas.openxmlformats.org/officeDocument/2006/relationships" id="258" r:id="Raf750adcd7614f86"/>
    <p:sldId xmlns:r="http://schemas.openxmlformats.org/officeDocument/2006/relationships" id="259" r:id="R067d5e5b2cc8466c"/>
    <p:sldId xmlns:r="http://schemas.openxmlformats.org/officeDocument/2006/relationships" id="260" r:id="R85889bdde92c4fba"/>
    <p:sldId xmlns:r="http://schemas.openxmlformats.org/officeDocument/2006/relationships" id="261" r:id="R93edffad19974c29"/>
    <p:sldId xmlns:r="http://schemas.openxmlformats.org/officeDocument/2006/relationships" id="262" r:id="Rd62dfa7dabcc43ee"/>
    <p:sldId xmlns:r="http://schemas.openxmlformats.org/officeDocument/2006/relationships" id="263" r:id="R05aa4f2168354731"/>
    <p:sldId xmlns:r="http://schemas.openxmlformats.org/officeDocument/2006/relationships" id="264" r:id="R8b14569200ef4154"/>
    <p:sldId xmlns:r="http://schemas.openxmlformats.org/officeDocument/2006/relationships" id="265" r:id="Rc933d6468b4f4ef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a8b30e22f474ee8" /><Relationship Type="http://schemas.openxmlformats.org/officeDocument/2006/relationships/slideMaster" Target="/ppt/slideMasters/slideMaster1.xml" Id="R937586dc47694e2c" /><Relationship Type="http://schemas.openxmlformats.org/officeDocument/2006/relationships/notesMaster" Target="/ppt/notesMasters/notesMaster1.xml" Id="R8aa5f248d4074cc8" /><Relationship Type="http://schemas.openxmlformats.org/officeDocument/2006/relationships/presProps" Target="/ppt/presProps.xml" Id="R1ed50f45f5bc4b27" /><Relationship Type="http://schemas.openxmlformats.org/officeDocument/2006/relationships/tableStyles" Target="/ppt/tableStyles.xml" Id="Rf15135ba72d84f95" /><Relationship Type="http://schemas.openxmlformats.org/officeDocument/2006/relationships/slide" Target="/ppt/slides/slide1.xml" Id="R62f5435192384cf6" /><Relationship Type="http://schemas.openxmlformats.org/officeDocument/2006/relationships/slide" Target="/ppt/slides/slide2.xml" Id="Ra32c5fe1879b48fb" /><Relationship Type="http://schemas.openxmlformats.org/officeDocument/2006/relationships/slide" Target="/ppt/slides/slide3.xml" Id="Raf750adcd7614f86" /><Relationship Type="http://schemas.openxmlformats.org/officeDocument/2006/relationships/slide" Target="/ppt/slides/slide4.xml" Id="R067d5e5b2cc8466c" /><Relationship Type="http://schemas.openxmlformats.org/officeDocument/2006/relationships/slide" Target="/ppt/slides/slide5.xml" Id="R85889bdde92c4fba" /><Relationship Type="http://schemas.openxmlformats.org/officeDocument/2006/relationships/slide" Target="/ppt/slides/slide6.xml" Id="R93edffad19974c29" /><Relationship Type="http://schemas.openxmlformats.org/officeDocument/2006/relationships/slide" Target="/ppt/slides/slide7.xml" Id="Rd62dfa7dabcc43ee" /><Relationship Type="http://schemas.openxmlformats.org/officeDocument/2006/relationships/slide" Target="/ppt/slides/slide8.xml" Id="R05aa4f2168354731" /><Relationship Type="http://schemas.openxmlformats.org/officeDocument/2006/relationships/slide" Target="/ppt/slides/slide9.xml" Id="R8b14569200ef4154" /><Relationship Type="http://schemas.openxmlformats.org/officeDocument/2006/relationships/slide" Target="/ppt/slides/slide10.xml" Id="Rc933d6468b4f4ef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265bfdb6e13429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e086700be44799" /><Relationship Type="http://schemas.openxmlformats.org/officeDocument/2006/relationships/notesMaster" Target="/ppt/notesMasters/notesMaster1.xml" Id="R169325284b404ff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dd0a35933534433" /><Relationship Type="http://schemas.openxmlformats.org/officeDocument/2006/relationships/notesMaster" Target="/ppt/notesMasters/notesMaster1.xml" Id="R83c3a48f102e42a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308bfdf650c44d0" /><Relationship Type="http://schemas.openxmlformats.org/officeDocument/2006/relationships/notesMaster" Target="/ppt/notesMasters/notesMaster1.xml" Id="Rc80f43e733c54c8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12daf586a104337" /><Relationship Type="http://schemas.openxmlformats.org/officeDocument/2006/relationships/notesMaster" Target="/ppt/notesMasters/notesMaster1.xml" Id="R9d95182dee634f9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cb6ecc2aec84ea7" /><Relationship Type="http://schemas.openxmlformats.org/officeDocument/2006/relationships/notesMaster" Target="/ppt/notesMasters/notesMaster1.xml" Id="Ref3e01c9240f4d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db13b0e6f44cf5" /><Relationship Type="http://schemas.openxmlformats.org/officeDocument/2006/relationships/notesMaster" Target="/ppt/notesMasters/notesMaster1.xml" Id="R37c7b7d6ea9f4f5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348bb8f6b654052" /><Relationship Type="http://schemas.openxmlformats.org/officeDocument/2006/relationships/notesMaster" Target="/ppt/notesMasters/notesMaster1.xml" Id="Re3d69b8e20bb4a1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f3c50b58b42429c" /><Relationship Type="http://schemas.openxmlformats.org/officeDocument/2006/relationships/notesMaster" Target="/ppt/notesMasters/notesMaster1.xml" Id="R44fd96448587460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7e7b17e62884e0d" /><Relationship Type="http://schemas.openxmlformats.org/officeDocument/2006/relationships/notesMaster" Target="/ppt/notesMasters/notesMaster1.xml" Id="R20b655e191134c4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cc847feac8d4823" /><Relationship Type="http://schemas.openxmlformats.org/officeDocument/2006/relationships/notesMaster" Target="/ppt/notesMasters/notesMaster1.xml" Id="R18e6673c01f4417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ad9fe6b422432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49c8b48a92a498a" /><Relationship Type="http://schemas.openxmlformats.org/officeDocument/2006/relationships/slideLayout" Target="/ppt/slideLayouts/slideLayout1.xml" Id="R59099ec8fc834ea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099ec8fc834ea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be28e393b84381" /><Relationship Type="http://schemas.openxmlformats.org/officeDocument/2006/relationships/image" Target="/ppt/media/image.png" Id="Rdf5e09b6da5045bc" /><Relationship Type="http://schemas.openxmlformats.org/officeDocument/2006/relationships/notesSlide" Target="/ppt/notesSlides/notesSlide1.xml" Id="R7658e190dc8744d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85d5be76554685" /><Relationship Type="http://schemas.openxmlformats.org/officeDocument/2006/relationships/notesSlide" Target="/ppt/notesSlides/notesSlide2.xml" Id="Rc8e85d571a864fc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b7a5577c8840b0" /><Relationship Type="http://schemas.openxmlformats.org/officeDocument/2006/relationships/notesSlide" Target="/ppt/notesSlides/notesSlide3.xml" Id="Rcd1ad3f99cdb4c5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baa0847a204f68" /><Relationship Type="http://schemas.openxmlformats.org/officeDocument/2006/relationships/notesSlide" Target="/ppt/notesSlides/notesSlide4.xml" Id="R7817e52e4ba24f3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c79ed2e67147e4" /><Relationship Type="http://schemas.openxmlformats.org/officeDocument/2006/relationships/notesSlide" Target="/ppt/notesSlides/notesSlide5.xml" Id="R7b60213a1835417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ce6aa0d0c54aaf" /><Relationship Type="http://schemas.openxmlformats.org/officeDocument/2006/relationships/notesSlide" Target="/ppt/notesSlides/notesSlide6.xml" Id="R9f636a1e4567466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43ebbc646c4a90" /><Relationship Type="http://schemas.openxmlformats.org/officeDocument/2006/relationships/notesSlide" Target="/ppt/notesSlides/notesSlide7.xml" Id="Rc1b890f1192a4e2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5bc1baf8534c53" /><Relationship Type="http://schemas.openxmlformats.org/officeDocument/2006/relationships/notesSlide" Target="/ppt/notesSlides/notesSlide8.xml" Id="Ra65d352a66f54ce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db11b69efc4e45" /><Relationship Type="http://schemas.openxmlformats.org/officeDocument/2006/relationships/notesSlide" Target="/ppt/notesSlides/notesSlide9.xml" Id="R53513918ff714e6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aa964d7ae74b58" /><Relationship Type="http://schemas.openxmlformats.org/officeDocument/2006/relationships/notesSlide" Target="/ppt/notesSlides/notesSlide10.xml" Id="R46a019b73618470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5e09b6da5045b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shade">
            <a:extLst xmlns:a="http://schemas.openxmlformats.org/drawingml/2006/main">
              <a:ext uri="{FF2B5EF4-FFF2-40B4-BE49-F238E27FC236}">
                <a16:creationId xmlns:a16="http://schemas.microsoft.com/office/drawing/2014/main" id="{5BDFD1DA-BF97-4844-8242-4911C104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5816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cyan">
            <a:extLst xmlns:a="http://schemas.openxmlformats.org/drawingml/2006/main">
              <a:ext uri="{FF2B5EF4-FFF2-40B4-BE49-F238E27FC236}">
                <a16:creationId xmlns:a16="http://schemas.microsoft.com/office/drawing/2014/main" id="{4C4B4D6F-F068-4986-8AAB-4338AB8E1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90600"/>
            <a:ext cx="95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DC70A89E-B9EB-4F3F-A74C-E1D8EF92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t>CAH-007  •  VERIFIED VISUAL LESSON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9D2C747-A66C-457D-949C-C93B500FF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33450"/>
            <a:ext cx="4514850" cy="2019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t>One green check.
The whole walking skeleton.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6939DEEA-3692-4EAE-9EF6-7A6EA7469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4248150" cy="1123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7E5F4"/>
                </a:solidFill>
                <a:latin typeface="Aptos"/>
                <a:ea typeface="Aptos"/>
                <a:cs typeface="Aptos"/>
              </a:defRPr>
            </a:pPr>
            <a:r>
              <a:t>A canonical offline gate for Python, TypeScript, protocol fixtures, docs, policy, and the real process boundary.</a:t>
            </a:r>
          </a:p>
        </p:txBody>
      </p:sp>
      <p:sp>
        <p:nvSpPr>
          <p:cNvPr id="7" name="cover-command">
            <a:extLst xmlns:a="http://schemas.openxmlformats.org/drawingml/2006/main">
              <a:ext uri="{FF2B5EF4-FFF2-40B4-BE49-F238E27FC236}">
                <a16:creationId xmlns:a16="http://schemas.microsoft.com/office/drawing/2014/main" id="{EEA24576-389D-460A-A10E-9C1AE3C1C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3162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12744"/>
          </a:solidFill>
          <a:ln xmlns:a="http://schemas.openxmlformats.org/drawingml/2006/main" w="19050">
            <a:solidFill>
              <a:srgbClr val="22D3EE"/>
            </a:solidFill>
            <a:prstDash val="solid"/>
          </a:ln>
        </p:spPr>
      </p:sp>
      <p:sp>
        <p:nvSpPr>
          <p:cNvPr id="8" name="cover-command-text">
            <a:extLst xmlns:a="http://schemas.openxmlformats.org/drawingml/2006/main">
              <a:ext uri="{FF2B5EF4-FFF2-40B4-BE49-F238E27FC236}">
                <a16:creationId xmlns:a16="http://schemas.microsoft.com/office/drawing/2014/main" id="{87626A9B-8F7B-4E19-A45C-E0851BA1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05375"/>
            <a:ext cx="27051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2D3EE"/>
                </a:solidFill>
                <a:latin typeface="Consolas"/>
                <a:ea typeface="Consolas"/>
                <a:cs typeface="Consolas"/>
              </a:defRPr>
            </a:pPr>
            <a:r>
              <a:t>./scripts/check</a:t>
            </a:r>
          </a:p>
        </p:txBody>
      </p:sp>
      <p:sp>
        <p:nvSpPr>
          <p:cNvPr id="9" name="cover-caption">
            <a:extLst xmlns:a="http://schemas.openxmlformats.org/drawingml/2006/main">
              <a:ext uri="{FF2B5EF4-FFF2-40B4-BE49-F238E27FC236}">
                <a16:creationId xmlns:a16="http://schemas.microsoft.com/office/drawing/2014/main" id="{C6331326-BB35-4037-87A1-A70DAEE29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00700"/>
            <a:ext cx="400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t>No live provider. No mystery. Just the gate.</a:t>
            </a:r>
          </a:p>
        </p:txBody>
      </p:sp>
      <p:sp>
        <p:nvSpPr>
          <p:cNvPr id="10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0B552393-8305-4BBA-BD6A-9E1B4AA6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343650"/>
            <a:ext cx="1733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M0 QUALITY MACHINE</a:t>
            </a:r>
          </a:p>
        </p:txBody>
      </p:sp>
    </p:spTree>
    <p:extLst>
      <p:ext uri="{BB962C8B-B14F-4D97-AF65-F5344CB8AC3E}">
        <p14:creationId xmlns:p14="http://schemas.microsoft.com/office/powerpoint/2010/main" val="1993804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2">
            <a:extLst xmlns:a="http://schemas.openxmlformats.org/drawingml/2006/main">
              <a:ext uri="{FF2B5EF4-FFF2-40B4-BE49-F238E27FC236}">
                <a16:creationId xmlns:a16="http://schemas.microsoft.com/office/drawing/2014/main" id="{B296A870-BCE9-480D-8066-4F87D202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ED1181EB-9F0B-43AA-A721-CD7FECF16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A pile of soloists does not make one reliable orchestra</a:t>
            </a:r>
          </a:p>
        </p:txBody>
      </p:sp>
      <p:cxnSp>
        <p:nvCxnSpPr>
          <p:cNvPr id="44" name="header-rule-2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2">
            <a:extLst xmlns:a="http://schemas.openxmlformats.org/drawingml/2006/main">
              <a:ext uri="{FF2B5EF4-FFF2-40B4-BE49-F238E27FC236}">
                <a16:creationId xmlns:a16="http://schemas.microsoft.com/office/drawing/2014/main" id="{EB016D1B-1163-4285-96DD-5A6FBFF1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  <p:cxnSp>
        <p:nvCxnSpPr>
          <p:cNvPr id="46" name="solo-line-0"/>
          <p:cNvCxnSpPr/>
          <p:nvPr/>
        </p:nvCxnSpPr>
        <p:spPr>
          <a:xfrm xmlns:a="http://schemas.openxmlformats.org/drawingml/2006/main">
            <a:off x="838200" y="2286000"/>
            <a:ext cx="581025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EE7"/>
            </a:solidFill>
            <a:prstDash val="solid"/>
          </a:ln>
        </p:spPr>
      </p:cxnSp>
      <p:sp>
        <p:nvSpPr>
          <p:cNvPr id="6" name="solo-dot-0">
            <a:extLst xmlns:a="http://schemas.openxmlformats.org/drawingml/2006/main">
              <a:ext uri="{FF2B5EF4-FFF2-40B4-BE49-F238E27FC236}">
                <a16:creationId xmlns:a16="http://schemas.microsoft.com/office/drawing/2014/main" id="{6CF75D15-B394-4143-B947-74C17CBC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145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48" name="solo-line-1"/>
          <p:cNvCxnSpPr/>
          <p:nvPr/>
        </p:nvCxnSpPr>
        <p:spPr>
          <a:xfrm xmlns:a="http://schemas.openxmlformats.org/drawingml/2006/main">
            <a:off x="838200" y="2781300"/>
            <a:ext cx="581025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EE7"/>
            </a:solidFill>
            <a:prstDash val="solid"/>
          </a:ln>
        </p:spPr>
      </p:cxnSp>
      <p:sp>
        <p:nvSpPr>
          <p:cNvPr id="8" name="solo-dot-1">
            <a:extLst xmlns:a="http://schemas.openxmlformats.org/drawingml/2006/main">
              <a:ext uri="{FF2B5EF4-FFF2-40B4-BE49-F238E27FC236}">
                <a16:creationId xmlns:a16="http://schemas.microsoft.com/office/drawing/2014/main" id="{29FE0531-ED15-461B-B4DC-A33BEACBB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098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50" name="solo-line-2"/>
          <p:cNvCxnSpPr/>
          <p:nvPr/>
        </p:nvCxnSpPr>
        <p:spPr>
          <a:xfrm xmlns:a="http://schemas.openxmlformats.org/drawingml/2006/main">
            <a:off x="838200" y="3276600"/>
            <a:ext cx="581025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EE7"/>
            </a:solidFill>
            <a:prstDash val="solid"/>
          </a:ln>
        </p:spPr>
      </p:cxnSp>
      <p:sp>
        <p:nvSpPr>
          <p:cNvPr id="10" name="solo-dot-2">
            <a:extLst xmlns:a="http://schemas.openxmlformats.org/drawingml/2006/main">
              <a:ext uri="{FF2B5EF4-FFF2-40B4-BE49-F238E27FC236}">
                <a16:creationId xmlns:a16="http://schemas.microsoft.com/office/drawing/2014/main" id="{C87B4676-C91E-4DF4-ACD2-9B4E9D83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051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52" name="solo-line-3"/>
          <p:cNvCxnSpPr/>
          <p:nvPr/>
        </p:nvCxnSpPr>
        <p:spPr>
          <a:xfrm xmlns:a="http://schemas.openxmlformats.org/drawingml/2006/main">
            <a:off x="838200" y="3771900"/>
            <a:ext cx="581025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EE7"/>
            </a:solidFill>
            <a:prstDash val="solid"/>
          </a:ln>
        </p:spPr>
      </p:cxnSp>
      <p:sp>
        <p:nvSpPr>
          <p:cNvPr id="12" name="solo-dot-3">
            <a:extLst xmlns:a="http://schemas.openxmlformats.org/drawingml/2006/main">
              <a:ext uri="{FF2B5EF4-FFF2-40B4-BE49-F238E27FC236}">
                <a16:creationId xmlns:a16="http://schemas.microsoft.com/office/drawing/2014/main" id="{9D65D914-57F4-400A-A5EC-96C58E9D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004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54" name="solo-line-4"/>
          <p:cNvCxnSpPr/>
          <p:nvPr/>
        </p:nvCxnSpPr>
        <p:spPr>
          <a:xfrm xmlns:a="http://schemas.openxmlformats.org/drawingml/2006/main">
            <a:off x="838200" y="4267200"/>
            <a:ext cx="581025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EE7"/>
            </a:solidFill>
            <a:prstDash val="solid"/>
          </a:ln>
        </p:spPr>
      </p:cxnSp>
      <p:sp>
        <p:nvSpPr>
          <p:cNvPr id="14" name="solo-dot-4">
            <a:extLst xmlns:a="http://schemas.openxmlformats.org/drawingml/2006/main">
              <a:ext uri="{FF2B5EF4-FFF2-40B4-BE49-F238E27FC236}">
                <a16:creationId xmlns:a16="http://schemas.microsoft.com/office/drawing/2014/main" id="{2C25E82D-953E-4487-AE04-D9D0150A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56" name="solo-line-5"/>
          <p:cNvCxnSpPr/>
          <p:nvPr/>
        </p:nvCxnSpPr>
        <p:spPr>
          <a:xfrm xmlns:a="http://schemas.openxmlformats.org/drawingml/2006/main">
            <a:off x="838200" y="4762500"/>
            <a:ext cx="581025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EE7"/>
            </a:solidFill>
            <a:prstDash val="solid"/>
          </a:ln>
        </p:spPr>
      </p:cxnSp>
      <p:sp>
        <p:nvSpPr>
          <p:cNvPr id="16" name="solo-dot-5">
            <a:extLst xmlns:a="http://schemas.openxmlformats.org/drawingml/2006/main">
              <a:ext uri="{FF2B5EF4-FFF2-40B4-BE49-F238E27FC236}">
                <a16:creationId xmlns:a16="http://schemas.microsoft.com/office/drawing/2014/main" id="{14698919-E8C6-42F3-A459-4B1F9256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58" name="solo-line-6"/>
          <p:cNvCxnSpPr/>
          <p:nvPr/>
        </p:nvCxnSpPr>
        <p:spPr>
          <a:xfrm xmlns:a="http://schemas.openxmlformats.org/drawingml/2006/main">
            <a:off x="838200" y="5257800"/>
            <a:ext cx="581025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EE7"/>
            </a:solidFill>
            <a:prstDash val="solid"/>
          </a:ln>
        </p:spPr>
      </p:cxnSp>
      <p:sp>
        <p:nvSpPr>
          <p:cNvPr id="18" name="solo-dot-6">
            <a:extLst xmlns:a="http://schemas.openxmlformats.org/drawingml/2006/main">
              <a:ext uri="{FF2B5EF4-FFF2-40B4-BE49-F238E27FC236}">
                <a16:creationId xmlns:a16="http://schemas.microsoft.com/office/drawing/2014/main" id="{2ACC0418-1661-4EBF-9892-68FBCA9E0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86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60" name="orchestra-spine"/>
          <p:cNvCxnSpPr/>
          <p:nvPr/>
        </p:nvCxnSpPr>
        <p:spPr>
          <a:xfrm xmlns:a="http://schemas.openxmlformats.org/drawingml/2006/main">
            <a:off x="6705600" y="2286000"/>
            <a:ext cx="953" cy="30289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1F33"/>
            </a:solidFill>
            <a:prstDash val="solid"/>
          </a:ln>
        </p:spPr>
      </p:cxnSp>
      <p:sp>
        <p:nvSpPr>
          <p:cNvPr id="20" name="orchestra-arrow">
            <a:extLst xmlns:a="http://schemas.openxmlformats.org/drawingml/2006/main">
              <a:ext uri="{FF2B5EF4-FFF2-40B4-BE49-F238E27FC236}">
                <a16:creationId xmlns:a16="http://schemas.microsoft.com/office/drawing/2014/main" id="{75551FD0-60D3-45C0-A34A-C9BB54DAF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24250"/>
            <a:ext cx="933450" cy="457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orchestra-check-ring">
            <a:extLst xmlns:a="http://schemas.openxmlformats.org/drawingml/2006/main">
              <a:ext uri="{FF2B5EF4-FFF2-40B4-BE49-F238E27FC236}">
                <a16:creationId xmlns:a16="http://schemas.microsoft.com/office/drawing/2014/main" id="{6F6EEF39-EDD0-4549-8992-4F6665500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71750"/>
            <a:ext cx="2343150" cy="2343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9EF"/>
          </a:solidFill>
          <a:ln xmlns:a="http://schemas.openxmlformats.org/drawingml/2006/main" w="95250">
            <a:solidFill>
              <a:srgbClr val="22C55E"/>
            </a:solidFill>
            <a:prstDash val="solid"/>
          </a:ln>
        </p:spPr>
      </p:sp>
      <p:sp>
        <p:nvSpPr>
          <p:cNvPr id="22" name="orchestra-check">
            <a:extLst xmlns:a="http://schemas.openxmlformats.org/drawingml/2006/main">
              <a:ext uri="{FF2B5EF4-FFF2-40B4-BE49-F238E27FC236}">
                <a16:creationId xmlns:a16="http://schemas.microsoft.com/office/drawing/2014/main" id="{049916D1-13B2-4FF5-84EF-2438E3001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00350"/>
            <a:ext cx="150495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40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23" name="orchestra-baton">
            <a:extLst xmlns:a="http://schemas.openxmlformats.org/drawingml/2006/main">
              <a:ext uri="{FF2B5EF4-FFF2-40B4-BE49-F238E27FC236}">
                <a16:creationId xmlns:a16="http://schemas.microsoft.com/office/drawing/2014/main" id="{EE1FAFA9-BBB5-4CD3-B7EE-E054E583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247900"/>
            <a:ext cx="95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orchestra-baton-tip">
            <a:extLst xmlns:a="http://schemas.openxmlformats.org/drawingml/2006/main">
              <a:ext uri="{FF2B5EF4-FFF2-40B4-BE49-F238E27FC236}">
                <a16:creationId xmlns:a16="http://schemas.microsoft.com/office/drawing/2014/main" id="{4E250688-980D-4F5E-B6FE-653D2885C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20764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olo-label-0">
            <a:extLst xmlns:a="http://schemas.openxmlformats.org/drawingml/2006/main">
              <a:ext uri="{FF2B5EF4-FFF2-40B4-BE49-F238E27FC236}">
                <a16:creationId xmlns:a16="http://schemas.microsoft.com/office/drawing/2014/main" id="{4EE5637D-8919-4BF4-8727-76DF66B8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8BDF8"/>
                </a:solidFill>
                <a:latin typeface="Aptos"/>
                <a:ea typeface="Aptos"/>
                <a:cs typeface="Aptos"/>
              </a:defRPr>
            </a:pPr>
            <a:r>
              <a:t>Python</a:t>
            </a:r>
          </a:p>
        </p:txBody>
      </p:sp>
      <p:sp>
        <p:nvSpPr>
          <p:cNvPr id="26" name="solo-note-0">
            <a:extLst xmlns:a="http://schemas.openxmlformats.org/drawingml/2006/main">
              <a:ext uri="{FF2B5EF4-FFF2-40B4-BE49-F238E27FC236}">
                <a16:creationId xmlns:a16="http://schemas.microsoft.com/office/drawing/2014/main" id="{2F6CF753-83B8-408A-95FC-B73058CD5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38350"/>
            <a:ext cx="495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38BDF8"/>
                </a:solidFill>
                <a:latin typeface="Aptos"/>
                <a:ea typeface="Aptos"/>
                <a:cs typeface="Aptos"/>
              </a:defRPr>
            </a:pPr>
            <a:r>
              <a:t>♪</a:t>
            </a:r>
          </a:p>
        </p:txBody>
      </p:sp>
      <p:sp>
        <p:nvSpPr>
          <p:cNvPr id="27" name="solo-label-1">
            <a:extLst xmlns:a="http://schemas.openxmlformats.org/drawingml/2006/main">
              <a:ext uri="{FF2B5EF4-FFF2-40B4-BE49-F238E27FC236}">
                <a16:creationId xmlns:a16="http://schemas.microsoft.com/office/drawing/2014/main" id="{EADCFF07-2056-420A-B441-4A53C9299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4795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style</a:t>
            </a:r>
          </a:p>
        </p:txBody>
      </p:sp>
      <p:sp>
        <p:nvSpPr>
          <p:cNvPr id="28" name="solo-note-1">
            <a:extLst xmlns:a="http://schemas.openxmlformats.org/drawingml/2006/main">
              <a:ext uri="{FF2B5EF4-FFF2-40B4-BE49-F238E27FC236}">
                <a16:creationId xmlns:a16="http://schemas.microsoft.com/office/drawing/2014/main" id="{93799AC8-0652-4949-B4B1-3FCADB058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33650"/>
            <a:ext cx="495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♫</a:t>
            </a:r>
          </a:p>
        </p:txBody>
      </p:sp>
      <p:sp>
        <p:nvSpPr>
          <p:cNvPr id="29" name="solo-label-2">
            <a:extLst xmlns:a="http://schemas.openxmlformats.org/drawingml/2006/main">
              <a:ext uri="{FF2B5EF4-FFF2-40B4-BE49-F238E27FC236}">
                <a16:creationId xmlns:a16="http://schemas.microsoft.com/office/drawing/2014/main" id="{4D436F39-C79E-470E-AE5B-61D8514AA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4325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docs</a:t>
            </a:r>
          </a:p>
        </p:txBody>
      </p:sp>
      <p:sp>
        <p:nvSpPr>
          <p:cNvPr id="30" name="solo-note-2">
            <a:extLst xmlns:a="http://schemas.openxmlformats.org/drawingml/2006/main">
              <a:ext uri="{FF2B5EF4-FFF2-40B4-BE49-F238E27FC236}">
                <a16:creationId xmlns:a16="http://schemas.microsoft.com/office/drawing/2014/main" id="{BC9641F3-9F86-4E13-B6D4-ED3C0744C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028950"/>
            <a:ext cx="495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t>♪</a:t>
            </a:r>
          </a:p>
        </p:txBody>
      </p:sp>
      <p:sp>
        <p:nvSpPr>
          <p:cNvPr id="31" name="solo-label-3">
            <a:extLst xmlns:a="http://schemas.openxmlformats.org/drawingml/2006/main">
              <a:ext uri="{FF2B5EF4-FFF2-40B4-BE49-F238E27FC236}">
                <a16:creationId xmlns:a16="http://schemas.microsoft.com/office/drawing/2014/main" id="{E27DE9B7-A061-45F1-A338-AE2285A1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policy</a:t>
            </a:r>
          </a:p>
        </p:txBody>
      </p:sp>
      <p:sp>
        <p:nvSpPr>
          <p:cNvPr id="32" name="solo-note-3">
            <a:extLst xmlns:a="http://schemas.openxmlformats.org/drawingml/2006/main">
              <a:ext uri="{FF2B5EF4-FFF2-40B4-BE49-F238E27FC236}">
                <a16:creationId xmlns:a16="http://schemas.microsoft.com/office/drawing/2014/main" id="{C61B03C8-FE15-44CC-8B31-F0471B656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3524250"/>
            <a:ext cx="495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♫</a:t>
            </a:r>
          </a:p>
        </p:txBody>
      </p:sp>
      <p:sp>
        <p:nvSpPr>
          <p:cNvPr id="33" name="solo-label-4">
            <a:extLst xmlns:a="http://schemas.openxmlformats.org/drawingml/2006/main">
              <a:ext uri="{FF2B5EF4-FFF2-40B4-BE49-F238E27FC236}">
                <a16:creationId xmlns:a16="http://schemas.microsoft.com/office/drawing/2014/main" id="{3833DB86-3AF9-4486-8CAB-07E2EA57E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3385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fixtures</a:t>
            </a:r>
          </a:p>
        </p:txBody>
      </p:sp>
      <p:sp>
        <p:nvSpPr>
          <p:cNvPr id="34" name="solo-note-4">
            <a:extLst xmlns:a="http://schemas.openxmlformats.org/drawingml/2006/main">
              <a:ext uri="{FF2B5EF4-FFF2-40B4-BE49-F238E27FC236}">
                <a16:creationId xmlns:a16="http://schemas.microsoft.com/office/drawing/2014/main" id="{E1040F11-1205-4312-ADF5-E96C9B91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019550"/>
            <a:ext cx="495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♪</a:t>
            </a:r>
          </a:p>
        </p:txBody>
      </p:sp>
      <p:sp>
        <p:nvSpPr>
          <p:cNvPr id="35" name="solo-label-5">
            <a:extLst xmlns:a="http://schemas.openxmlformats.org/drawingml/2006/main">
              <a:ext uri="{FF2B5EF4-FFF2-40B4-BE49-F238E27FC236}">
                <a16:creationId xmlns:a16="http://schemas.microsoft.com/office/drawing/2014/main" id="{CE04CF43-E9E2-477A-9E87-1F7E62EDA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2915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t>TUI</a:t>
            </a:r>
          </a:p>
        </p:txBody>
      </p:sp>
      <p:sp>
        <p:nvSpPr>
          <p:cNvPr id="36" name="solo-note-5">
            <a:extLst xmlns:a="http://schemas.openxmlformats.org/drawingml/2006/main">
              <a:ext uri="{FF2B5EF4-FFF2-40B4-BE49-F238E27FC236}">
                <a16:creationId xmlns:a16="http://schemas.microsoft.com/office/drawing/2014/main" id="{994EBB4B-2337-4A98-B5AA-72FA6ED13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514850"/>
            <a:ext cx="495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t>♫</a:t>
            </a:r>
          </a:p>
        </p:txBody>
      </p:sp>
      <p:sp>
        <p:nvSpPr>
          <p:cNvPr id="37" name="solo-label-6">
            <a:extLst xmlns:a="http://schemas.openxmlformats.org/drawingml/2006/main">
              <a:ext uri="{FF2B5EF4-FFF2-40B4-BE49-F238E27FC236}">
                <a16:creationId xmlns:a16="http://schemas.microsoft.com/office/drawing/2014/main" id="{ADFE73AE-DF5F-44D5-AB33-E1F5D4BF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2445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boundary</a:t>
            </a:r>
          </a:p>
        </p:txBody>
      </p:sp>
      <p:sp>
        <p:nvSpPr>
          <p:cNvPr id="38" name="solo-note-6">
            <a:extLst xmlns:a="http://schemas.openxmlformats.org/drawingml/2006/main">
              <a:ext uri="{FF2B5EF4-FFF2-40B4-BE49-F238E27FC236}">
                <a16:creationId xmlns:a16="http://schemas.microsoft.com/office/drawing/2014/main" id="{146DA8D3-D661-4797-A4E4-BFE0783A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010150"/>
            <a:ext cx="495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♪</a:t>
            </a:r>
          </a:p>
        </p:txBody>
      </p:sp>
      <p:sp>
        <p:nvSpPr>
          <p:cNvPr id="39" name="orchestra-caption">
            <a:extLst xmlns:a="http://schemas.openxmlformats.org/drawingml/2006/main">
              <a:ext uri="{FF2B5EF4-FFF2-40B4-BE49-F238E27FC236}">
                <a16:creationId xmlns:a16="http://schemas.microsoft.com/office/drawing/2014/main" id="{409939DC-0DF0-493A-8162-C85E809F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933950"/>
            <a:ext cx="36576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Individually useful.
Collectively trustworthy only when one command owns the order.</a:t>
            </a:r>
          </a:p>
        </p:txBody>
      </p:sp>
      <p:sp>
        <p:nvSpPr>
          <p:cNvPr id="40" name="orchestra-punchline">
            <a:extLst xmlns:a="http://schemas.openxmlformats.org/drawingml/2006/main">
              <a:ext uri="{FF2B5EF4-FFF2-40B4-BE49-F238E27FC236}">
                <a16:creationId xmlns:a16="http://schemas.microsoft.com/office/drawing/2014/main" id="{89E419F9-B295-4411-BF94-5F1BAD5A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62650"/>
            <a:ext cx="11277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orchestra-punchline-text">
            <a:extLst xmlns:a="http://schemas.openxmlformats.org/drawingml/2006/main">
              <a:ext uri="{FF2B5EF4-FFF2-40B4-BE49-F238E27FC236}">
                <a16:creationId xmlns:a16="http://schemas.microsoft.com/office/drawing/2014/main" id="{8F24F51E-6CD2-4B29-93F2-F25D319B7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76950"/>
            <a:ext cx="1070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The product is not a pile of green commands—it is one reproducible decision.</a:t>
            </a:r>
          </a:p>
        </p:txBody>
      </p:sp>
    </p:spTree>
    <p:extLst>
      <p:ext uri="{BB962C8B-B14F-4D97-AF65-F5344CB8AC3E}">
        <p14:creationId xmlns:p14="http://schemas.microsoft.com/office/powerpoint/2010/main" val="11879325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3">
            <a:extLst xmlns:a="http://schemas.openxmlformats.org/drawingml/2006/main">
              <a:ext uri="{FF2B5EF4-FFF2-40B4-BE49-F238E27FC236}">
                <a16:creationId xmlns:a16="http://schemas.microsoft.com/office/drawing/2014/main" id="{55DBA4A9-FE9D-4DAF-B462-73A961299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DC728A72-C715-4920-9B19-FD198FE2E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Eleven named stations make failures attributable</a:t>
            </a:r>
          </a:p>
        </p:txBody>
      </p:sp>
      <p:cxnSp>
        <p:nvCxnSpPr>
          <p:cNvPr id="43" name="header-rule-3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3">
            <a:extLst xmlns:a="http://schemas.openxmlformats.org/drawingml/2006/main">
              <a:ext uri="{FF2B5EF4-FFF2-40B4-BE49-F238E27FC236}">
                <a16:creationId xmlns:a16="http://schemas.microsoft.com/office/drawing/2014/main" id="{75C656D6-1A5C-42EE-90D8-7A5208D8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  <p:cxnSp>
        <p:nvCxnSpPr>
          <p:cNvPr id="45" name="station-line-0"/>
          <p:cNvCxnSpPr/>
          <p:nvPr/>
        </p:nvCxnSpPr>
        <p:spPr>
          <a:xfrm xmlns:a="http://schemas.openxmlformats.org/drawingml/2006/main">
            <a:off x="3124200" y="2266950"/>
            <a:ext cx="798195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38BDF8"/>
            </a:solidFill>
            <a:prstDash val="solid"/>
          </a:ln>
        </p:spPr>
      </p:cxnSp>
      <p:sp>
        <p:nvSpPr>
          <p:cNvPr id="6" name="station-group-0">
            <a:extLst xmlns:a="http://schemas.openxmlformats.org/drawingml/2006/main">
              <a:ext uri="{FF2B5EF4-FFF2-40B4-BE49-F238E27FC236}">
                <a16:creationId xmlns:a16="http://schemas.microsoft.com/office/drawing/2014/main" id="{273F3606-6C61-4293-AA89-8ED3443F4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81200"/>
            <a:ext cx="2324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8BDF8"/>
                </a:solidFill>
                <a:latin typeface="Aptos"/>
                <a:ea typeface="Aptos"/>
                <a:cs typeface="Aptos"/>
              </a:defRPr>
            </a:pPr>
            <a:r>
              <a:t>PYTHON CORE  •  4</a:t>
            </a:r>
          </a:p>
        </p:txBody>
      </p:sp>
      <p:sp>
        <p:nvSpPr>
          <p:cNvPr id="7" name="station-dot-0-0">
            <a:extLst xmlns:a="http://schemas.openxmlformats.org/drawingml/2006/main">
              <a:ext uri="{FF2B5EF4-FFF2-40B4-BE49-F238E27FC236}">
                <a16:creationId xmlns:a16="http://schemas.microsoft.com/office/drawing/2014/main" id="{46663232-0D28-4F31-8E04-92C83DEC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1240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8" name="station-label-0-0">
            <a:extLst xmlns:a="http://schemas.openxmlformats.org/drawingml/2006/main">
              <a:ext uri="{FF2B5EF4-FFF2-40B4-BE49-F238E27FC236}">
                <a16:creationId xmlns:a16="http://schemas.microsoft.com/office/drawing/2014/main" id="{CC0D9648-2CE7-4BAE-BE13-063AF1BC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3812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lock + environment</a:t>
            </a:r>
          </a:p>
        </p:txBody>
      </p:sp>
      <p:sp>
        <p:nvSpPr>
          <p:cNvPr id="9" name="station-dot-0-1">
            <a:extLst xmlns:a="http://schemas.openxmlformats.org/drawingml/2006/main">
              <a:ext uri="{FF2B5EF4-FFF2-40B4-BE49-F238E27FC236}">
                <a16:creationId xmlns:a16="http://schemas.microsoft.com/office/drawing/2014/main" id="{9CA86018-EAB8-4A81-9A1A-D04E79D7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1975" y="21240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10" name="station-label-0-1">
            <a:extLst xmlns:a="http://schemas.openxmlformats.org/drawingml/2006/main">
              <a:ext uri="{FF2B5EF4-FFF2-40B4-BE49-F238E27FC236}">
                <a16:creationId xmlns:a16="http://schemas.microsoft.com/office/drawing/2014/main" id="{9FAE0214-0824-4025-8A8B-AEE36497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4250" y="23812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lint + docstrings</a:t>
            </a:r>
          </a:p>
        </p:txBody>
      </p:sp>
      <p:sp>
        <p:nvSpPr>
          <p:cNvPr id="11" name="station-dot-0-2">
            <a:extLst xmlns:a="http://schemas.openxmlformats.org/drawingml/2006/main">
              <a:ext uri="{FF2B5EF4-FFF2-40B4-BE49-F238E27FC236}">
                <a16:creationId xmlns:a16="http://schemas.microsoft.com/office/drawing/2014/main" id="{7DFE8E46-1279-4244-A6D0-18B8710A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625" y="21240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12" name="station-label-0-2">
            <a:extLst xmlns:a="http://schemas.openxmlformats.org/drawingml/2006/main">
              <a:ext uri="{FF2B5EF4-FFF2-40B4-BE49-F238E27FC236}">
                <a16:creationId xmlns:a16="http://schemas.microsoft.com/office/drawing/2014/main" id="{600AFBD3-E2FE-49E9-83D3-C8DD2946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900" y="23812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format</a:t>
            </a:r>
          </a:p>
        </p:txBody>
      </p:sp>
      <p:sp>
        <p:nvSpPr>
          <p:cNvPr id="13" name="station-dot-0-3">
            <a:extLst xmlns:a="http://schemas.openxmlformats.org/drawingml/2006/main">
              <a:ext uri="{FF2B5EF4-FFF2-40B4-BE49-F238E27FC236}">
                <a16:creationId xmlns:a16="http://schemas.microsoft.com/office/drawing/2014/main" id="{17508F93-96C5-4666-97BA-DB148C69A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3275" y="21240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14" name="station-label-0-3">
            <a:extLst xmlns:a="http://schemas.openxmlformats.org/drawingml/2006/main">
              <a:ext uri="{FF2B5EF4-FFF2-40B4-BE49-F238E27FC236}">
                <a16:creationId xmlns:a16="http://schemas.microsoft.com/office/drawing/2014/main" id="{CE08F5C4-07EF-4CC6-89C6-18FE3826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3812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core tests</a:t>
            </a:r>
          </a:p>
        </p:txBody>
      </p:sp>
      <p:cxnSp>
        <p:nvCxnSpPr>
          <p:cNvPr id="55" name="station-line-1"/>
          <p:cNvCxnSpPr/>
          <p:nvPr/>
        </p:nvCxnSpPr>
        <p:spPr>
          <a:xfrm xmlns:a="http://schemas.openxmlformats.org/drawingml/2006/main">
            <a:off x="3124200" y="3143250"/>
            <a:ext cx="798195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8B5CF6"/>
            </a:solidFill>
            <a:prstDash val="solid"/>
          </a:ln>
        </p:spPr>
      </p:cxnSp>
      <p:sp>
        <p:nvSpPr>
          <p:cNvPr id="16" name="station-group-1">
            <a:extLst xmlns:a="http://schemas.openxmlformats.org/drawingml/2006/main">
              <a:ext uri="{FF2B5EF4-FFF2-40B4-BE49-F238E27FC236}">
                <a16:creationId xmlns:a16="http://schemas.microsoft.com/office/drawing/2014/main" id="{7352ADFF-2631-47F6-9C85-699BAE4D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0"/>
            <a:ext cx="2324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TRUST BOUNDARY  •  2</a:t>
            </a:r>
          </a:p>
        </p:txBody>
      </p:sp>
      <p:sp>
        <p:nvSpPr>
          <p:cNvPr id="17" name="station-dot-1-0">
            <a:extLst xmlns:a="http://schemas.openxmlformats.org/drawingml/2006/main">
              <a:ext uri="{FF2B5EF4-FFF2-40B4-BE49-F238E27FC236}">
                <a16:creationId xmlns:a16="http://schemas.microsoft.com/office/drawing/2014/main" id="{BDAACEBE-695C-44E6-A056-BE1385A54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0003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18" name="station-label-1-0">
            <a:extLst xmlns:a="http://schemas.openxmlformats.org/drawingml/2006/main">
              <a:ext uri="{FF2B5EF4-FFF2-40B4-BE49-F238E27FC236}">
                <a16:creationId xmlns:a16="http://schemas.microsoft.com/office/drawing/2014/main" id="{C1FEDACF-2214-4578-A247-21F321CC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2575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Python fixtures</a:t>
            </a:r>
          </a:p>
        </p:txBody>
      </p:sp>
      <p:sp>
        <p:nvSpPr>
          <p:cNvPr id="19" name="station-dot-1-1">
            <a:extLst xmlns:a="http://schemas.openxmlformats.org/drawingml/2006/main">
              <a:ext uri="{FF2B5EF4-FFF2-40B4-BE49-F238E27FC236}">
                <a16:creationId xmlns:a16="http://schemas.microsoft.com/office/drawing/2014/main" id="{994FABFE-D23B-46D9-A9BC-14811B304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3275" y="30003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20" name="station-label-1-1">
            <a:extLst xmlns:a="http://schemas.openxmlformats.org/drawingml/2006/main">
              <a:ext uri="{FF2B5EF4-FFF2-40B4-BE49-F238E27FC236}">
                <a16:creationId xmlns:a16="http://schemas.microsoft.com/office/drawing/2014/main" id="{27A8E026-9447-4DAB-A8F9-5DC974512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2575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repository policy</a:t>
            </a:r>
          </a:p>
        </p:txBody>
      </p:sp>
      <p:cxnSp>
        <p:nvCxnSpPr>
          <p:cNvPr id="61" name="station-line-2"/>
          <p:cNvCxnSpPr/>
          <p:nvPr/>
        </p:nvCxnSpPr>
        <p:spPr>
          <a:xfrm xmlns:a="http://schemas.openxmlformats.org/drawingml/2006/main">
            <a:off x="3124200" y="4019550"/>
            <a:ext cx="798195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FF6B6B"/>
            </a:solidFill>
            <a:prstDash val="solid"/>
          </a:ln>
        </p:spPr>
      </p:cxnSp>
      <p:sp>
        <p:nvSpPr>
          <p:cNvPr id="22" name="station-group-2">
            <a:extLst xmlns:a="http://schemas.openxmlformats.org/drawingml/2006/main">
              <a:ext uri="{FF2B5EF4-FFF2-40B4-BE49-F238E27FC236}">
                <a16:creationId xmlns:a16="http://schemas.microsoft.com/office/drawing/2014/main" id="{0FB1A39E-5FB6-4727-9B91-5F144B181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33800"/>
            <a:ext cx="2324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TUI CORE  •  3</a:t>
            </a:r>
          </a:p>
        </p:txBody>
      </p:sp>
      <p:sp>
        <p:nvSpPr>
          <p:cNvPr id="23" name="station-dot-2-0">
            <a:extLst xmlns:a="http://schemas.openxmlformats.org/drawingml/2006/main">
              <a:ext uri="{FF2B5EF4-FFF2-40B4-BE49-F238E27FC236}">
                <a16:creationId xmlns:a16="http://schemas.microsoft.com/office/drawing/2014/main" id="{AB7EC97D-A4CA-4325-82C3-E70524C9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8766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24" name="station-label-2-0">
            <a:extLst xmlns:a="http://schemas.openxmlformats.org/drawingml/2006/main">
              <a:ext uri="{FF2B5EF4-FFF2-40B4-BE49-F238E27FC236}">
                <a16:creationId xmlns:a16="http://schemas.microsoft.com/office/drawing/2014/main" id="{970F7E8E-2CCD-4F2E-9C22-954A33781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1338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typecheck</a:t>
            </a:r>
          </a:p>
        </p:txBody>
      </p:sp>
      <p:sp>
        <p:nvSpPr>
          <p:cNvPr id="25" name="station-dot-2-1">
            <a:extLst xmlns:a="http://schemas.openxmlformats.org/drawingml/2006/main">
              <a:ext uri="{FF2B5EF4-FFF2-40B4-BE49-F238E27FC236}">
                <a16:creationId xmlns:a16="http://schemas.microsoft.com/office/drawing/2014/main" id="{B8B23E87-9DE0-4C01-B522-7D301552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8766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26" name="station-label-2-1">
            <a:extLst xmlns:a="http://schemas.openxmlformats.org/drawingml/2006/main">
              <a:ext uri="{FF2B5EF4-FFF2-40B4-BE49-F238E27FC236}">
                <a16:creationId xmlns:a16="http://schemas.microsoft.com/office/drawing/2014/main" id="{48902407-B540-4FCC-8D30-FC7D6739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41338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lint</a:t>
            </a:r>
          </a:p>
        </p:txBody>
      </p:sp>
      <p:sp>
        <p:nvSpPr>
          <p:cNvPr id="27" name="station-dot-2-2">
            <a:extLst xmlns:a="http://schemas.openxmlformats.org/drawingml/2006/main">
              <a:ext uri="{FF2B5EF4-FFF2-40B4-BE49-F238E27FC236}">
                <a16:creationId xmlns:a16="http://schemas.microsoft.com/office/drawing/2014/main" id="{74AFFCC7-92D6-41CB-BA8E-BB89D0A33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3275" y="38766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28" name="station-label-2-2">
            <a:extLst xmlns:a="http://schemas.openxmlformats.org/drawingml/2006/main">
              <a:ext uri="{FF2B5EF4-FFF2-40B4-BE49-F238E27FC236}">
                <a16:creationId xmlns:a16="http://schemas.microsoft.com/office/drawing/2014/main" id="{FC1830F8-5D1B-40F9-BFF4-7FF1D296A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1338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core tests</a:t>
            </a:r>
          </a:p>
        </p:txBody>
      </p:sp>
      <p:cxnSp>
        <p:nvCxnSpPr>
          <p:cNvPr id="69" name="station-line-3"/>
          <p:cNvCxnSpPr/>
          <p:nvPr/>
        </p:nvCxnSpPr>
        <p:spPr>
          <a:xfrm xmlns:a="http://schemas.openxmlformats.org/drawingml/2006/main">
            <a:off x="3124200" y="4895850"/>
            <a:ext cx="798195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22C55E"/>
            </a:solidFill>
            <a:prstDash val="solid"/>
          </a:ln>
        </p:spPr>
      </p:cxnSp>
      <p:sp>
        <p:nvSpPr>
          <p:cNvPr id="30" name="station-group-3">
            <a:extLst xmlns:a="http://schemas.openxmlformats.org/drawingml/2006/main">
              <a:ext uri="{FF2B5EF4-FFF2-40B4-BE49-F238E27FC236}">
                <a16:creationId xmlns:a16="http://schemas.microsoft.com/office/drawing/2014/main" id="{DF6C3A9D-A98F-48A3-9104-A27A358E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0100"/>
            <a:ext cx="2324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CROSS-PROCESS  •  2</a:t>
            </a:r>
          </a:p>
        </p:txBody>
      </p:sp>
      <p:sp>
        <p:nvSpPr>
          <p:cNvPr id="31" name="station-dot-3-0">
            <a:extLst xmlns:a="http://schemas.openxmlformats.org/drawingml/2006/main">
              <a:ext uri="{FF2B5EF4-FFF2-40B4-BE49-F238E27FC236}">
                <a16:creationId xmlns:a16="http://schemas.microsoft.com/office/drawing/2014/main" id="{A6E5158B-69C8-4EF4-87D9-B1822B6F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7529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32" name="station-label-3-0">
            <a:extLst xmlns:a="http://schemas.openxmlformats.org/drawingml/2006/main">
              <a:ext uri="{FF2B5EF4-FFF2-40B4-BE49-F238E27FC236}">
                <a16:creationId xmlns:a16="http://schemas.microsoft.com/office/drawing/2014/main" id="{B777981A-C2C4-460B-8203-637B6216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0101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TypeScript fixtures</a:t>
            </a:r>
          </a:p>
        </p:txBody>
      </p:sp>
      <p:sp>
        <p:nvSpPr>
          <p:cNvPr id="33" name="station-dot-3-1">
            <a:extLst xmlns:a="http://schemas.openxmlformats.org/drawingml/2006/main">
              <a:ext uri="{FF2B5EF4-FFF2-40B4-BE49-F238E27FC236}">
                <a16:creationId xmlns:a16="http://schemas.microsoft.com/office/drawing/2014/main" id="{E077724A-F211-46B5-A8BE-7266255E0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3275" y="47529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34" name="station-label-3-1">
            <a:extLst xmlns:a="http://schemas.openxmlformats.org/drawingml/2006/main">
              <a:ext uri="{FF2B5EF4-FFF2-40B4-BE49-F238E27FC236}">
                <a16:creationId xmlns:a16="http://schemas.microsoft.com/office/drawing/2014/main" id="{C9F941D9-C393-47CD-B59C-D19F7C893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0101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Node–Python integration</a:t>
            </a:r>
          </a:p>
        </p:txBody>
      </p:sp>
      <p:sp>
        <p:nvSpPr>
          <p:cNvPr id="35" name="spine-fail">
            <a:extLst xmlns:a="http://schemas.openxmlformats.org/drawingml/2006/main">
              <a:ext uri="{FF2B5EF4-FFF2-40B4-BE49-F238E27FC236}">
                <a16:creationId xmlns:a16="http://schemas.microsoft.com/office/drawing/2014/main" id="{035A0273-A8B1-4B92-BFC2-25E9D1DC3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57850"/>
            <a:ext cx="66865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9050">
            <a:solidFill>
              <a:srgbClr val="FF6B6B"/>
            </a:solidFill>
            <a:prstDash val="solid"/>
          </a:ln>
        </p:spPr>
      </p:sp>
      <p:sp>
        <p:nvSpPr>
          <p:cNvPr id="36" name="spine-fail-icon">
            <a:extLst xmlns:a="http://schemas.openxmlformats.org/drawingml/2006/main">
              <a:ext uri="{FF2B5EF4-FFF2-40B4-BE49-F238E27FC236}">
                <a16:creationId xmlns:a16="http://schemas.microsoft.com/office/drawing/2014/main" id="{B9862960-81A9-45A2-90F6-01708BC10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476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!</a:t>
            </a:r>
          </a:p>
        </p:txBody>
      </p:sp>
      <p:sp>
        <p:nvSpPr>
          <p:cNvPr id="37" name="spine-fail-text">
            <a:extLst xmlns:a="http://schemas.openxmlformats.org/drawingml/2006/main">
              <a:ext uri="{FF2B5EF4-FFF2-40B4-BE49-F238E27FC236}">
                <a16:creationId xmlns:a16="http://schemas.microsoft.com/office/drawing/2014/main" id="{021803D5-5944-4194-B27D-8F85E9C3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781675"/>
            <a:ext cx="54673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First failure stops the train;
the last  ==&gt;  label names the layer.</a:t>
            </a:r>
          </a:p>
        </p:txBody>
      </p:sp>
      <p:sp>
        <p:nvSpPr>
          <p:cNvPr id="38" name="spine-pass">
            <a:extLst xmlns:a="http://schemas.openxmlformats.org/drawingml/2006/main">
              <a:ext uri="{FF2B5EF4-FFF2-40B4-BE49-F238E27FC236}">
                <a16:creationId xmlns:a16="http://schemas.microsoft.com/office/drawing/2014/main" id="{0B7D5DAE-74F8-4978-B5F1-5C57F026D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657850"/>
            <a:ext cx="4286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9F9EF"/>
          </a:solidFill>
          <a:ln xmlns:a="http://schemas.openxmlformats.org/drawingml/2006/main" w="19050">
            <a:solidFill>
              <a:srgbClr val="22C55E"/>
            </a:solidFill>
            <a:prstDash val="solid"/>
          </a:ln>
        </p:spPr>
      </p:sp>
      <p:sp>
        <p:nvSpPr>
          <p:cNvPr id="39" name="spine-pass-icon">
            <a:extLst xmlns:a="http://schemas.openxmlformats.org/drawingml/2006/main">
              <a:ext uri="{FF2B5EF4-FFF2-40B4-BE49-F238E27FC236}">
                <a16:creationId xmlns:a16="http://schemas.microsoft.com/office/drawing/2014/main" id="{2E8D5B72-D79B-41A9-9251-9F95D251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762625"/>
            <a:ext cx="4953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40" name="spine-pass-text">
            <a:extLst xmlns:a="http://schemas.openxmlformats.org/drawingml/2006/main">
              <a:ext uri="{FF2B5EF4-FFF2-40B4-BE49-F238E27FC236}">
                <a16:creationId xmlns:a16="http://schemas.microsoft.com/office/drawing/2014/main" id="{30FAE219-CEA2-476D-8B58-FE9996E83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781675"/>
            <a:ext cx="30670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Only after station 11:
All repository checks passed.</a:t>
            </a:r>
          </a:p>
        </p:txBody>
      </p:sp>
    </p:spTree>
    <p:extLst>
      <p:ext uri="{BB962C8B-B14F-4D97-AF65-F5344CB8AC3E}">
        <p14:creationId xmlns:p14="http://schemas.microsoft.com/office/powerpoint/2010/main" val="20623412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4">
            <a:extLst xmlns:a="http://schemas.openxmlformats.org/drawingml/2006/main">
              <a:ext uri="{FF2B5EF4-FFF2-40B4-BE49-F238E27FC236}">
                <a16:creationId xmlns:a16="http://schemas.microsoft.com/office/drawing/2014/main" id="{AFA36575-BE3F-494C-A3BB-784D24E41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315ADD27-6B2A-4424-ACC7-9686AC848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Setup may fetch; validation closes the airlock</a:t>
            </a:r>
          </a:p>
        </p:txBody>
      </p:sp>
      <p:cxnSp>
        <p:nvCxnSpPr>
          <p:cNvPr id="26" name="header-rule-4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4">
            <a:extLst xmlns:a="http://schemas.openxmlformats.org/drawingml/2006/main">
              <a:ext uri="{FF2B5EF4-FFF2-40B4-BE49-F238E27FC236}">
                <a16:creationId xmlns:a16="http://schemas.microsoft.com/office/drawing/2014/main" id="{6D5CFFE5-ACA5-4745-B2D8-3D2612E7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04</a:t>
            </a:r>
          </a:p>
        </p:txBody>
      </p:sp>
      <p:cxnSp>
        <p:nvCxnSpPr>
          <p:cNvPr id="28" name="airlock-bridge"/>
          <p:cNvCxnSpPr/>
          <p:nvPr/>
        </p:nvCxnSpPr>
        <p:spPr>
          <a:xfrm xmlns:a="http://schemas.openxmlformats.org/drawingml/2006/main">
            <a:off x="4438650" y="3486150"/>
            <a:ext cx="3333750" cy="953"/>
          </a:xfrm>
          <a:prstGeom xmlns:a="http://schemas.openxmlformats.org/drawingml/2006/main" prst="straightConnector1">
            <a:avLst/>
          </a:prstGeom>
          <a:ln xmlns:a="http://schemas.openxmlformats.org/drawingml/2006/main" w="152400">
            <a:solidFill>
              <a:srgbClr val="CBD5E1"/>
            </a:solidFill>
            <a:prstDash val="solid"/>
          </a:ln>
        </p:spPr>
      </p:cxnSp>
      <p:sp>
        <p:nvSpPr>
          <p:cNvPr id="6" name="airlock-arrow">
            <a:extLst xmlns:a="http://schemas.openxmlformats.org/drawingml/2006/main">
              <a:ext uri="{FF2B5EF4-FFF2-40B4-BE49-F238E27FC236}">
                <a16:creationId xmlns:a16="http://schemas.microsoft.com/office/drawing/2014/main" id="{3E14D694-E811-47A2-A6C9-D3FC54523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38500"/>
            <a:ext cx="914400" cy="495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etup-island">
            <a:extLst xmlns:a="http://schemas.openxmlformats.org/drawingml/2006/main">
              <a:ext uri="{FF2B5EF4-FFF2-40B4-BE49-F238E27FC236}">
                <a16:creationId xmlns:a16="http://schemas.microsoft.com/office/drawing/2014/main" id="{0B7EF870-6AA3-49A6-9811-3F1DD7BF3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36766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6F7FD"/>
          </a:solidFill>
          <a:ln xmlns:a="http://schemas.openxmlformats.org/drawingml/2006/main" w="28575">
            <a:solidFill>
              <a:srgbClr val="38BDF8"/>
            </a:solidFill>
            <a:prstDash val="solid"/>
          </a:ln>
        </p:spPr>
      </p:sp>
      <p:sp>
        <p:nvSpPr>
          <p:cNvPr id="8" name="check-island">
            <a:extLst xmlns:a="http://schemas.openxmlformats.org/drawingml/2006/main">
              <a:ext uri="{FF2B5EF4-FFF2-40B4-BE49-F238E27FC236}">
                <a16:creationId xmlns:a16="http://schemas.microsoft.com/office/drawing/2014/main" id="{17A99439-E441-49B7-BFC0-D4AD88E20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6766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9F9EF"/>
          </a:solidFill>
          <a:ln xmlns:a="http://schemas.openxmlformats.org/drawingml/2006/main" w="28575">
            <a:solidFill>
              <a:srgbClr val="22C55E"/>
            </a:solidFill>
            <a:prstDash val="solid"/>
          </a:ln>
        </p:spPr>
      </p:sp>
      <p:sp>
        <p:nvSpPr>
          <p:cNvPr id="9" name="airlock-door">
            <a:extLst xmlns:a="http://schemas.openxmlformats.org/drawingml/2006/main">
              <a:ext uri="{FF2B5EF4-FFF2-40B4-BE49-F238E27FC236}">
                <a16:creationId xmlns:a16="http://schemas.microsoft.com/office/drawing/2014/main" id="{29EA2643-C09F-4FA3-9464-B41F5746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47900"/>
            <a:ext cx="118110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irlock-lock">
            <a:extLst xmlns:a="http://schemas.openxmlformats.org/drawingml/2006/main">
              <a:ext uri="{FF2B5EF4-FFF2-40B4-BE49-F238E27FC236}">
                <a16:creationId xmlns:a16="http://schemas.microsoft.com/office/drawing/2014/main" id="{3354A0AB-FA91-44DE-A576-A76875E9C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146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irlock-keyhole">
            <a:extLst xmlns:a="http://schemas.openxmlformats.org/drawingml/2006/main">
              <a:ext uri="{FF2B5EF4-FFF2-40B4-BE49-F238E27FC236}">
                <a16:creationId xmlns:a16="http://schemas.microsoft.com/office/drawing/2014/main" id="{3471CDBF-BE90-4BF6-BF49-39DA28582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390900"/>
            <a:ext cx="133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irlock-cross">
            <a:extLst xmlns:a="http://schemas.openxmlformats.org/drawingml/2006/main">
              <a:ext uri="{FF2B5EF4-FFF2-40B4-BE49-F238E27FC236}">
                <a16:creationId xmlns:a16="http://schemas.microsoft.com/office/drawing/2014/main" id="{FDDBC0D5-0B4D-41E4-AC74-6252014D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267200"/>
            <a:ext cx="8001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×</a:t>
            </a:r>
          </a:p>
        </p:txBody>
      </p:sp>
      <p:sp>
        <p:nvSpPr>
          <p:cNvPr id="13" name="setup-label">
            <a:extLst xmlns:a="http://schemas.openxmlformats.org/drawingml/2006/main">
              <a:ext uri="{FF2B5EF4-FFF2-40B4-BE49-F238E27FC236}">
                <a16:creationId xmlns:a16="http://schemas.microsoft.com/office/drawing/2014/main" id="{8C519B78-92A1-421D-BE1A-ED989BF19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3067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8BDF8"/>
                </a:solidFill>
                <a:latin typeface="Aptos"/>
                <a:ea typeface="Aptos"/>
                <a:cs typeface="Aptos"/>
              </a:defRPr>
            </a:pPr>
            <a:r>
              <a:t>SETUP ZONE</a:t>
            </a:r>
          </a:p>
        </p:txBody>
      </p:sp>
      <p:sp>
        <p:nvSpPr>
          <p:cNvPr id="14" name="setup-title">
            <a:extLst xmlns:a="http://schemas.openxmlformats.org/drawingml/2006/main">
              <a:ext uri="{FF2B5EF4-FFF2-40B4-BE49-F238E27FC236}">
                <a16:creationId xmlns:a16="http://schemas.microsoft.com/office/drawing/2014/main" id="{D3E7CFC8-B2A5-4E3C-9FAA-B84CE1846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76550"/>
            <a:ext cx="3067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Reproducible installs</a:t>
            </a:r>
          </a:p>
        </p:txBody>
      </p:sp>
      <p:sp>
        <p:nvSpPr>
          <p:cNvPr id="15" name="setup-command-1">
            <a:extLst xmlns:a="http://schemas.openxmlformats.org/drawingml/2006/main">
              <a:ext uri="{FF2B5EF4-FFF2-40B4-BE49-F238E27FC236}">
                <a16:creationId xmlns:a16="http://schemas.microsoft.com/office/drawing/2014/main" id="{A5A32461-C557-4B35-B31C-1783AA76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4805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F33"/>
                </a:solidFill>
                <a:latin typeface="Consolas"/>
                <a:ea typeface="Consolas"/>
                <a:cs typeface="Consolas"/>
              </a:defRPr>
            </a:pPr>
            <a:r>
              <a:t>uv sync --dev</a:t>
            </a:r>
          </a:p>
        </p:txBody>
      </p:sp>
      <p:sp>
        <p:nvSpPr>
          <p:cNvPr id="16" name="setup-command-2">
            <a:extLst xmlns:a="http://schemas.openxmlformats.org/drawingml/2006/main">
              <a:ext uri="{FF2B5EF4-FFF2-40B4-BE49-F238E27FC236}">
                <a16:creationId xmlns:a16="http://schemas.microsoft.com/office/drawing/2014/main" id="{45F03783-538C-4FA6-805A-EDD63299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67150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33"/>
                </a:solidFill>
                <a:latin typeface="Consolas"/>
                <a:ea typeface="Consolas"/>
                <a:cs typeface="Consolas"/>
              </a:defRPr>
            </a:pPr>
            <a:r>
              <a:t>CI: uv sync --locked</a:t>
            </a:r>
          </a:p>
        </p:txBody>
      </p:sp>
      <p:sp>
        <p:nvSpPr>
          <p:cNvPr id="17" name="setup-command-3">
            <a:extLst xmlns:a="http://schemas.openxmlformats.org/drawingml/2006/main">
              <a:ext uri="{FF2B5EF4-FFF2-40B4-BE49-F238E27FC236}">
                <a16:creationId xmlns:a16="http://schemas.microsoft.com/office/drawing/2014/main" id="{A5B0A69D-69A8-4EA0-94C9-D2751A03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33"/>
                </a:solidFill>
                <a:latin typeface="Consolas"/>
                <a:ea typeface="Consolas"/>
                <a:cs typeface="Consolas"/>
              </a:defRPr>
            </a:pPr>
            <a:r>
              <a:t>npm --prefix tui ci</a:t>
            </a:r>
          </a:p>
        </p:txBody>
      </p:sp>
      <p:sp>
        <p:nvSpPr>
          <p:cNvPr id="18" name="setup-caption">
            <a:extLst xmlns:a="http://schemas.openxmlformats.org/drawingml/2006/main">
              <a:ext uri="{FF2B5EF4-FFF2-40B4-BE49-F238E27FC236}">
                <a16:creationId xmlns:a16="http://schemas.microsoft.com/office/drawing/2014/main" id="{223F6D90-FB63-4883-9341-DCA4CB90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2857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Network is allowed only to prepare
the locked environment.</a:t>
            </a:r>
          </a:p>
        </p:txBody>
      </p:sp>
      <p:sp>
        <p:nvSpPr>
          <p:cNvPr id="19" name="check-label">
            <a:extLst xmlns:a="http://schemas.openxmlformats.org/drawingml/2006/main">
              <a:ext uri="{FF2B5EF4-FFF2-40B4-BE49-F238E27FC236}">
                <a16:creationId xmlns:a16="http://schemas.microsoft.com/office/drawing/2014/main" id="{94C8EB80-B3B5-4A72-8134-F6318C769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19350"/>
            <a:ext cx="3067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CHECK ZONE</a:t>
            </a:r>
          </a:p>
        </p:txBody>
      </p:sp>
      <p:sp>
        <p:nvSpPr>
          <p:cNvPr id="20" name="check-title">
            <a:extLst xmlns:a="http://schemas.openxmlformats.org/drawingml/2006/main">
              <a:ext uri="{FF2B5EF4-FFF2-40B4-BE49-F238E27FC236}">
                <a16:creationId xmlns:a16="http://schemas.microsoft.com/office/drawing/2014/main" id="{8CAA68FC-DA01-489B-9F9C-E19AC5883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76550"/>
            <a:ext cx="3067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Offline guardrails active</a:t>
            </a:r>
          </a:p>
        </p:txBody>
      </p:sp>
      <p:sp>
        <p:nvSpPr>
          <p:cNvPr id="21" name="check-list">
            <a:extLst xmlns:a="http://schemas.openxmlformats.org/drawingml/2006/main">
              <a:ext uri="{FF2B5EF4-FFF2-40B4-BE49-F238E27FC236}">
                <a16:creationId xmlns:a16="http://schemas.microsoft.com/office/drawing/2014/main" id="{2CD5F18C-59FE-4336-9BE7-19CA1BBEF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09950"/>
            <a:ext cx="295275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33"/>
                </a:solidFill>
                <a:latin typeface="Consolas"/>
                <a:ea typeface="Consolas"/>
                <a:cs typeface="Consolas"/>
              </a:defRPr>
            </a:pPr>
            <a:r>
              <a:t>credentials unset
network guards active
uv sync --check
uv run --no-sync
offline + frozen</a:t>
            </a:r>
          </a:p>
        </p:txBody>
      </p:sp>
      <p:sp>
        <p:nvSpPr>
          <p:cNvPr id="22" name="airlock-caption">
            <a:extLst xmlns:a="http://schemas.openxmlformats.org/drawingml/2006/main">
              <a:ext uri="{FF2B5EF4-FFF2-40B4-BE49-F238E27FC236}">
                <a16:creationId xmlns:a16="http://schemas.microsoft.com/office/drawing/2014/main" id="{EDF7069D-D88F-4B17-9074-9FFDCDECF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619750"/>
            <a:ext cx="1333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STATIC GUARD</a:t>
            </a:r>
          </a:p>
        </p:txBody>
      </p:sp>
      <p:sp>
        <p:nvSpPr>
          <p:cNvPr id="23" name="airlock-note">
            <a:extLst xmlns:a="http://schemas.openxmlformats.org/drawingml/2006/main">
              <a:ext uri="{FF2B5EF4-FFF2-40B4-BE49-F238E27FC236}">
                <a16:creationId xmlns:a16="http://schemas.microsoft.com/office/drawing/2014/main" id="{FDCBB07C-CB75-4A65-9AF9-612ABDA9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981700"/>
            <a:ext cx="8610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Process guards + source denylist—not an OS sandbox. External links remain offline.</a:t>
            </a:r>
          </a:p>
        </p:txBody>
      </p:sp>
    </p:spTree>
    <p:extLst>
      <p:ext uri="{BB962C8B-B14F-4D97-AF65-F5344CB8AC3E}">
        <p14:creationId xmlns:p14="http://schemas.microsoft.com/office/powerpoint/2010/main" val="7485796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5">
            <a:extLst xmlns:a="http://schemas.openxmlformats.org/drawingml/2006/main">
              <a:ext uri="{FF2B5EF4-FFF2-40B4-BE49-F238E27FC236}">
                <a16:creationId xmlns:a16="http://schemas.microsoft.com/office/drawing/2014/main" id="{ACC9000A-9E81-4766-A108-904C43AE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8E25ACF5-EC3D-4F55-9EA1-791A8D3D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The seams get first-class seats in the test suite</a:t>
            </a:r>
          </a:p>
        </p:txBody>
      </p:sp>
      <p:cxnSp>
        <p:nvCxnSpPr>
          <p:cNvPr id="32" name="header-rule-5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5">
            <a:extLst xmlns:a="http://schemas.openxmlformats.org/drawingml/2006/main">
              <a:ext uri="{FF2B5EF4-FFF2-40B4-BE49-F238E27FC236}">
                <a16:creationId xmlns:a16="http://schemas.microsoft.com/office/drawing/2014/main" id="{7210FB53-02E1-4FC4-90E5-649F000A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05</a:t>
            </a:r>
          </a:p>
        </p:txBody>
      </p:sp>
      <p:cxnSp>
        <p:nvCxnSpPr>
          <p:cNvPr id="34" name="seam-main"/>
          <p:cNvCxnSpPr/>
          <p:nvPr/>
        </p:nvCxnSpPr>
        <p:spPr>
          <a:xfrm xmlns:a="http://schemas.openxmlformats.org/drawingml/2006/main">
            <a:off x="1123950" y="3448050"/>
            <a:ext cx="990600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0B1F33"/>
            </a:solidFill>
            <a:prstDash val="solid"/>
          </a:ln>
        </p:spPr>
      </p:cxnSp>
      <p:cxnSp>
        <p:nvCxnSpPr>
          <p:cNvPr id="35" name="seam-doc"/>
          <p:cNvCxnSpPr/>
          <p:nvPr/>
        </p:nvCxnSpPr>
        <p:spPr>
          <a:xfrm xmlns:a="http://schemas.openxmlformats.org/drawingml/2006/main">
            <a:off x="2457450" y="2457450"/>
            <a:ext cx="953" cy="9906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FF6B6B"/>
            </a:solidFill>
            <a:prstDash val="solid"/>
          </a:ln>
        </p:spPr>
      </p:cxnSp>
      <p:cxnSp>
        <p:nvCxnSpPr>
          <p:cNvPr id="36" name="seam-policy"/>
          <p:cNvCxnSpPr/>
          <p:nvPr/>
        </p:nvCxnSpPr>
        <p:spPr>
          <a:xfrm xmlns:a="http://schemas.openxmlformats.org/drawingml/2006/main">
            <a:off x="4705350" y="3448050"/>
            <a:ext cx="953" cy="11811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8B5CF6"/>
            </a:solidFill>
            <a:prstDash val="solid"/>
          </a:ln>
        </p:spPr>
      </p:cxnSp>
      <p:cxnSp>
        <p:nvCxnSpPr>
          <p:cNvPr id="37" name="seam-fixture"/>
          <p:cNvCxnSpPr/>
          <p:nvPr/>
        </p:nvCxnSpPr>
        <p:spPr>
          <a:xfrm xmlns:a="http://schemas.openxmlformats.org/drawingml/2006/main">
            <a:off x="6953250" y="2457450"/>
            <a:ext cx="953" cy="9906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FFD166"/>
            </a:solidFill>
            <a:prstDash val="solid"/>
          </a:ln>
        </p:spPr>
      </p:cxnSp>
      <p:cxnSp>
        <p:nvCxnSpPr>
          <p:cNvPr id="38" name="seam-integration"/>
          <p:cNvCxnSpPr/>
          <p:nvPr/>
        </p:nvCxnSpPr>
        <p:spPr>
          <a:xfrm xmlns:a="http://schemas.openxmlformats.org/drawingml/2006/main">
            <a:off x="9201150" y="3448050"/>
            <a:ext cx="953" cy="11811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22C55E"/>
            </a:solidFill>
            <a:prstDash val="solid"/>
          </a:ln>
        </p:spPr>
      </p:cxnSp>
      <p:sp>
        <p:nvSpPr>
          <p:cNvPr id="10" name="seam-ring-0">
            <a:extLst xmlns:a="http://schemas.openxmlformats.org/drawingml/2006/main">
              <a:ext uri="{FF2B5EF4-FFF2-40B4-BE49-F238E27FC236}">
                <a16:creationId xmlns:a16="http://schemas.microsoft.com/office/drawing/2014/main" id="{2231DDC8-F88C-4D27-9782-9699BEDCE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2004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11" name="seam-box-0">
            <a:extLst xmlns:a="http://schemas.openxmlformats.org/drawingml/2006/main">
              <a:ext uri="{FF2B5EF4-FFF2-40B4-BE49-F238E27FC236}">
                <a16:creationId xmlns:a16="http://schemas.microsoft.com/office/drawing/2014/main" id="{FCF2D998-0B3E-4FCD-AD9A-ED3CC64AD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2857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9050">
            <a:solidFill>
              <a:srgbClr val="FF6B6B"/>
            </a:solidFill>
            <a:prstDash val="solid"/>
          </a:ln>
        </p:spPr>
      </p:sp>
      <p:sp>
        <p:nvSpPr>
          <p:cNvPr id="12" name="seam-heading-0">
            <a:extLst xmlns:a="http://schemas.openxmlformats.org/drawingml/2006/main">
              <a:ext uri="{FF2B5EF4-FFF2-40B4-BE49-F238E27FC236}">
                <a16:creationId xmlns:a16="http://schemas.microsoft.com/office/drawing/2014/main" id="{A45D7DAF-12AF-42CF-972E-D2893D7ED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38400"/>
            <a:ext cx="2400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DOC LINKS</a:t>
            </a:r>
          </a:p>
        </p:txBody>
      </p:sp>
      <p:sp>
        <p:nvSpPr>
          <p:cNvPr id="13" name="seam-body-0">
            <a:extLst xmlns:a="http://schemas.openxmlformats.org/drawingml/2006/main">
              <a:ext uri="{FF2B5EF4-FFF2-40B4-BE49-F238E27FC236}">
                <a16:creationId xmlns:a16="http://schemas.microsoft.com/office/drawing/2014/main" id="{A085F50C-665F-4EF3-A10A-57DE06DE7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43200"/>
            <a:ext cx="2400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Local targets + headings
must resolve</a:t>
            </a:r>
          </a:p>
        </p:txBody>
      </p:sp>
      <p:sp>
        <p:nvSpPr>
          <p:cNvPr id="14" name="seam-ring-1">
            <a:extLst xmlns:a="http://schemas.openxmlformats.org/drawingml/2006/main">
              <a:ext uri="{FF2B5EF4-FFF2-40B4-BE49-F238E27FC236}">
                <a16:creationId xmlns:a16="http://schemas.microsoft.com/office/drawing/2014/main" id="{1A064165-8BA7-44BC-84FD-04F8DBFC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004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15" name="seam-box-1">
            <a:extLst xmlns:a="http://schemas.openxmlformats.org/drawingml/2006/main">
              <a:ext uri="{FF2B5EF4-FFF2-40B4-BE49-F238E27FC236}">
                <a16:creationId xmlns:a16="http://schemas.microsoft.com/office/drawing/2014/main" id="{CFF31DAC-64B7-4556-9C00-BFA6ADAAA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629150"/>
            <a:ext cx="2857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3FF"/>
          </a:solidFill>
          <a:ln xmlns:a="http://schemas.openxmlformats.org/drawingml/2006/main" w="19050">
            <a:solidFill>
              <a:srgbClr val="8B5CF6"/>
            </a:solidFill>
            <a:prstDash val="solid"/>
          </a:ln>
        </p:spPr>
      </p:sp>
      <p:sp>
        <p:nvSpPr>
          <p:cNvPr id="16" name="seam-heading-1">
            <a:extLst xmlns:a="http://schemas.openxmlformats.org/drawingml/2006/main">
              <a:ext uri="{FF2B5EF4-FFF2-40B4-BE49-F238E27FC236}">
                <a16:creationId xmlns:a16="http://schemas.microsoft.com/office/drawing/2014/main" id="{D5F62FF8-3758-4C09-88D2-322D3E27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781550"/>
            <a:ext cx="2400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LOCK + NETWORK</a:t>
            </a:r>
          </a:p>
        </p:txBody>
      </p:sp>
      <p:sp>
        <p:nvSpPr>
          <p:cNvPr id="17" name="seam-body-1">
            <a:extLst xmlns:a="http://schemas.openxmlformats.org/drawingml/2006/main">
              <a:ext uri="{FF2B5EF4-FFF2-40B4-BE49-F238E27FC236}">
                <a16:creationId xmlns:a16="http://schemas.microsoft.com/office/drawing/2014/main" id="{29CF7D31-32C4-4CE9-8EEA-4A2D3B2AF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086350"/>
            <a:ext cx="2400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Full lock graph + source
policy fail synthetically</a:t>
            </a:r>
          </a:p>
        </p:txBody>
      </p:sp>
      <p:sp>
        <p:nvSpPr>
          <p:cNvPr id="18" name="seam-ring-2">
            <a:extLst xmlns:a="http://schemas.openxmlformats.org/drawingml/2006/main">
              <a:ext uri="{FF2B5EF4-FFF2-40B4-BE49-F238E27FC236}">
                <a16:creationId xmlns:a16="http://schemas.microsoft.com/office/drawing/2014/main" id="{48A8A6D5-8573-4773-9F89-A31DCEE55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004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19" name="seam-box-2">
            <a:extLst xmlns:a="http://schemas.openxmlformats.org/drawingml/2006/main">
              <a:ext uri="{FF2B5EF4-FFF2-40B4-BE49-F238E27FC236}">
                <a16:creationId xmlns:a16="http://schemas.microsoft.com/office/drawing/2014/main" id="{EE5DBF93-F037-446D-A846-1B61AAB6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86000"/>
            <a:ext cx="2857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9050">
            <a:solidFill>
              <a:srgbClr val="FFD166"/>
            </a:solidFill>
            <a:prstDash val="solid"/>
          </a:ln>
        </p:spPr>
      </p:sp>
      <p:sp>
        <p:nvSpPr>
          <p:cNvPr id="20" name="seam-heading-2">
            <a:extLst xmlns:a="http://schemas.openxmlformats.org/drawingml/2006/main">
              <a:ext uri="{FF2B5EF4-FFF2-40B4-BE49-F238E27FC236}">
                <a16:creationId xmlns:a16="http://schemas.microsoft.com/office/drawing/2014/main" id="{68DE0423-1E76-4064-BE4A-9918DBF3D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438400"/>
            <a:ext cx="2400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GOLDEN FIXTURES</a:t>
            </a:r>
          </a:p>
        </p:txBody>
      </p:sp>
      <p:sp>
        <p:nvSpPr>
          <p:cNvPr id="21" name="seam-body-2">
            <a:extLst xmlns:a="http://schemas.openxmlformats.org/drawingml/2006/main">
              <a:ext uri="{FF2B5EF4-FFF2-40B4-BE49-F238E27FC236}">
                <a16:creationId xmlns:a16="http://schemas.microsoft.com/office/drawing/2014/main" id="{87C70017-D59C-4CB5-8A66-87DB2098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743200"/>
            <a:ext cx="2400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Python and TypeScript read
the same protocol truth</a:t>
            </a:r>
          </a:p>
        </p:txBody>
      </p:sp>
      <p:sp>
        <p:nvSpPr>
          <p:cNvPr id="22" name="seam-ring-3">
            <a:extLst xmlns:a="http://schemas.openxmlformats.org/drawingml/2006/main">
              <a:ext uri="{FF2B5EF4-FFF2-40B4-BE49-F238E27FC236}">
                <a16:creationId xmlns:a16="http://schemas.microsoft.com/office/drawing/2014/main" id="{B7AC35AB-2413-4EF4-995D-94545110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004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23" name="seam-box-3">
            <a:extLst xmlns:a="http://schemas.openxmlformats.org/drawingml/2006/main">
              <a:ext uri="{FF2B5EF4-FFF2-40B4-BE49-F238E27FC236}">
                <a16:creationId xmlns:a16="http://schemas.microsoft.com/office/drawing/2014/main" id="{CDBCAF35-5BAC-42BD-A35D-AA8859C51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629150"/>
            <a:ext cx="2857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3FF"/>
          </a:solidFill>
          <a:ln xmlns:a="http://schemas.openxmlformats.org/drawingml/2006/main" w="19050">
            <a:solidFill>
              <a:srgbClr val="22C55E"/>
            </a:solidFill>
            <a:prstDash val="solid"/>
          </a:ln>
        </p:spPr>
      </p:sp>
      <p:sp>
        <p:nvSpPr>
          <p:cNvPr id="24" name="seam-heading-3">
            <a:extLst xmlns:a="http://schemas.openxmlformats.org/drawingml/2006/main">
              <a:ext uri="{FF2B5EF4-FFF2-40B4-BE49-F238E27FC236}">
                <a16:creationId xmlns:a16="http://schemas.microsoft.com/office/drawing/2014/main" id="{CDCE6591-E675-49E6-B02F-8275644D4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781550"/>
            <a:ext cx="2400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REAL BOUNDARY</a:t>
            </a:r>
          </a:p>
        </p:txBody>
      </p:sp>
      <p:sp>
        <p:nvSpPr>
          <p:cNvPr id="25" name="seam-body-3">
            <a:extLst xmlns:a="http://schemas.openxmlformats.org/drawingml/2006/main">
              <a:ext uri="{FF2B5EF4-FFF2-40B4-BE49-F238E27FC236}">
                <a16:creationId xmlns:a16="http://schemas.microsoft.com/office/drawing/2014/main" id="{910D7018-7295-4CCA-BD99-3351AD74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86350"/>
            <a:ext cx="2400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Node launches Python and
observes real NDJSON</a:t>
            </a:r>
          </a:p>
        </p:txBody>
      </p:sp>
      <p:sp>
        <p:nvSpPr>
          <p:cNvPr id="26" name="seam-python">
            <a:extLst xmlns:a="http://schemas.openxmlformats.org/drawingml/2006/main">
              <a:ext uri="{FF2B5EF4-FFF2-40B4-BE49-F238E27FC236}">
                <a16:creationId xmlns:a16="http://schemas.microsoft.com/office/drawing/2014/main" id="{256E6958-ACA4-4D4A-86DA-1B13E535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19450"/>
            <a:ext cx="114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8BDF8"/>
                </a:solidFill>
                <a:latin typeface="Aptos"/>
                <a:ea typeface="Aptos"/>
                <a:cs typeface="Aptos"/>
              </a:defRPr>
            </a:pPr>
            <a:r>
              <a:t>PYTHON</a:t>
            </a:r>
          </a:p>
        </p:txBody>
      </p:sp>
      <p:sp>
        <p:nvSpPr>
          <p:cNvPr id="27" name="seam-tui">
            <a:extLst xmlns:a="http://schemas.openxmlformats.org/drawingml/2006/main">
              <a:ext uri="{FF2B5EF4-FFF2-40B4-BE49-F238E27FC236}">
                <a16:creationId xmlns:a16="http://schemas.microsoft.com/office/drawing/2014/main" id="{D0AC0B8E-3B7E-43F6-B09B-C2C6616D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219450"/>
            <a:ext cx="8001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TUI</a:t>
            </a:r>
          </a:p>
        </p:txBody>
      </p:sp>
      <p:sp>
        <p:nvSpPr>
          <p:cNvPr id="28" name="seam-footer">
            <a:extLst xmlns:a="http://schemas.openxmlformats.org/drawingml/2006/main">
              <a:ext uri="{FF2B5EF4-FFF2-40B4-BE49-F238E27FC236}">
                <a16:creationId xmlns:a16="http://schemas.microsoft.com/office/drawing/2014/main" id="{77AC4F11-CEDA-492A-984F-621F1C03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77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eam-footer-text">
            <a:extLst xmlns:a="http://schemas.openxmlformats.org/drawingml/2006/main">
              <a:ext uri="{FF2B5EF4-FFF2-40B4-BE49-F238E27FC236}">
                <a16:creationId xmlns:a16="http://schemas.microsoft.com/office/drawing/2014/main" id="{F5749E4C-E42B-4B24-B73B-F5850C70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57900"/>
            <a:ext cx="1070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 walking skeleton fails at boundaries; the gate checks the boundaries on purpose.</a:t>
            </a:r>
          </a:p>
        </p:txBody>
      </p:sp>
    </p:spTree>
    <p:extLst>
      <p:ext uri="{BB962C8B-B14F-4D97-AF65-F5344CB8AC3E}">
        <p14:creationId xmlns:p14="http://schemas.microsoft.com/office/powerpoint/2010/main" val="16272733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6">
            <a:extLst xmlns:a="http://schemas.openxmlformats.org/drawingml/2006/main">
              <a:ext uri="{FF2B5EF4-FFF2-40B4-BE49-F238E27FC236}">
                <a16:creationId xmlns:a16="http://schemas.microsoft.com/office/drawing/2014/main" id="{43F55FFE-4C74-4B70-91A8-CC6F628A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BB8CC27F-2D9B-44DA-A0BC-75379114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CI prepares the room, then calls the same conductor</a:t>
            </a:r>
          </a:p>
        </p:txBody>
      </p:sp>
      <p:cxnSp>
        <p:nvCxnSpPr>
          <p:cNvPr id="19" name="header-rule-6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6">
            <a:extLst xmlns:a="http://schemas.openxmlformats.org/drawingml/2006/main">
              <a:ext uri="{FF2B5EF4-FFF2-40B4-BE49-F238E27FC236}">
                <a16:creationId xmlns:a16="http://schemas.microsoft.com/office/drawing/2014/main" id="{D2B7F43C-B93B-4F34-BE71-C76A9E818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06</a:t>
            </a:r>
          </a:p>
        </p:txBody>
      </p:sp>
      <p:sp>
        <p:nvSpPr>
          <p:cNvPr id="5" name="ci-arrow">
            <a:extLst xmlns:a="http://schemas.openxmlformats.org/drawingml/2006/main">
              <a:ext uri="{FF2B5EF4-FFF2-40B4-BE49-F238E27FC236}">
                <a16:creationId xmlns:a16="http://schemas.microsoft.com/office/drawing/2014/main" id="{E7665944-6F2A-4B85-8220-1661B7A1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314700"/>
            <a:ext cx="1219200" cy="514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22" name="ci-reflection"/>
          <p:cNvCxnSpPr/>
          <p:nvPr/>
        </p:nvCxnSpPr>
        <p:spPr>
          <a:xfrm xmlns:a="http://schemas.openxmlformats.org/drawingml/2006/main">
            <a:off x="6076950" y="2019300"/>
            <a:ext cx="953" cy="3619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BD5E1"/>
            </a:solidFill>
            <a:prstDash val="solid"/>
          </a:ln>
        </p:spPr>
      </p:cxnSp>
      <p:sp>
        <p:nvSpPr>
          <p:cNvPr id="7" name="ci-setup">
            <a:extLst xmlns:a="http://schemas.openxmlformats.org/drawingml/2006/main">
              <a:ext uri="{FF2B5EF4-FFF2-40B4-BE49-F238E27FC236}">
                <a16:creationId xmlns:a16="http://schemas.microsoft.com/office/drawing/2014/main" id="{AFF22DDB-C244-4FE4-8513-EAF8D5102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38350"/>
            <a:ext cx="4686300" cy="3467100"/>
          </a:xfrm>
          <a:prstGeom xmlns:a="http://schemas.openxmlformats.org/drawingml/2006/main" prst="roundRect">
            <a:avLst>
              <a:gd name="adj" fmla="val 2198"/>
            </a:avLst>
          </a:prstGeom>
          <a:solidFill xmlns:a="http://schemas.openxmlformats.org/drawingml/2006/main">
            <a:srgbClr val="F1EAFF"/>
          </a:solidFill>
          <a:ln xmlns:a="http://schemas.openxmlformats.org/drawingml/2006/main" w="28575">
            <a:solidFill>
              <a:srgbClr val="8B5CF6"/>
            </a:solidFill>
            <a:prstDash val="solid"/>
          </a:ln>
        </p:spPr>
      </p:sp>
      <p:sp>
        <p:nvSpPr>
          <p:cNvPr id="8" name="ci-command">
            <a:extLst xmlns:a="http://schemas.openxmlformats.org/drawingml/2006/main">
              <a:ext uri="{FF2B5EF4-FFF2-40B4-BE49-F238E27FC236}">
                <a16:creationId xmlns:a16="http://schemas.microsoft.com/office/drawing/2014/main" id="{BAFEB842-801E-4161-9795-8CCCA1CA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38350"/>
            <a:ext cx="4686300" cy="3467100"/>
          </a:xfrm>
          <a:prstGeom xmlns:a="http://schemas.openxmlformats.org/drawingml/2006/main" prst="roundRect">
            <a:avLst>
              <a:gd name="adj" fmla="val 2198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28575">
            <a:solidFill>
              <a:srgbClr val="22D3EE"/>
            </a:solidFill>
            <a:prstDash val="solid"/>
          </a:ln>
        </p:spPr>
      </p:sp>
      <p:sp>
        <p:nvSpPr>
          <p:cNvPr id="9" name="ci-left-kicker">
            <a:extLst xmlns:a="http://schemas.openxmlformats.org/drawingml/2006/main">
              <a:ext uri="{FF2B5EF4-FFF2-40B4-BE49-F238E27FC236}">
                <a16:creationId xmlns:a16="http://schemas.microsoft.com/office/drawing/2014/main" id="{AA6E9DED-439F-43DA-87E3-5A5FCF808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43150"/>
            <a:ext cx="4095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GITHUB ACTIONS  •  UBUNTU 24.04</a:t>
            </a:r>
          </a:p>
        </p:txBody>
      </p:sp>
      <p:sp>
        <p:nvSpPr>
          <p:cNvPr id="10" name="ci-left-title">
            <a:extLst xmlns:a="http://schemas.openxmlformats.org/drawingml/2006/main">
              <a:ext uri="{FF2B5EF4-FFF2-40B4-BE49-F238E27FC236}">
                <a16:creationId xmlns:a16="http://schemas.microsoft.com/office/drawing/2014/main" id="{E0E81428-26AD-4DF9-994F-4CE7ACA7F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3943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Prepare reproducibly</a:t>
            </a:r>
          </a:p>
        </p:txBody>
      </p:sp>
      <p:sp>
        <p:nvSpPr>
          <p:cNvPr id="11" name="ci-left-list">
            <a:extLst xmlns:a="http://schemas.openxmlformats.org/drawingml/2006/main">
              <a:ext uri="{FF2B5EF4-FFF2-40B4-BE49-F238E27FC236}">
                <a16:creationId xmlns:a16="http://schemas.microsoft.com/office/drawing/2014/main" id="{F17598B5-4449-4CD6-8312-593706C41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3829050" cy="163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contents: read
immutable action SHAs
.python-version + .node-version
uv sync --locked
npm ci
15-minute timeout</a:t>
            </a:r>
          </a:p>
        </p:txBody>
      </p:sp>
      <p:sp>
        <p:nvSpPr>
          <p:cNvPr id="12" name="ci-right-kicker">
            <a:extLst xmlns:a="http://schemas.openxmlformats.org/drawingml/2006/main">
              <a:ext uri="{FF2B5EF4-FFF2-40B4-BE49-F238E27FC236}">
                <a16:creationId xmlns:a16="http://schemas.microsoft.com/office/drawing/2014/main" id="{E89578F9-8347-465C-9E5B-2D2D5E096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43150"/>
            <a:ext cx="4076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t>THE ONLY VALIDATION INVOCATION</a:t>
            </a:r>
          </a:p>
        </p:txBody>
      </p:sp>
      <p:sp>
        <p:nvSpPr>
          <p:cNvPr id="13" name="ci-right-command">
            <a:extLst xmlns:a="http://schemas.openxmlformats.org/drawingml/2006/main">
              <a:ext uri="{FF2B5EF4-FFF2-40B4-BE49-F238E27FC236}">
                <a16:creationId xmlns:a16="http://schemas.microsoft.com/office/drawing/2014/main" id="{7A6AE12A-2702-41A4-A9AC-8BA2CC49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05150"/>
            <a:ext cx="40767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625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./scripts/check</a:t>
            </a:r>
          </a:p>
        </p:txBody>
      </p:sp>
      <p:cxnSp>
        <p:nvCxnSpPr>
          <p:cNvPr id="30" name="ci-command-rule"/>
          <p:cNvCxnSpPr/>
          <p:nvPr/>
        </p:nvCxnSpPr>
        <p:spPr>
          <a:xfrm xmlns:a="http://schemas.openxmlformats.org/drawingml/2006/main">
            <a:off x="7715250" y="4057650"/>
            <a:ext cx="33528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9445F"/>
            </a:solidFill>
            <a:prstDash val="solid"/>
          </a:ln>
        </p:spPr>
      </p:cxnSp>
      <p:sp>
        <p:nvSpPr>
          <p:cNvPr id="15" name="ci-right-caption">
            <a:extLst xmlns:a="http://schemas.openxmlformats.org/drawingml/2006/main">
              <a:ext uri="{FF2B5EF4-FFF2-40B4-BE49-F238E27FC236}">
                <a16:creationId xmlns:a16="http://schemas.microsoft.com/office/drawing/2014/main" id="{7FB31738-5C50-418E-B87E-E7C6C4D75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381500"/>
            <a:ext cx="36957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7E5F4"/>
                </a:solidFill>
                <a:latin typeface="Aptos"/>
                <a:ea typeface="Aptos"/>
                <a:cs typeface="Aptos"/>
              </a:defRPr>
            </a:pPr>
            <a:r>
              <a:t>No duplicated lint list.
No local-versus-CI remix.</a:t>
            </a:r>
          </a:p>
        </p:txBody>
      </p:sp>
      <p:sp>
        <p:nvSpPr>
          <p:cNvPr id="16" name="ci-footer">
            <a:extLst xmlns:a="http://schemas.openxmlformats.org/drawingml/2006/main">
              <a:ext uri="{FF2B5EF4-FFF2-40B4-BE49-F238E27FC236}">
                <a16:creationId xmlns:a16="http://schemas.microsoft.com/office/drawing/2014/main" id="{97543948-42D6-4E4A-A559-8DEA26373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62650"/>
            <a:ext cx="9906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Local and CI can differ in setup. They must not differ in what “green” means.</a:t>
            </a:r>
          </a:p>
        </p:txBody>
      </p:sp>
    </p:spTree>
    <p:extLst>
      <p:ext uri="{BB962C8B-B14F-4D97-AF65-F5344CB8AC3E}">
        <p14:creationId xmlns:p14="http://schemas.microsoft.com/office/powerpoint/2010/main" val="18798140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7">
            <a:extLst xmlns:a="http://schemas.openxmlformats.org/drawingml/2006/main">
              <a:ext uri="{FF2B5EF4-FFF2-40B4-BE49-F238E27FC236}">
                <a16:creationId xmlns:a16="http://schemas.microsoft.com/office/drawing/2014/main" id="{2D4C6F90-3C5E-4521-A91F-F8CBFD9E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299A68C4-68EB-4338-954E-BEAE4E6BF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Break one layer on purpose; watch the label catch it</a:t>
            </a:r>
          </a:p>
        </p:txBody>
      </p:sp>
      <p:cxnSp>
        <p:nvCxnSpPr>
          <p:cNvPr id="38" name="header-rule-7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7">
            <a:extLst xmlns:a="http://schemas.openxmlformats.org/drawingml/2006/main">
              <a:ext uri="{FF2B5EF4-FFF2-40B4-BE49-F238E27FC236}">
                <a16:creationId xmlns:a16="http://schemas.microsoft.com/office/drawing/2014/main" id="{77B105FB-B62B-41B8-A488-590505C68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07</a:t>
            </a:r>
          </a:p>
        </p:txBody>
      </p:sp>
      <p:cxnSp>
        <p:nvCxnSpPr>
          <p:cNvPr id="40" name="lab-fuse-0"/>
          <p:cNvCxnSpPr/>
          <p:nvPr/>
        </p:nvCxnSpPr>
        <p:spPr>
          <a:xfrm xmlns:a="http://schemas.openxmlformats.org/drawingml/2006/main">
            <a:off x="1657350" y="2857500"/>
            <a:ext cx="953" cy="19050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FF6B6B"/>
            </a:solidFill>
            <a:prstDash val="solid"/>
          </a:ln>
        </p:spPr>
      </p:cxnSp>
      <p:sp>
        <p:nvSpPr>
          <p:cNvPr id="6" name="lab-bulb-0">
            <a:extLst xmlns:a="http://schemas.openxmlformats.org/drawingml/2006/main">
              <a:ext uri="{FF2B5EF4-FFF2-40B4-BE49-F238E27FC236}">
                <a16:creationId xmlns:a16="http://schemas.microsoft.com/office/drawing/2014/main" id="{9D788C39-56F3-49E7-A02F-21765266C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3360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lab-flag-0">
            <a:extLst xmlns:a="http://schemas.openxmlformats.org/drawingml/2006/main">
              <a:ext uri="{FF2B5EF4-FFF2-40B4-BE49-F238E27FC236}">
                <a16:creationId xmlns:a16="http://schemas.microsoft.com/office/drawing/2014/main" id="{45EA7C0E-12C1-4882-943D-BAC59FC1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95800"/>
            <a:ext cx="1714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9050">
            <a:solidFill>
              <a:srgbClr val="EF4444"/>
            </a:solidFill>
            <a:prstDash val="solid"/>
          </a:ln>
        </p:spPr>
      </p:sp>
      <p:sp>
        <p:nvSpPr>
          <p:cNvPr id="8" name="lab-icon-0">
            <a:extLst xmlns:a="http://schemas.openxmlformats.org/drawingml/2006/main">
              <a:ext uri="{FF2B5EF4-FFF2-40B4-BE49-F238E27FC236}">
                <a16:creationId xmlns:a16="http://schemas.microsoft.com/office/drawing/2014/main" id="{2905D9BB-FC0A-4A7D-BDCB-91F8F1365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333625"/>
            <a:ext cx="571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PY</a:t>
            </a:r>
          </a:p>
        </p:txBody>
      </p:sp>
      <p:sp>
        <p:nvSpPr>
          <p:cNvPr id="9" name="lab-heading-0">
            <a:extLst xmlns:a="http://schemas.openxmlformats.org/drawingml/2006/main">
              <a:ext uri="{FF2B5EF4-FFF2-40B4-BE49-F238E27FC236}">
                <a16:creationId xmlns:a16="http://schemas.microsoft.com/office/drawing/2014/main" id="{E4BC36A4-D45E-4506-8186-926BC10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81350"/>
            <a:ext cx="24003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Python</a:t>
            </a:r>
          </a:p>
        </p:txBody>
      </p:sp>
      <p:sp>
        <p:nvSpPr>
          <p:cNvPr id="10" name="lab-failure-0">
            <a:extLst xmlns:a="http://schemas.openxmlformats.org/drawingml/2006/main">
              <a:ext uri="{FF2B5EF4-FFF2-40B4-BE49-F238E27FC236}">
                <a16:creationId xmlns:a16="http://schemas.microsoft.com/office/drawing/2014/main" id="{51C57580-99DB-4F4D-B00C-3D601BF3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95700"/>
            <a:ext cx="24003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bad format / failing test</a:t>
            </a:r>
          </a:p>
        </p:txBody>
      </p:sp>
      <p:sp>
        <p:nvSpPr>
          <p:cNvPr id="11" name="lab-stop-0">
            <a:extLst xmlns:a="http://schemas.openxmlformats.org/drawingml/2006/main">
              <a:ext uri="{FF2B5EF4-FFF2-40B4-BE49-F238E27FC236}">
                <a16:creationId xmlns:a16="http://schemas.microsoft.com/office/drawing/2014/main" id="{6910B525-8A47-4986-B7BE-765B9A81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67250"/>
            <a:ext cx="1409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F4444"/>
                </a:solidFill>
                <a:latin typeface="Aptos"/>
                <a:ea typeface="Aptos"/>
                <a:cs typeface="Aptos"/>
              </a:defRPr>
            </a:pPr>
            <a:r>
              <a:t>STOP HERE</a:t>
            </a:r>
          </a:p>
        </p:txBody>
      </p:sp>
      <p:cxnSp>
        <p:nvCxnSpPr>
          <p:cNvPr id="47" name="lab-fuse-1"/>
          <p:cNvCxnSpPr/>
          <p:nvPr/>
        </p:nvCxnSpPr>
        <p:spPr>
          <a:xfrm xmlns:a="http://schemas.openxmlformats.org/drawingml/2006/main">
            <a:off x="4419600" y="2857500"/>
            <a:ext cx="953" cy="19050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8B5CF6"/>
            </a:solidFill>
            <a:prstDash val="solid"/>
          </a:ln>
        </p:spPr>
      </p:cxnSp>
      <p:sp>
        <p:nvSpPr>
          <p:cNvPr id="13" name="lab-bulb-1">
            <a:extLst xmlns:a="http://schemas.openxmlformats.org/drawingml/2006/main">
              <a:ext uri="{FF2B5EF4-FFF2-40B4-BE49-F238E27FC236}">
                <a16:creationId xmlns:a16="http://schemas.microsoft.com/office/drawing/2014/main" id="{76879BCB-897B-417B-9846-8C018DF9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13360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lab-flag-1">
            <a:extLst xmlns:a="http://schemas.openxmlformats.org/drawingml/2006/main">
              <a:ext uri="{FF2B5EF4-FFF2-40B4-BE49-F238E27FC236}">
                <a16:creationId xmlns:a16="http://schemas.microsoft.com/office/drawing/2014/main" id="{F6EC77D6-9CE5-4DE8-856D-EAC26F7B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95800"/>
            <a:ext cx="1714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9050">
            <a:solidFill>
              <a:srgbClr val="EF4444"/>
            </a:solidFill>
            <a:prstDash val="solid"/>
          </a:ln>
        </p:spPr>
      </p:sp>
      <p:sp>
        <p:nvSpPr>
          <p:cNvPr id="15" name="lab-icon-1">
            <a:extLst xmlns:a="http://schemas.openxmlformats.org/drawingml/2006/main">
              <a:ext uri="{FF2B5EF4-FFF2-40B4-BE49-F238E27FC236}">
                <a16:creationId xmlns:a16="http://schemas.microsoft.com/office/drawing/2014/main" id="{C7687521-86E8-4A10-A665-AF94703D7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333625"/>
            <a:ext cx="571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TS</a:t>
            </a:r>
          </a:p>
        </p:txBody>
      </p:sp>
      <p:sp>
        <p:nvSpPr>
          <p:cNvPr id="16" name="lab-heading-1">
            <a:extLst xmlns:a="http://schemas.openxmlformats.org/drawingml/2006/main">
              <a:ext uri="{FF2B5EF4-FFF2-40B4-BE49-F238E27FC236}">
                <a16:creationId xmlns:a16="http://schemas.microsoft.com/office/drawing/2014/main" id="{83E0A27D-61DA-45F7-A6EF-507B0220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81350"/>
            <a:ext cx="24003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TypeScript</a:t>
            </a:r>
          </a:p>
        </p:txBody>
      </p:sp>
      <p:sp>
        <p:nvSpPr>
          <p:cNvPr id="17" name="lab-failure-1">
            <a:extLst xmlns:a="http://schemas.openxmlformats.org/drawingml/2006/main">
              <a:ext uri="{FF2B5EF4-FFF2-40B4-BE49-F238E27FC236}">
                <a16:creationId xmlns:a16="http://schemas.microsoft.com/office/drawing/2014/main" id="{6003D00E-1995-41A8-863B-392749563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695700"/>
            <a:ext cx="24003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type or lint error</a:t>
            </a:r>
          </a:p>
        </p:txBody>
      </p:sp>
      <p:sp>
        <p:nvSpPr>
          <p:cNvPr id="18" name="lab-stop-1">
            <a:extLst xmlns:a="http://schemas.openxmlformats.org/drawingml/2006/main">
              <a:ext uri="{FF2B5EF4-FFF2-40B4-BE49-F238E27FC236}">
                <a16:creationId xmlns:a16="http://schemas.microsoft.com/office/drawing/2014/main" id="{5A9517D1-AE02-46FF-917B-7880539B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667250"/>
            <a:ext cx="1409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F4444"/>
                </a:solidFill>
                <a:latin typeface="Aptos"/>
                <a:ea typeface="Aptos"/>
                <a:cs typeface="Aptos"/>
              </a:defRPr>
            </a:pPr>
            <a:r>
              <a:t>STOP HERE</a:t>
            </a:r>
          </a:p>
        </p:txBody>
      </p:sp>
      <p:cxnSp>
        <p:nvCxnSpPr>
          <p:cNvPr id="54" name="lab-fuse-2"/>
          <p:cNvCxnSpPr/>
          <p:nvPr/>
        </p:nvCxnSpPr>
        <p:spPr>
          <a:xfrm xmlns:a="http://schemas.openxmlformats.org/drawingml/2006/main">
            <a:off x="7181850" y="2857500"/>
            <a:ext cx="953" cy="19050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FFD166"/>
            </a:solidFill>
            <a:prstDash val="solid"/>
          </a:ln>
        </p:spPr>
      </p:cxnSp>
      <p:sp>
        <p:nvSpPr>
          <p:cNvPr id="20" name="lab-bulb-2">
            <a:extLst xmlns:a="http://schemas.openxmlformats.org/drawingml/2006/main">
              <a:ext uri="{FF2B5EF4-FFF2-40B4-BE49-F238E27FC236}">
                <a16:creationId xmlns:a16="http://schemas.microsoft.com/office/drawing/2014/main" id="{3337612A-BE39-4634-B189-E0B44B37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13360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lab-flag-2">
            <a:extLst xmlns:a="http://schemas.openxmlformats.org/drawingml/2006/main">
              <a:ext uri="{FF2B5EF4-FFF2-40B4-BE49-F238E27FC236}">
                <a16:creationId xmlns:a16="http://schemas.microsoft.com/office/drawing/2014/main" id="{ED08948B-AF7B-4329-8BEE-6F75E04A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495800"/>
            <a:ext cx="1714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9050">
            <a:solidFill>
              <a:srgbClr val="EF4444"/>
            </a:solidFill>
            <a:prstDash val="solid"/>
          </a:ln>
        </p:spPr>
      </p:sp>
      <p:sp>
        <p:nvSpPr>
          <p:cNvPr id="22" name="lab-icon-2">
            <a:extLst xmlns:a="http://schemas.openxmlformats.org/drawingml/2006/main">
              <a:ext uri="{FF2B5EF4-FFF2-40B4-BE49-F238E27FC236}">
                <a16:creationId xmlns:a16="http://schemas.microsoft.com/office/drawing/2014/main" id="{7BE493FF-0C4E-4E4C-8D1F-E06E5728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33625"/>
            <a:ext cx="571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{}</a:t>
            </a:r>
          </a:p>
        </p:txBody>
      </p:sp>
      <p:sp>
        <p:nvSpPr>
          <p:cNvPr id="23" name="lab-heading-2">
            <a:extLst xmlns:a="http://schemas.openxmlformats.org/drawingml/2006/main">
              <a:ext uri="{FF2B5EF4-FFF2-40B4-BE49-F238E27FC236}">
                <a16:creationId xmlns:a16="http://schemas.microsoft.com/office/drawing/2014/main" id="{C798A91D-1945-4A1E-BD8B-70E609AF5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81350"/>
            <a:ext cx="24003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Protocol fixture</a:t>
            </a:r>
          </a:p>
        </p:txBody>
      </p:sp>
      <p:sp>
        <p:nvSpPr>
          <p:cNvPr id="24" name="lab-failure-2">
            <a:extLst xmlns:a="http://schemas.openxmlformats.org/drawingml/2006/main">
              <a:ext uri="{FF2B5EF4-FFF2-40B4-BE49-F238E27FC236}">
                <a16:creationId xmlns:a16="http://schemas.microsoft.com/office/drawing/2014/main" id="{932404CE-1042-4753-ABB4-981DECB2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695700"/>
            <a:ext cx="24003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cross-language mismatch</a:t>
            </a:r>
          </a:p>
        </p:txBody>
      </p:sp>
      <p:sp>
        <p:nvSpPr>
          <p:cNvPr id="25" name="lab-stop-2">
            <a:extLst xmlns:a="http://schemas.openxmlformats.org/drawingml/2006/main">
              <a:ext uri="{FF2B5EF4-FFF2-40B4-BE49-F238E27FC236}">
                <a16:creationId xmlns:a16="http://schemas.microsoft.com/office/drawing/2014/main" id="{327CC484-FBF7-4C1E-A383-0740CAEF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1409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F4444"/>
                </a:solidFill>
                <a:latin typeface="Aptos"/>
                <a:ea typeface="Aptos"/>
                <a:cs typeface="Aptos"/>
              </a:defRPr>
            </a:pPr>
            <a:r>
              <a:t>STOP HERE</a:t>
            </a:r>
          </a:p>
        </p:txBody>
      </p:sp>
      <p:cxnSp>
        <p:nvCxnSpPr>
          <p:cNvPr id="61" name="lab-fuse-3"/>
          <p:cNvCxnSpPr/>
          <p:nvPr/>
        </p:nvCxnSpPr>
        <p:spPr>
          <a:xfrm xmlns:a="http://schemas.openxmlformats.org/drawingml/2006/main">
            <a:off x="9944100" y="2857500"/>
            <a:ext cx="953" cy="19050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22C55E"/>
            </a:solidFill>
            <a:prstDash val="solid"/>
          </a:ln>
        </p:spPr>
      </p:cxnSp>
      <p:sp>
        <p:nvSpPr>
          <p:cNvPr id="27" name="lab-bulb-3">
            <a:extLst xmlns:a="http://schemas.openxmlformats.org/drawingml/2006/main">
              <a:ext uri="{FF2B5EF4-FFF2-40B4-BE49-F238E27FC236}">
                <a16:creationId xmlns:a16="http://schemas.microsoft.com/office/drawing/2014/main" id="{FA5B6E49-6066-4BFA-B4C8-B6652D701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13360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lab-flag-3">
            <a:extLst xmlns:a="http://schemas.openxmlformats.org/drawingml/2006/main">
              <a:ext uri="{FF2B5EF4-FFF2-40B4-BE49-F238E27FC236}">
                <a16:creationId xmlns:a16="http://schemas.microsoft.com/office/drawing/2014/main" id="{93D469C5-094C-451F-A002-2A83B01B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495800"/>
            <a:ext cx="1714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9050">
            <a:solidFill>
              <a:srgbClr val="EF4444"/>
            </a:solidFill>
            <a:prstDash val="solid"/>
          </a:ln>
        </p:spPr>
      </p:sp>
      <p:sp>
        <p:nvSpPr>
          <p:cNvPr id="29" name="lab-icon-3">
            <a:extLst xmlns:a="http://schemas.openxmlformats.org/drawingml/2006/main">
              <a:ext uri="{FF2B5EF4-FFF2-40B4-BE49-F238E27FC236}">
                <a16:creationId xmlns:a16="http://schemas.microsoft.com/office/drawing/2014/main" id="{80B33F51-3995-423D-A120-6B7A13D3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33625"/>
            <a:ext cx="571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↔</a:t>
            </a:r>
          </a:p>
        </p:txBody>
      </p:sp>
      <p:sp>
        <p:nvSpPr>
          <p:cNvPr id="30" name="lab-heading-3">
            <a:extLst xmlns:a="http://schemas.openxmlformats.org/drawingml/2006/main">
              <a:ext uri="{FF2B5EF4-FFF2-40B4-BE49-F238E27FC236}">
                <a16:creationId xmlns:a16="http://schemas.microsoft.com/office/drawing/2014/main" id="{0E60649B-C720-450C-AE9D-FE9C78FA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181350"/>
            <a:ext cx="24003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Integration</a:t>
            </a:r>
          </a:p>
        </p:txBody>
      </p:sp>
      <p:sp>
        <p:nvSpPr>
          <p:cNvPr id="31" name="lab-failure-3">
            <a:extLst xmlns:a="http://schemas.openxmlformats.org/drawingml/2006/main">
              <a:ext uri="{FF2B5EF4-FFF2-40B4-BE49-F238E27FC236}">
                <a16:creationId xmlns:a16="http://schemas.microsoft.com/office/drawing/2014/main" id="{789A3FEC-2E2F-4DE7-8E93-5E15B0B3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695700"/>
            <a:ext cx="24003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Node↔Python tape breaks</a:t>
            </a:r>
          </a:p>
        </p:txBody>
      </p:sp>
      <p:sp>
        <p:nvSpPr>
          <p:cNvPr id="32" name="lab-stop-3">
            <a:extLst xmlns:a="http://schemas.openxmlformats.org/drawingml/2006/main">
              <a:ext uri="{FF2B5EF4-FFF2-40B4-BE49-F238E27FC236}">
                <a16:creationId xmlns:a16="http://schemas.microsoft.com/office/drawing/2014/main" id="{8A1CD6C5-8353-4C98-B71B-8D73B21C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667250"/>
            <a:ext cx="1409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F4444"/>
                </a:solidFill>
                <a:latin typeface="Aptos"/>
                <a:ea typeface="Aptos"/>
                <a:cs typeface="Aptos"/>
              </a:defRPr>
            </a:pPr>
            <a:r>
              <a:t>STOP HERE</a:t>
            </a:r>
          </a:p>
        </p:txBody>
      </p:sp>
      <p:sp>
        <p:nvSpPr>
          <p:cNvPr id="33" name="lab-command">
            <a:extLst xmlns:a="http://schemas.openxmlformats.org/drawingml/2006/main">
              <a:ext uri="{FF2B5EF4-FFF2-40B4-BE49-F238E27FC236}">
                <a16:creationId xmlns:a16="http://schemas.microsoft.com/office/drawing/2014/main" id="{9391FDAE-547D-48BF-AC1B-26FC08F34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581650"/>
            <a:ext cx="91821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lab-command-text">
            <a:extLst xmlns:a="http://schemas.openxmlformats.org/drawingml/2006/main">
              <a:ext uri="{FF2B5EF4-FFF2-40B4-BE49-F238E27FC236}">
                <a16:creationId xmlns:a16="http://schemas.microsoft.com/office/drawing/2014/main" id="{73AB8276-1B92-4AC8-8D14-E3786C76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753100"/>
            <a:ext cx="8648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read the last  ==&gt;  label  •  fix that layer  •  rerun the same command</a:t>
            </a:r>
          </a:p>
        </p:txBody>
      </p:sp>
      <p:sp>
        <p:nvSpPr>
          <p:cNvPr id="35" name="lab-note">
            <a:extLst xmlns:a="http://schemas.openxmlformats.org/drawingml/2006/main">
              <a:ext uri="{FF2B5EF4-FFF2-40B4-BE49-F238E27FC236}">
                <a16:creationId xmlns:a16="http://schemas.microsoft.com/office/drawing/2014/main" id="{D6B2464F-87A8-4E21-8E67-60B7B7FE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305550"/>
            <a:ext cx="647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The script itself has a deterministic fail-fast regression suite.</a:t>
            </a:r>
          </a:p>
        </p:txBody>
      </p:sp>
    </p:spTree>
    <p:extLst>
      <p:ext uri="{BB962C8B-B14F-4D97-AF65-F5344CB8AC3E}">
        <p14:creationId xmlns:p14="http://schemas.microsoft.com/office/powerpoint/2010/main" val="9406792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8">
            <a:extLst xmlns:a="http://schemas.openxmlformats.org/drawingml/2006/main">
              <a:ext uri="{FF2B5EF4-FFF2-40B4-BE49-F238E27FC236}">
                <a16:creationId xmlns:a16="http://schemas.microsoft.com/office/drawing/2014/main" id="{6CEFDD92-1674-4B4F-BA58-7BF0184B2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E55C992D-E9D1-4AE3-8DC7-4EE2E9D2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The local gate is a contract—not an entire platform</a:t>
            </a:r>
          </a:p>
        </p:txBody>
      </p:sp>
      <p:cxnSp>
        <p:nvCxnSpPr>
          <p:cNvPr id="27" name="header-rule-8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8">
            <a:extLst xmlns:a="http://schemas.openxmlformats.org/drawingml/2006/main">
              <a:ext uri="{FF2B5EF4-FFF2-40B4-BE49-F238E27FC236}">
                <a16:creationId xmlns:a16="http://schemas.microsoft.com/office/drawing/2014/main" id="{AC5CBD75-7B38-4BC5-900A-EAC21CC2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08</a:t>
            </a:r>
          </a:p>
        </p:txBody>
      </p:sp>
      <p:cxnSp>
        <p:nvCxnSpPr>
          <p:cNvPr id="29" name="prod-stair-1"/>
          <p:cNvCxnSpPr/>
          <p:nvPr/>
        </p:nvCxnSpPr>
        <p:spPr>
          <a:xfrm xmlns:a="http://schemas.openxmlformats.org/drawingml/2006/main">
            <a:off x="819150" y="5353050"/>
            <a:ext cx="24765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38BDF8"/>
            </a:solidFill>
            <a:prstDash val="solid"/>
          </a:ln>
        </p:spPr>
      </p:cxnSp>
      <p:cxnSp>
        <p:nvCxnSpPr>
          <p:cNvPr id="30" name="prod-stair-2"/>
          <p:cNvCxnSpPr/>
          <p:nvPr/>
        </p:nvCxnSpPr>
        <p:spPr>
          <a:xfrm xmlns:a="http://schemas.openxmlformats.org/drawingml/2006/main">
            <a:off x="3295650" y="4362450"/>
            <a:ext cx="953" cy="990600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8B5CF6"/>
            </a:solidFill>
            <a:prstDash val="solid"/>
          </a:ln>
        </p:spPr>
      </p:cxnSp>
      <p:cxnSp>
        <p:nvCxnSpPr>
          <p:cNvPr id="31" name="prod-stair-3"/>
          <p:cNvCxnSpPr/>
          <p:nvPr/>
        </p:nvCxnSpPr>
        <p:spPr>
          <a:xfrm xmlns:a="http://schemas.openxmlformats.org/drawingml/2006/main">
            <a:off x="3295650" y="4362450"/>
            <a:ext cx="24765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8B5CF6"/>
            </a:solidFill>
            <a:prstDash val="solid"/>
          </a:ln>
        </p:spPr>
      </p:cxnSp>
      <p:cxnSp>
        <p:nvCxnSpPr>
          <p:cNvPr id="32" name="prod-stair-4"/>
          <p:cNvCxnSpPr/>
          <p:nvPr/>
        </p:nvCxnSpPr>
        <p:spPr>
          <a:xfrm xmlns:a="http://schemas.openxmlformats.org/drawingml/2006/main">
            <a:off x="5772150" y="3371850"/>
            <a:ext cx="953" cy="990600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FF6B6B"/>
            </a:solidFill>
            <a:prstDash val="solid"/>
          </a:ln>
        </p:spPr>
      </p:cxnSp>
      <p:cxnSp>
        <p:nvCxnSpPr>
          <p:cNvPr id="33" name="prod-stair-5"/>
          <p:cNvCxnSpPr/>
          <p:nvPr/>
        </p:nvCxnSpPr>
        <p:spPr>
          <a:xfrm xmlns:a="http://schemas.openxmlformats.org/drawingml/2006/main">
            <a:off x="5772150" y="3371850"/>
            <a:ext cx="24765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FF6B6B"/>
            </a:solidFill>
            <a:prstDash val="solid"/>
          </a:ln>
        </p:spPr>
      </p:cxnSp>
      <p:cxnSp>
        <p:nvCxnSpPr>
          <p:cNvPr id="34" name="prod-stair-6"/>
          <p:cNvCxnSpPr/>
          <p:nvPr/>
        </p:nvCxnSpPr>
        <p:spPr>
          <a:xfrm xmlns:a="http://schemas.openxmlformats.org/drawingml/2006/main">
            <a:off x="8248650" y="2381250"/>
            <a:ext cx="953" cy="990600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22C55E"/>
            </a:solidFill>
            <a:prstDash val="solid"/>
          </a:ln>
        </p:spPr>
      </p:cxnSp>
      <p:cxnSp>
        <p:nvCxnSpPr>
          <p:cNvPr id="35" name="prod-stair-7"/>
          <p:cNvCxnSpPr/>
          <p:nvPr/>
        </p:nvCxnSpPr>
        <p:spPr>
          <a:xfrm xmlns:a="http://schemas.openxmlformats.org/drawingml/2006/main">
            <a:off x="8248650" y="2381250"/>
            <a:ext cx="30480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22C55E"/>
            </a:solidFill>
            <a:prstDash val="solid"/>
          </a:ln>
        </p:spPr>
      </p:cxnSp>
      <p:sp>
        <p:nvSpPr>
          <p:cNvPr id="12" name="prod-local-dot">
            <a:extLst xmlns:a="http://schemas.openxmlformats.org/drawingml/2006/main">
              <a:ext uri="{FF2B5EF4-FFF2-40B4-BE49-F238E27FC236}">
                <a16:creationId xmlns:a16="http://schemas.microsoft.com/office/drawing/2014/main" id="{AA14D6F4-D1DD-422B-9E28-3DAA784E3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435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rod-ci-dot">
            <a:extLst xmlns:a="http://schemas.openxmlformats.org/drawingml/2006/main">
              <a:ext uri="{FF2B5EF4-FFF2-40B4-BE49-F238E27FC236}">
                <a16:creationId xmlns:a16="http://schemas.microsoft.com/office/drawing/2014/main" id="{AF489A07-DE02-46C2-98D2-01D5B47C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1529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rod-scale-dot">
            <a:extLst xmlns:a="http://schemas.openxmlformats.org/drawingml/2006/main">
              <a:ext uri="{FF2B5EF4-FFF2-40B4-BE49-F238E27FC236}">
                <a16:creationId xmlns:a16="http://schemas.microsoft.com/office/drawing/2014/main" id="{3E37ACA5-7812-4B12-BA06-4EDE9F4F9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1623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rod-enterprise-dot">
            <a:extLst xmlns:a="http://schemas.openxmlformats.org/drawingml/2006/main">
              <a:ext uri="{FF2B5EF4-FFF2-40B4-BE49-F238E27FC236}">
                <a16:creationId xmlns:a16="http://schemas.microsoft.com/office/drawing/2014/main" id="{FD104B5C-ADB8-4DC6-9F3D-559DC20B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717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rod-local-title">
            <a:extLst xmlns:a="http://schemas.openxmlformats.org/drawingml/2006/main">
              <a:ext uri="{FF2B5EF4-FFF2-40B4-BE49-F238E27FC236}">
                <a16:creationId xmlns:a16="http://schemas.microsoft.com/office/drawing/2014/main" id="{E221F8D6-C6D7-46F6-BEE6-DCF84AC9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85950"/>
            <a:ext cx="1809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8BDF8"/>
                </a:solidFill>
                <a:latin typeface="Aptos"/>
                <a:ea typeface="Aptos"/>
                <a:cs typeface="Aptos"/>
              </a:defRPr>
            </a:pPr>
            <a:r>
              <a:t>NOW</a:t>
            </a:r>
          </a:p>
        </p:txBody>
      </p:sp>
      <p:sp>
        <p:nvSpPr>
          <p:cNvPr id="17" name="prod-local-body">
            <a:extLst xmlns:a="http://schemas.openxmlformats.org/drawingml/2006/main">
              <a:ext uri="{FF2B5EF4-FFF2-40B4-BE49-F238E27FC236}">
                <a16:creationId xmlns:a16="http://schemas.microsoft.com/office/drawing/2014/main" id="{20EAEDAB-E265-4DDB-AD7D-590E11BD8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05050"/>
            <a:ext cx="21336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55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one offline script
lockfiles + pins
runtime API + source guard</a:t>
            </a:r>
          </a:p>
        </p:txBody>
      </p:sp>
      <p:sp>
        <p:nvSpPr>
          <p:cNvPr id="18" name="prod-ci-title">
            <a:extLst xmlns:a="http://schemas.openxmlformats.org/drawingml/2006/main">
              <a:ext uri="{FF2B5EF4-FFF2-40B4-BE49-F238E27FC236}">
                <a16:creationId xmlns:a16="http://schemas.microsoft.com/office/drawing/2014/main" id="{D6B83A3C-3DD7-49EA-8C1B-BA5BCE0DB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05350"/>
            <a:ext cx="1905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TEAM GATE</a:t>
            </a:r>
          </a:p>
        </p:txBody>
      </p:sp>
      <p:sp>
        <p:nvSpPr>
          <p:cNvPr id="19" name="prod-ci-body">
            <a:extLst xmlns:a="http://schemas.openxmlformats.org/drawingml/2006/main">
              <a:ext uri="{FF2B5EF4-FFF2-40B4-BE49-F238E27FC236}">
                <a16:creationId xmlns:a16="http://schemas.microsoft.com/office/drawing/2014/main" id="{DD286C9C-AED6-4F06-855B-F4ECEFA5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48250"/>
            <a:ext cx="22860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required PR check
branch protection
ownership + SLAs</a:t>
            </a:r>
          </a:p>
        </p:txBody>
      </p:sp>
      <p:sp>
        <p:nvSpPr>
          <p:cNvPr id="20" name="prod-scale-title">
            <a:extLst xmlns:a="http://schemas.openxmlformats.org/drawingml/2006/main">
              <a:ext uri="{FF2B5EF4-FFF2-40B4-BE49-F238E27FC236}">
                <a16:creationId xmlns:a16="http://schemas.microsoft.com/office/drawing/2014/main" id="{1BE5E2C0-88AF-42DA-8D07-4110BA165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71475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SCALE</a:t>
            </a:r>
          </a:p>
        </p:txBody>
      </p:sp>
      <p:sp>
        <p:nvSpPr>
          <p:cNvPr id="21" name="prod-scale-body">
            <a:extLst xmlns:a="http://schemas.openxmlformats.org/drawingml/2006/main">
              <a:ext uri="{FF2B5EF4-FFF2-40B4-BE49-F238E27FC236}">
                <a16:creationId xmlns:a16="http://schemas.microsoft.com/office/drawing/2014/main" id="{2CCA0B26-BD09-49E8-9BBE-6798BA926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057650"/>
            <a:ext cx="1714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pre-commit
Renovate
CodeQL</a:t>
            </a:r>
          </a:p>
        </p:txBody>
      </p:sp>
      <p:sp>
        <p:nvSpPr>
          <p:cNvPr id="22" name="prod-enterprise-title">
            <a:extLst xmlns:a="http://schemas.openxmlformats.org/drawingml/2006/main">
              <a:ext uri="{FF2B5EF4-FFF2-40B4-BE49-F238E27FC236}">
                <a16:creationId xmlns:a16="http://schemas.microsoft.com/office/drawing/2014/main" id="{1ADFFF3D-D7F6-4ABC-9DFA-DC7E4EA3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43200"/>
            <a:ext cx="27241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MATURE PLATFORM</a:t>
            </a:r>
          </a:p>
        </p:txBody>
      </p:sp>
      <p:sp>
        <p:nvSpPr>
          <p:cNvPr id="23" name="prod-enterprise-body">
            <a:extLst xmlns:a="http://schemas.openxmlformats.org/drawingml/2006/main">
              <a:ext uri="{FF2B5EF4-FFF2-40B4-BE49-F238E27FC236}">
                <a16:creationId xmlns:a16="http://schemas.microsoft.com/office/drawing/2014/main" id="{AC3E396D-3702-40A3-A4C6-0EABFAEF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162300"/>
            <a:ext cx="272415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policy exceptions
parallel shards
provenance + attestations
OpenSSF Scorecard</a:t>
            </a:r>
          </a:p>
        </p:txBody>
      </p:sp>
      <p:sp>
        <p:nvSpPr>
          <p:cNvPr id="24" name="prod-signal">
            <a:extLst xmlns:a="http://schemas.openxmlformats.org/drawingml/2006/main">
              <a:ext uri="{FF2B5EF4-FFF2-40B4-BE49-F238E27FC236}">
                <a16:creationId xmlns:a16="http://schemas.microsoft.com/office/drawing/2014/main" id="{7464A041-26E1-4249-A26D-30F327C6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29350"/>
            <a:ext cx="10515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Graduate when feedback time, supply-chain risk, or team coordination outgrows one linear gate.</a:t>
            </a:r>
          </a:p>
        </p:txBody>
      </p:sp>
    </p:spTree>
    <p:extLst>
      <p:ext uri="{BB962C8B-B14F-4D97-AF65-F5344CB8AC3E}">
        <p14:creationId xmlns:p14="http://schemas.microsoft.com/office/powerpoint/2010/main" val="11714985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9">
            <a:extLst xmlns:a="http://schemas.openxmlformats.org/drawingml/2006/main">
              <a:ext uri="{FF2B5EF4-FFF2-40B4-BE49-F238E27FC236}">
                <a16:creationId xmlns:a16="http://schemas.microsoft.com/office/drawing/2014/main" id="{3EB3B0C3-687F-402D-8883-5A0EA62D3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CCC243D2-BE11-4197-A9FA-E9E315A3A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Trust rises because the trade-offs stay visible</a:t>
            </a:r>
          </a:p>
        </p:txBody>
      </p:sp>
      <p:cxnSp>
        <p:nvCxnSpPr>
          <p:cNvPr id="20" name="header-rule-9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9">
            <a:extLst xmlns:a="http://schemas.openxmlformats.org/drawingml/2006/main">
              <a:ext uri="{FF2B5EF4-FFF2-40B4-BE49-F238E27FC236}">
                <a16:creationId xmlns:a16="http://schemas.microsoft.com/office/drawing/2014/main" id="{79EBE264-AB7F-4A4F-A7BC-57AFFDDC0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09</a:t>
            </a:r>
          </a:p>
        </p:txBody>
      </p:sp>
      <p:cxnSp>
        <p:nvCxnSpPr>
          <p:cNvPr id="22" name="trade-beam"/>
          <p:cNvCxnSpPr/>
          <p:nvPr/>
        </p:nvCxnSpPr>
        <p:spPr>
          <a:xfrm xmlns:a="http://schemas.openxmlformats.org/drawingml/2006/main">
            <a:off x="2038350" y="3371850"/>
            <a:ext cx="81153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0B1F33"/>
            </a:solidFill>
            <a:prstDash val="solid"/>
          </a:ln>
        </p:spPr>
      </p:cxnSp>
      <p:sp>
        <p:nvSpPr>
          <p:cNvPr id="6" name="trade-fulcrum">
            <a:extLst xmlns:a="http://schemas.openxmlformats.org/drawingml/2006/main">
              <a:ext uri="{FF2B5EF4-FFF2-40B4-BE49-F238E27FC236}">
                <a16:creationId xmlns:a16="http://schemas.microsoft.com/office/drawing/2014/main" id="{5CC15D1D-CB80-49C6-B4F6-B9B6D936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289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rade-left-pan">
            <a:extLst xmlns:a="http://schemas.openxmlformats.org/drawingml/2006/main">
              <a:ext uri="{FF2B5EF4-FFF2-40B4-BE49-F238E27FC236}">
                <a16:creationId xmlns:a16="http://schemas.microsoft.com/office/drawing/2014/main" id="{7D800A7A-BF75-4C13-A655-AD50D4F8E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36766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E9F9EF"/>
          </a:solidFill>
          <a:ln xmlns:a="http://schemas.openxmlformats.org/drawingml/2006/main" w="28575">
            <a:solidFill>
              <a:srgbClr val="22C55E"/>
            </a:solidFill>
            <a:prstDash val="solid"/>
          </a:ln>
        </p:spPr>
      </p:sp>
      <p:sp>
        <p:nvSpPr>
          <p:cNvPr id="8" name="trade-right-pan">
            <a:extLst xmlns:a="http://schemas.openxmlformats.org/drawingml/2006/main">
              <a:ext uri="{FF2B5EF4-FFF2-40B4-BE49-F238E27FC236}">
                <a16:creationId xmlns:a16="http://schemas.microsoft.com/office/drawing/2014/main" id="{D08DC4C7-CEE2-481A-AF0A-8AB98C03C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95700"/>
            <a:ext cx="36766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28575">
            <a:solidFill>
              <a:srgbClr val="FF6B6B"/>
            </a:solidFill>
            <a:prstDash val="solid"/>
          </a:ln>
        </p:spPr>
      </p:sp>
      <p:cxnSp>
        <p:nvCxnSpPr>
          <p:cNvPr id="26" name="trade-left-rope"/>
          <p:cNvCxnSpPr/>
          <p:nvPr/>
        </p:nvCxnSpPr>
        <p:spPr>
          <a:xfrm xmlns:a="http://schemas.openxmlformats.org/drawingml/2006/main">
            <a:off x="2038350" y="3371850"/>
            <a:ext cx="953" cy="3238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B1F33"/>
            </a:solidFill>
            <a:prstDash val="solid"/>
          </a:ln>
        </p:spPr>
      </p:cxnSp>
      <p:cxnSp>
        <p:nvCxnSpPr>
          <p:cNvPr id="27" name="trade-right-rope"/>
          <p:cNvCxnSpPr/>
          <p:nvPr/>
        </p:nvCxnSpPr>
        <p:spPr>
          <a:xfrm xmlns:a="http://schemas.openxmlformats.org/drawingml/2006/main">
            <a:off x="10153650" y="3371850"/>
            <a:ext cx="953" cy="3238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B1F33"/>
            </a:solidFill>
            <a:prstDash val="solid"/>
          </a:ln>
        </p:spPr>
      </p:cxnSp>
      <p:sp>
        <p:nvSpPr>
          <p:cNvPr id="11" name="trade-left-title">
            <a:extLst xmlns:a="http://schemas.openxmlformats.org/drawingml/2006/main">
              <a:ext uri="{FF2B5EF4-FFF2-40B4-BE49-F238E27FC236}">
                <a16:creationId xmlns:a16="http://schemas.microsoft.com/office/drawing/2014/main" id="{F096C754-5986-4009-9198-D4D9119E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43350"/>
            <a:ext cx="3105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WHAT WE GAIN</a:t>
            </a:r>
          </a:p>
        </p:txBody>
      </p:sp>
      <p:sp>
        <p:nvSpPr>
          <p:cNvPr id="12" name="trade-left-body">
            <a:extLst xmlns:a="http://schemas.openxmlformats.org/drawingml/2006/main">
              <a:ext uri="{FF2B5EF4-FFF2-40B4-BE49-F238E27FC236}">
                <a16:creationId xmlns:a16="http://schemas.microsoft.com/office/drawing/2014/main" id="{7DE23672-5F8C-4E2F-8102-75AFE85F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43400"/>
            <a:ext cx="31051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one definition of green
offline confidence
clear layer attribution</a:t>
            </a:r>
          </a:p>
        </p:txBody>
      </p:sp>
      <p:sp>
        <p:nvSpPr>
          <p:cNvPr id="13" name="trade-right-title">
            <a:extLst xmlns:a="http://schemas.openxmlformats.org/drawingml/2006/main">
              <a:ext uri="{FF2B5EF4-FFF2-40B4-BE49-F238E27FC236}">
                <a16:creationId xmlns:a16="http://schemas.microsoft.com/office/drawing/2014/main" id="{E295B3A2-A1F3-488B-8AEF-4BFEE197E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43350"/>
            <a:ext cx="3105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WHAT WE ACCEPT</a:t>
            </a:r>
          </a:p>
        </p:txBody>
      </p:sp>
      <p:sp>
        <p:nvSpPr>
          <p:cNvPr id="14" name="trade-right-body">
            <a:extLst xmlns:a="http://schemas.openxmlformats.org/drawingml/2006/main">
              <a:ext uri="{FF2B5EF4-FFF2-40B4-BE49-F238E27FC236}">
                <a16:creationId xmlns:a16="http://schemas.microsoft.com/office/drawing/2014/main" id="{FED45BCD-BE5D-44AA-BD62-D6703DE08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43400"/>
            <a:ext cx="31051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fail-fast, not full aggregation
a deliberately blunt static guard
serial checks before optimization</a:t>
            </a:r>
          </a:p>
        </p:txBody>
      </p:sp>
      <p:sp>
        <p:nvSpPr>
          <p:cNvPr id="15" name="trade-center">
            <a:extLst xmlns:a="http://schemas.openxmlformats.org/drawingml/2006/main">
              <a:ext uri="{FF2B5EF4-FFF2-40B4-BE49-F238E27FC236}">
                <a16:creationId xmlns:a16="http://schemas.microsoft.com/office/drawing/2014/main" id="{84C136ED-1204-4E83-BDE9-6786C6CC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333750"/>
            <a:ext cx="609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M0</a:t>
            </a:r>
          </a:p>
        </p:txBody>
      </p:sp>
      <p:sp>
        <p:nvSpPr>
          <p:cNvPr id="16" name="trade-rule">
            <a:extLst xmlns:a="http://schemas.openxmlformats.org/drawingml/2006/main">
              <a:ext uri="{FF2B5EF4-FFF2-40B4-BE49-F238E27FC236}">
                <a16:creationId xmlns:a16="http://schemas.microsoft.com/office/drawing/2014/main" id="{E0BA057B-C104-46D3-BBDD-8BA63BEF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562600"/>
            <a:ext cx="81534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rade-rule-text">
            <a:extLst xmlns:a="http://schemas.openxmlformats.org/drawingml/2006/main">
              <a:ext uri="{FF2B5EF4-FFF2-40B4-BE49-F238E27FC236}">
                <a16:creationId xmlns:a16="http://schemas.microsoft.com/office/drawing/2014/main" id="{599F54DC-7CEB-4B81-B4C4-33B324E83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7505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Optimize only after measured pain—never by quietly changing the meaning of green.</a:t>
            </a:r>
          </a:p>
        </p:txBody>
      </p:sp>
    </p:spTree>
    <p:extLst>
      <p:ext uri="{BB962C8B-B14F-4D97-AF65-F5344CB8AC3E}">
        <p14:creationId xmlns:p14="http://schemas.microsoft.com/office/powerpoint/2010/main" val="8998397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lose-bg">
            <a:extLst xmlns:a="http://schemas.openxmlformats.org/drawingml/2006/main">
              <a:ext uri="{FF2B5EF4-FFF2-40B4-BE49-F238E27FC236}">
                <a16:creationId xmlns:a16="http://schemas.microsoft.com/office/drawing/2014/main" id="{3AABA33C-357C-4B5E-BFFE-4825DA56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21" name="close-runway"/>
          <p:cNvCxnSpPr/>
          <p:nvPr/>
        </p:nvCxnSpPr>
        <p:spPr>
          <a:xfrm xmlns:a="http://schemas.openxmlformats.org/drawingml/2006/main">
            <a:off x="1123950" y="4953000"/>
            <a:ext cx="9391650" cy="953"/>
          </a:xfrm>
          <a:prstGeom xmlns:a="http://schemas.openxmlformats.org/drawingml/2006/main" prst="straightConnector1">
            <a:avLst/>
          </a:prstGeom>
          <a:ln xmlns:a="http://schemas.openxmlformats.org/drawingml/2006/main" w="171450">
            <a:solidFill>
              <a:srgbClr val="29445F"/>
            </a:solidFill>
            <a:prstDash val="solid"/>
          </a:ln>
        </p:spPr>
      </p:cxnSp>
      <p:cxnSp>
        <p:nvCxnSpPr>
          <p:cNvPr id="22" name="close-runway-green"/>
          <p:cNvCxnSpPr/>
          <p:nvPr/>
        </p:nvCxnSpPr>
        <p:spPr>
          <a:xfrm xmlns:a="http://schemas.openxmlformats.org/drawingml/2006/main">
            <a:off x="1123950" y="4953000"/>
            <a:ext cx="7239000" cy="953"/>
          </a:xfrm>
          <a:prstGeom xmlns:a="http://schemas.openxmlformats.org/drawingml/2006/main" prst="straightConnector1">
            <a:avLst/>
          </a:prstGeom>
          <a:ln xmlns:a="http://schemas.openxmlformats.org/drawingml/2006/main" w="171450">
            <a:solidFill>
              <a:srgbClr val="22C55E"/>
            </a:solidFill>
            <a:prstDash val="solid"/>
          </a:ln>
        </p:spPr>
      </p:cxnSp>
      <p:sp>
        <p:nvSpPr>
          <p:cNvPr id="4" name="close-arrow">
            <a:extLst xmlns:a="http://schemas.openxmlformats.org/drawingml/2006/main">
              <a:ext uri="{FF2B5EF4-FFF2-40B4-BE49-F238E27FC236}">
                <a16:creationId xmlns:a16="http://schemas.microsoft.com/office/drawing/2014/main" id="{E3D8B76B-E755-45FF-8B90-5D542850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1466850" cy="685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lose-check-ring">
            <a:extLst xmlns:a="http://schemas.openxmlformats.org/drawingml/2006/main">
              <a:ext uri="{FF2B5EF4-FFF2-40B4-BE49-F238E27FC236}">
                <a16:creationId xmlns:a16="http://schemas.microsoft.com/office/drawing/2014/main" id="{7E363D83-AED5-480A-B0B9-982B58B06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886200"/>
            <a:ext cx="1962150" cy="1962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351F"/>
          </a:solidFill>
          <a:ln xmlns:a="http://schemas.openxmlformats.org/drawingml/2006/main" w="76200">
            <a:solidFill>
              <a:srgbClr val="22C55E"/>
            </a:solidFill>
            <a:prstDash val="solid"/>
          </a:ln>
        </p:spPr>
      </p:sp>
      <p:sp>
        <p:nvSpPr>
          <p:cNvPr id="6" name="close-check">
            <a:extLst xmlns:a="http://schemas.openxmlformats.org/drawingml/2006/main">
              <a:ext uri="{FF2B5EF4-FFF2-40B4-BE49-F238E27FC236}">
                <a16:creationId xmlns:a16="http://schemas.microsoft.com/office/drawing/2014/main" id="{A9EC794F-00D8-497F-A61E-108745FE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133850"/>
            <a:ext cx="1162050" cy="1162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30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7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71E27262-9E22-4E1D-84E4-E76B5CFAD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5715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t>CAH-007  •  GATE ESTABLISHED</a:t>
            </a:r>
          </a:p>
        </p:txBody>
      </p:sp>
      <p:sp>
        <p:nvSpPr>
          <p:cNvPr id="8" name="close-title">
            <a:extLst xmlns:a="http://schemas.openxmlformats.org/drawingml/2006/main">
              <a:ext uri="{FF2B5EF4-FFF2-40B4-BE49-F238E27FC236}">
                <a16:creationId xmlns:a16="http://schemas.microsoft.com/office/drawing/2014/main" id="{C85814F0-B2B5-44E2-AC83-70A6BD879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7429500" cy="148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t>Make green mean
something.</a:t>
            </a:r>
          </a:p>
        </p:txBody>
      </p:sp>
      <p:sp>
        <p:nvSpPr>
          <p:cNvPr id="9" name="close-subtitle">
            <a:extLst xmlns:a="http://schemas.openxmlformats.org/drawingml/2006/main">
              <a:ext uri="{FF2B5EF4-FFF2-40B4-BE49-F238E27FC236}">
                <a16:creationId xmlns:a16="http://schemas.microsoft.com/office/drawing/2014/main" id="{7FEE0366-51A1-4BFE-8D94-B74B0FBF4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0"/>
            <a:ext cx="8191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7E5F4"/>
                </a:solidFill>
                <a:latin typeface="Aptos"/>
                <a:ea typeface="Aptos"/>
                <a:cs typeface="Aptos"/>
              </a:defRPr>
            </a:pPr>
            <a:r>
              <a:t>One command. Locked setup. Offline validation. Honest failures.</a:t>
            </a:r>
          </a:p>
        </p:txBody>
      </p:sp>
      <p:sp>
        <p:nvSpPr>
          <p:cNvPr id="10" name="close-num-0">
            <a:extLst xmlns:a="http://schemas.openxmlformats.org/drawingml/2006/main">
              <a:ext uri="{FF2B5EF4-FFF2-40B4-BE49-F238E27FC236}">
                <a16:creationId xmlns:a16="http://schemas.microsoft.com/office/drawing/2014/main" id="{41466FDE-254C-4B25-B8FF-CDFC43E8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76650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t>01</a:t>
            </a:r>
          </a:p>
        </p:txBody>
      </p:sp>
      <p:sp>
        <p:nvSpPr>
          <p:cNvPr id="11" name="close-body-0">
            <a:extLst xmlns:a="http://schemas.openxmlformats.org/drawingml/2006/main">
              <a:ext uri="{FF2B5EF4-FFF2-40B4-BE49-F238E27FC236}">
                <a16:creationId xmlns:a16="http://schemas.microsoft.com/office/drawing/2014/main" id="{61C112A0-015F-462D-809A-A0EA8FA83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14750"/>
            <a:ext cx="20383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Use ./scripts/check before Done</a:t>
            </a:r>
          </a:p>
        </p:txBody>
      </p:sp>
      <p:sp>
        <p:nvSpPr>
          <p:cNvPr id="12" name="close-num-1">
            <a:extLst xmlns:a="http://schemas.openxmlformats.org/drawingml/2006/main">
              <a:ext uri="{FF2B5EF4-FFF2-40B4-BE49-F238E27FC236}">
                <a16:creationId xmlns:a16="http://schemas.microsoft.com/office/drawing/2014/main" id="{1F827BCB-CC22-4470-9C38-E9A593CA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676650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  <p:sp>
        <p:nvSpPr>
          <p:cNvPr id="13" name="close-body-1">
            <a:extLst xmlns:a="http://schemas.openxmlformats.org/drawingml/2006/main">
              <a:ext uri="{FF2B5EF4-FFF2-40B4-BE49-F238E27FC236}">
                <a16:creationId xmlns:a16="http://schemas.microsoft.com/office/drawing/2014/main" id="{F6C79B62-3CCE-417A-ACFF-8901B119D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714750"/>
            <a:ext cx="20383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Trust seams, not just modules</a:t>
            </a:r>
          </a:p>
        </p:txBody>
      </p:sp>
      <p:sp>
        <p:nvSpPr>
          <p:cNvPr id="14" name="close-num-2">
            <a:extLst xmlns:a="http://schemas.openxmlformats.org/drawingml/2006/main">
              <a:ext uri="{FF2B5EF4-FFF2-40B4-BE49-F238E27FC236}">
                <a16:creationId xmlns:a16="http://schemas.microsoft.com/office/drawing/2014/main" id="{0822D808-C5D4-401C-BB86-D535A241F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  <p:sp>
        <p:nvSpPr>
          <p:cNvPr id="15" name="close-body-2">
            <a:extLst xmlns:a="http://schemas.openxmlformats.org/drawingml/2006/main">
              <a:ext uri="{FF2B5EF4-FFF2-40B4-BE49-F238E27FC236}">
                <a16:creationId xmlns:a16="http://schemas.microsoft.com/office/drawing/2014/main" id="{C2952B3F-4140-4A59-BA2B-A1D1AEC0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714750"/>
            <a:ext cx="20383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Let CI reuse the same contract</a:t>
            </a:r>
          </a:p>
        </p:txBody>
      </p:sp>
      <p:sp>
        <p:nvSpPr>
          <p:cNvPr id="16" name="close-next">
            <a:extLst xmlns:a="http://schemas.openxmlformats.org/drawingml/2006/main">
              <a:ext uri="{FF2B5EF4-FFF2-40B4-BE49-F238E27FC236}">
                <a16:creationId xmlns:a16="http://schemas.microsoft.com/office/drawing/2014/main" id="{34DB04DD-1A8E-44C4-AAC7-2BE34BD2D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34050"/>
            <a:ext cx="80200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12744"/>
          </a:solidFill>
          <a:ln xmlns:a="http://schemas.openxmlformats.org/drawingml/2006/main" w="19050">
            <a:solidFill>
              <a:srgbClr val="8B5CF6"/>
            </a:solidFill>
            <a:prstDash val="solid"/>
          </a:ln>
        </p:spPr>
      </p:sp>
      <p:sp>
        <p:nvSpPr>
          <p:cNvPr id="17" name="close-next-kicker">
            <a:extLst xmlns:a="http://schemas.openxmlformats.org/drawingml/2006/main">
              <a:ext uri="{FF2B5EF4-FFF2-40B4-BE49-F238E27FC236}">
                <a16:creationId xmlns:a16="http://schemas.microsoft.com/office/drawing/2014/main" id="{3E253F1C-3146-4B15-A14D-3ED37F1B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0"/>
            <a:ext cx="2190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NEXT  →  CAH-010</a:t>
            </a:r>
          </a:p>
        </p:txBody>
      </p:sp>
      <p:sp>
        <p:nvSpPr>
          <p:cNvPr id="18" name="close-next-body">
            <a:extLst xmlns:a="http://schemas.openxmlformats.org/drawingml/2006/main">
              <a:ext uri="{FF2B5EF4-FFF2-40B4-BE49-F238E27FC236}">
                <a16:creationId xmlns:a16="http://schemas.microsoft.com/office/drawing/2014/main" id="{923535E1-DAEB-4372-A3D8-3DD13C6D6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886450"/>
            <a:ext cx="5181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Build the session-state reducer behind a gate we can trust.</a:t>
            </a:r>
          </a:p>
        </p:txBody>
      </p:sp>
      <p:sp>
        <p:nvSpPr>
          <p:cNvPr id="19" name="close-fun">
            <a:extLst xmlns:a="http://schemas.openxmlformats.org/drawingml/2006/main">
              <a:ext uri="{FF2B5EF4-FFF2-40B4-BE49-F238E27FC236}">
                <a16:creationId xmlns:a16="http://schemas.microsoft.com/office/drawing/2014/main" id="{BE0C9C2A-EED7-49A2-9C85-01F46CF7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6076950"/>
            <a:ext cx="2343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t>The robot approves.</a:t>
            </a:r>
          </a:p>
        </p:txBody>
      </p:sp>
    </p:spTree>
    <p:extLst>
      <p:ext uri="{BB962C8B-B14F-4D97-AF65-F5344CB8AC3E}">
        <p14:creationId xmlns:p14="http://schemas.microsoft.com/office/powerpoint/2010/main" val="527547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2026-07-30T20:36:50.1930000Z</dcterms:created>
  <dcterms:modified xsi:type="dcterms:W3CDTF">2026-07-30T20:36:50.1930000Z</dcterms:modified>
</coreProperties>
</file>