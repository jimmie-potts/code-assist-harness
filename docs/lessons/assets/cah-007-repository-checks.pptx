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c4b6f27d584b48" /><Relationship Type="http://schemas.openxmlformats.org/officeDocument/2006/relationships/extended-properties" Target="/docProps/app.xml" Id="R0a6032968f484fac" /><Relationship Type="http://schemas.openxmlformats.org/officeDocument/2006/relationships/officeDocument" Target="/ppt/presentation.xml" Id="R5532b25a587f40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428e85819b24b78"/>
  </p:sldMasterIdLst>
  <p:notesMasterIdLst>
    <p:notesMasterId xmlns:r="http://schemas.openxmlformats.org/officeDocument/2006/relationships" r:id="R82c5754984aa408a"/>
  </p:notesMasterIdLst>
  <p:sldIdLst>
    <p:sldId xmlns:r="http://schemas.openxmlformats.org/officeDocument/2006/relationships" id="256" r:id="R9d2ac45832214265"/>
    <p:sldId xmlns:r="http://schemas.openxmlformats.org/officeDocument/2006/relationships" id="257" r:id="R4176f9b884af40fb"/>
    <p:sldId xmlns:r="http://schemas.openxmlformats.org/officeDocument/2006/relationships" id="258" r:id="R4dbc06b9a52144fa"/>
    <p:sldId xmlns:r="http://schemas.openxmlformats.org/officeDocument/2006/relationships" id="259" r:id="Rda4c9e7a7fa84526"/>
    <p:sldId xmlns:r="http://schemas.openxmlformats.org/officeDocument/2006/relationships" id="260" r:id="R635f42d570a448f2"/>
    <p:sldId xmlns:r="http://schemas.openxmlformats.org/officeDocument/2006/relationships" id="261" r:id="R2d2492bf69d94875"/>
    <p:sldId xmlns:r="http://schemas.openxmlformats.org/officeDocument/2006/relationships" id="262" r:id="R8e8493f1cd194555"/>
    <p:sldId xmlns:r="http://schemas.openxmlformats.org/officeDocument/2006/relationships" id="263" r:id="R816f4bae08014c6a"/>
    <p:sldId xmlns:r="http://schemas.openxmlformats.org/officeDocument/2006/relationships" id="264" r:id="R8d5b62b476174cc5"/>
    <p:sldId xmlns:r="http://schemas.openxmlformats.org/officeDocument/2006/relationships" id="265" r:id="Rded37daa004f4be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2b211e87754054" /><Relationship Type="http://schemas.openxmlformats.org/officeDocument/2006/relationships/slideMaster" Target="/ppt/slideMasters/slideMaster1.xml" Id="Rd428e85819b24b78" /><Relationship Type="http://schemas.openxmlformats.org/officeDocument/2006/relationships/notesMaster" Target="/ppt/notesMasters/notesMaster1.xml" Id="R82c5754984aa408a" /><Relationship Type="http://schemas.openxmlformats.org/officeDocument/2006/relationships/presProps" Target="/ppt/presProps.xml" Id="R67942e22af0947f8" /><Relationship Type="http://schemas.openxmlformats.org/officeDocument/2006/relationships/tableStyles" Target="/ppt/tableStyles.xml" Id="R60c356f16ffe4a83" /><Relationship Type="http://schemas.openxmlformats.org/officeDocument/2006/relationships/slide" Target="/ppt/slides/slide1.xml" Id="R9d2ac45832214265" /><Relationship Type="http://schemas.openxmlformats.org/officeDocument/2006/relationships/slide" Target="/ppt/slides/slide2.xml" Id="R4176f9b884af40fb" /><Relationship Type="http://schemas.openxmlformats.org/officeDocument/2006/relationships/slide" Target="/ppt/slides/slide3.xml" Id="R4dbc06b9a52144fa" /><Relationship Type="http://schemas.openxmlformats.org/officeDocument/2006/relationships/slide" Target="/ppt/slides/slide4.xml" Id="Rda4c9e7a7fa84526" /><Relationship Type="http://schemas.openxmlformats.org/officeDocument/2006/relationships/slide" Target="/ppt/slides/slide5.xml" Id="R635f42d570a448f2" /><Relationship Type="http://schemas.openxmlformats.org/officeDocument/2006/relationships/slide" Target="/ppt/slides/slide6.xml" Id="R2d2492bf69d94875" /><Relationship Type="http://schemas.openxmlformats.org/officeDocument/2006/relationships/slide" Target="/ppt/slides/slide7.xml" Id="R8e8493f1cd194555" /><Relationship Type="http://schemas.openxmlformats.org/officeDocument/2006/relationships/slide" Target="/ppt/slides/slide8.xml" Id="R816f4bae08014c6a" /><Relationship Type="http://schemas.openxmlformats.org/officeDocument/2006/relationships/slide" Target="/ppt/slides/slide9.xml" Id="R8d5b62b476174cc5" /><Relationship Type="http://schemas.openxmlformats.org/officeDocument/2006/relationships/slide" Target="/ppt/slides/slide10.xml" Id="Rded37daa004f4b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859437a221f49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9e39f7eec042af" /><Relationship Type="http://schemas.openxmlformats.org/officeDocument/2006/relationships/notesMaster" Target="/ppt/notesMasters/notesMaster1.xml" Id="R3a65967523064a0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e902d3a0a749eb" /><Relationship Type="http://schemas.openxmlformats.org/officeDocument/2006/relationships/notesMaster" Target="/ppt/notesMasters/notesMaster1.xml" Id="R7a3c606ebeba43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ccecc15437457a" /><Relationship Type="http://schemas.openxmlformats.org/officeDocument/2006/relationships/notesMaster" Target="/ppt/notesMasters/notesMaster1.xml" Id="R10e2047806d940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27c7f57b0e4d0e" /><Relationship Type="http://schemas.openxmlformats.org/officeDocument/2006/relationships/notesMaster" Target="/ppt/notesMasters/notesMaster1.xml" Id="Rbadae226268744d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06f1cc74a64a2e" /><Relationship Type="http://schemas.openxmlformats.org/officeDocument/2006/relationships/notesMaster" Target="/ppt/notesMasters/notesMaster1.xml" Id="Red7cf449563a45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1f44a45206a481b" /><Relationship Type="http://schemas.openxmlformats.org/officeDocument/2006/relationships/notesMaster" Target="/ppt/notesMasters/notesMaster1.xml" Id="Rcb66829a0487400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6081e67a5f440e3" /><Relationship Type="http://schemas.openxmlformats.org/officeDocument/2006/relationships/notesMaster" Target="/ppt/notesMasters/notesMaster1.xml" Id="Ra5a47061c26148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7a63b3a7314766" /><Relationship Type="http://schemas.openxmlformats.org/officeDocument/2006/relationships/notesMaster" Target="/ppt/notesMasters/notesMaster1.xml" Id="Rba17f32d396d451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f66b28125fc4781" /><Relationship Type="http://schemas.openxmlformats.org/officeDocument/2006/relationships/notesMaster" Target="/ppt/notesMasters/notesMaster1.xml" Id="R3cfb415849fe4a0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41534553bf145e1" /><Relationship Type="http://schemas.openxmlformats.org/officeDocument/2006/relationships/notesMaster" Target="/ppt/notesMasters/notesMaster1.xml" Id="R001e74540c4143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50c61ee12140b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8ca1aec0cd4b82" /><Relationship Type="http://schemas.openxmlformats.org/officeDocument/2006/relationships/slideLayout" Target="/ppt/slideLayouts/slideLayout1.xml" Id="R148c33be0d1547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8c33be0d1547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b3c61ed92c48ec" /><Relationship Type="http://schemas.openxmlformats.org/officeDocument/2006/relationships/image" Target="/ppt/media/image.png" Id="Recb73dc808514755" /><Relationship Type="http://schemas.openxmlformats.org/officeDocument/2006/relationships/notesSlide" Target="/ppt/notesSlides/notesSlide1.xml" Id="Raf74e6b14abf4d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bf9debd90a405c" /><Relationship Type="http://schemas.openxmlformats.org/officeDocument/2006/relationships/notesSlide" Target="/ppt/notesSlides/notesSlide2.xml" Id="R360ef90bebaa4d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89b6c3c8bf45c8" /><Relationship Type="http://schemas.openxmlformats.org/officeDocument/2006/relationships/notesSlide" Target="/ppt/notesSlides/notesSlide3.xml" Id="R17c95ebb738d4b4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2cf87d68194d0d" /><Relationship Type="http://schemas.openxmlformats.org/officeDocument/2006/relationships/notesSlide" Target="/ppt/notesSlides/notesSlide4.xml" Id="Rba65d903f036409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961210a06b411f" /><Relationship Type="http://schemas.openxmlformats.org/officeDocument/2006/relationships/notesSlide" Target="/ppt/notesSlides/notesSlide5.xml" Id="Rf234d8428ace42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5c6082522442ee" /><Relationship Type="http://schemas.openxmlformats.org/officeDocument/2006/relationships/notesSlide" Target="/ppt/notesSlides/notesSlide6.xml" Id="R2c99578e02d84f2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60bd287e44b72" /><Relationship Type="http://schemas.openxmlformats.org/officeDocument/2006/relationships/notesSlide" Target="/ppt/notesSlides/notesSlide7.xml" Id="R32b65ce29c564d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b1e23ed93c4a57" /><Relationship Type="http://schemas.openxmlformats.org/officeDocument/2006/relationships/notesSlide" Target="/ppt/notesSlides/notesSlide8.xml" Id="R59c5ca539293410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58a0d7294c4d74" /><Relationship Type="http://schemas.openxmlformats.org/officeDocument/2006/relationships/notesSlide" Target="/ppt/notesSlides/notesSlide9.xml" Id="R2228685121d0472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5b27f2fe884aed" /><Relationship Type="http://schemas.openxmlformats.org/officeDocument/2006/relationships/notesSlide" Target="/ppt/notesSlides/notesSlide10.xml" Id="Reaf4f68ceb9a4a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b73dc80851475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shade">
            <a:extLst xmlns:a="http://schemas.openxmlformats.org/drawingml/2006/main">
              <a:ext uri="{FF2B5EF4-FFF2-40B4-BE49-F238E27FC236}">
                <a16:creationId xmlns:a16="http://schemas.microsoft.com/office/drawing/2014/main" id="{2C5998AF-3340-47D6-9C80-2BFEE62D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5816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cyan">
            <a:extLst xmlns:a="http://schemas.openxmlformats.org/drawingml/2006/main">
              <a:ext uri="{FF2B5EF4-FFF2-40B4-BE49-F238E27FC236}">
                <a16:creationId xmlns:a16="http://schemas.microsoft.com/office/drawing/2014/main" id="{9212926D-36BB-4DFE-8F75-1A2A5DEF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90600"/>
            <a:ext cx="95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3C35A48E-E462-46B3-B575-D133D4E5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CAH-007  •  VERIFIED VISUAL LESSON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587EBDF-3146-4EF9-850F-C853D9C0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33450"/>
            <a:ext cx="4514850" cy="2019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t>One green check.
The whole walking skeleton.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C86CFEA-C006-43C3-879B-75F595CA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4248150" cy="1123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7E5F4"/>
                </a:solidFill>
                <a:latin typeface="Aptos"/>
                <a:ea typeface="Aptos"/>
                <a:cs typeface="Aptos"/>
              </a:defRPr>
            </a:pPr>
            <a:r>
              <a:t>A canonical offline gate for Python, TypeScript, protocol fixtures, docs, policy, and the real process boundary.</a:t>
            </a:r>
          </a:p>
        </p:txBody>
      </p:sp>
      <p:sp>
        <p:nvSpPr>
          <p:cNvPr id="7" name="cover-command">
            <a:extLst xmlns:a="http://schemas.openxmlformats.org/drawingml/2006/main">
              <a:ext uri="{FF2B5EF4-FFF2-40B4-BE49-F238E27FC236}">
                <a16:creationId xmlns:a16="http://schemas.microsoft.com/office/drawing/2014/main" id="{C51E1F62-BBAF-442C-896C-1B09FD47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3162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12744"/>
          </a:solidFill>
          <a:ln xmlns:a="http://schemas.openxmlformats.org/drawingml/2006/main" w="19050">
            <a:solidFill>
              <a:srgbClr val="22D3EE"/>
            </a:solidFill>
            <a:prstDash val="solid"/>
          </a:ln>
        </p:spPr>
      </p:sp>
      <p:sp>
        <p:nvSpPr>
          <p:cNvPr id="8" name="cover-command-text">
            <a:extLst xmlns:a="http://schemas.openxmlformats.org/drawingml/2006/main">
              <a:ext uri="{FF2B5EF4-FFF2-40B4-BE49-F238E27FC236}">
                <a16:creationId xmlns:a16="http://schemas.microsoft.com/office/drawing/2014/main" id="{0795476C-117F-4AC2-9AC1-2BCED602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05375"/>
            <a:ext cx="27051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2D3EE"/>
                </a:solidFill>
                <a:latin typeface="Consolas"/>
                <a:ea typeface="Consolas"/>
                <a:cs typeface="Consolas"/>
              </a:defRPr>
            </a:pPr>
            <a:r>
              <a:t>./scripts/check</a:t>
            </a:r>
          </a:p>
        </p:txBody>
      </p:sp>
      <p:sp>
        <p:nvSpPr>
          <p:cNvPr id="9" name="cover-caption">
            <a:extLst xmlns:a="http://schemas.openxmlformats.org/drawingml/2006/main">
              <a:ext uri="{FF2B5EF4-FFF2-40B4-BE49-F238E27FC236}">
                <a16:creationId xmlns:a16="http://schemas.microsoft.com/office/drawing/2014/main" id="{F150E7FE-CB99-4E1C-AC06-57231AEF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00700"/>
            <a:ext cx="400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t>No live provider. No mystery. Just the gate.</a:t>
            </a:r>
          </a:p>
        </p:txBody>
      </p:sp>
      <p:sp>
        <p:nvSpPr>
          <p:cNvPr id="10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8C20D312-64C7-45B7-AD80-61202209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343650"/>
            <a:ext cx="1733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M0 QUALITY MACHINE</a:t>
            </a:r>
          </a:p>
        </p:txBody>
      </p:sp>
    </p:spTree>
    <p:extLst>
      <p:ext uri="{BB962C8B-B14F-4D97-AF65-F5344CB8AC3E}">
        <p14:creationId xmlns:p14="http://schemas.microsoft.com/office/powerpoint/2010/main" val="20801768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2">
            <a:extLst xmlns:a="http://schemas.openxmlformats.org/drawingml/2006/main">
              <a:ext uri="{FF2B5EF4-FFF2-40B4-BE49-F238E27FC236}">
                <a16:creationId xmlns:a16="http://schemas.microsoft.com/office/drawing/2014/main" id="{69C0658A-2243-4C10-B356-A17642E9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944C9541-7E9C-4F5C-B4E8-0BABCA7BD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A pile of soloists does not make one reliable orchestra</a:t>
            </a:r>
          </a:p>
        </p:txBody>
      </p:sp>
      <p:cxnSp>
        <p:nvCxnSpPr>
          <p:cNvPr id="44" name="header-rule-2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2">
            <a:extLst xmlns:a="http://schemas.openxmlformats.org/drawingml/2006/main">
              <a:ext uri="{FF2B5EF4-FFF2-40B4-BE49-F238E27FC236}">
                <a16:creationId xmlns:a16="http://schemas.microsoft.com/office/drawing/2014/main" id="{1C4B4498-D150-471B-BEEE-FFB12666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cxnSp>
        <p:nvCxnSpPr>
          <p:cNvPr id="46" name="solo-line-0"/>
          <p:cNvCxnSpPr/>
          <p:nvPr/>
        </p:nvCxnSpPr>
        <p:spPr>
          <a:xfrm xmlns:a="http://schemas.openxmlformats.org/drawingml/2006/main">
            <a:off x="838200" y="22860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6" name="solo-dot-0">
            <a:extLst xmlns:a="http://schemas.openxmlformats.org/drawingml/2006/main">
              <a:ext uri="{FF2B5EF4-FFF2-40B4-BE49-F238E27FC236}">
                <a16:creationId xmlns:a16="http://schemas.microsoft.com/office/drawing/2014/main" id="{3F77FF6F-058E-4306-AE5B-CC7AD271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48" name="solo-line-1"/>
          <p:cNvCxnSpPr/>
          <p:nvPr/>
        </p:nvCxnSpPr>
        <p:spPr>
          <a:xfrm xmlns:a="http://schemas.openxmlformats.org/drawingml/2006/main">
            <a:off x="838200" y="27813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8" name="solo-dot-1">
            <a:extLst xmlns:a="http://schemas.openxmlformats.org/drawingml/2006/main">
              <a:ext uri="{FF2B5EF4-FFF2-40B4-BE49-F238E27FC236}">
                <a16:creationId xmlns:a16="http://schemas.microsoft.com/office/drawing/2014/main" id="{7C236EEF-B831-4628-BB46-63FD42BB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0" name="solo-line-2"/>
          <p:cNvCxnSpPr/>
          <p:nvPr/>
        </p:nvCxnSpPr>
        <p:spPr>
          <a:xfrm xmlns:a="http://schemas.openxmlformats.org/drawingml/2006/main">
            <a:off x="838200" y="32766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10" name="solo-dot-2">
            <a:extLst xmlns:a="http://schemas.openxmlformats.org/drawingml/2006/main">
              <a:ext uri="{FF2B5EF4-FFF2-40B4-BE49-F238E27FC236}">
                <a16:creationId xmlns:a16="http://schemas.microsoft.com/office/drawing/2014/main" id="{7B2DBF09-9827-4C59-8739-08D03D6C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051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2" name="solo-line-3"/>
          <p:cNvCxnSpPr/>
          <p:nvPr/>
        </p:nvCxnSpPr>
        <p:spPr>
          <a:xfrm xmlns:a="http://schemas.openxmlformats.org/drawingml/2006/main">
            <a:off x="838200" y="37719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12" name="solo-dot-3">
            <a:extLst xmlns:a="http://schemas.openxmlformats.org/drawingml/2006/main">
              <a:ext uri="{FF2B5EF4-FFF2-40B4-BE49-F238E27FC236}">
                <a16:creationId xmlns:a16="http://schemas.microsoft.com/office/drawing/2014/main" id="{A2BB0A4D-D79C-4C97-A6B3-59CE4DA3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004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4" name="solo-line-4"/>
          <p:cNvCxnSpPr/>
          <p:nvPr/>
        </p:nvCxnSpPr>
        <p:spPr>
          <a:xfrm xmlns:a="http://schemas.openxmlformats.org/drawingml/2006/main">
            <a:off x="838200" y="42672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14" name="solo-dot-4">
            <a:extLst xmlns:a="http://schemas.openxmlformats.org/drawingml/2006/main">
              <a:ext uri="{FF2B5EF4-FFF2-40B4-BE49-F238E27FC236}">
                <a16:creationId xmlns:a16="http://schemas.microsoft.com/office/drawing/2014/main" id="{C746B074-91D4-437E-80F2-9C4AD3A5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6" name="solo-line-5"/>
          <p:cNvCxnSpPr/>
          <p:nvPr/>
        </p:nvCxnSpPr>
        <p:spPr>
          <a:xfrm xmlns:a="http://schemas.openxmlformats.org/drawingml/2006/main">
            <a:off x="838200" y="47625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16" name="solo-dot-5">
            <a:extLst xmlns:a="http://schemas.openxmlformats.org/drawingml/2006/main">
              <a:ext uri="{FF2B5EF4-FFF2-40B4-BE49-F238E27FC236}">
                <a16:creationId xmlns:a16="http://schemas.microsoft.com/office/drawing/2014/main" id="{27A06BDF-30CE-4F35-B166-F9C009FDB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8" name="solo-line-6"/>
          <p:cNvCxnSpPr/>
          <p:nvPr/>
        </p:nvCxnSpPr>
        <p:spPr>
          <a:xfrm xmlns:a="http://schemas.openxmlformats.org/drawingml/2006/main">
            <a:off x="838200" y="52578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18" name="solo-dot-6">
            <a:extLst xmlns:a="http://schemas.openxmlformats.org/drawingml/2006/main">
              <a:ext uri="{FF2B5EF4-FFF2-40B4-BE49-F238E27FC236}">
                <a16:creationId xmlns:a16="http://schemas.microsoft.com/office/drawing/2014/main" id="{D6CE2B99-A203-4AB1-9931-35345F5B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86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60" name="orchestra-spine"/>
          <p:cNvCxnSpPr/>
          <p:nvPr/>
        </p:nvCxnSpPr>
        <p:spPr>
          <a:xfrm xmlns:a="http://schemas.openxmlformats.org/drawingml/2006/main">
            <a:off x="6705600" y="2286000"/>
            <a:ext cx="953" cy="30289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1F33"/>
            </a:solidFill>
            <a:prstDash val="solid"/>
          </a:ln>
        </p:spPr>
      </p:cxnSp>
      <p:sp>
        <p:nvSpPr>
          <p:cNvPr id="20" name="orchestra-arrow">
            <a:extLst xmlns:a="http://schemas.openxmlformats.org/drawingml/2006/main">
              <a:ext uri="{FF2B5EF4-FFF2-40B4-BE49-F238E27FC236}">
                <a16:creationId xmlns:a16="http://schemas.microsoft.com/office/drawing/2014/main" id="{2F868A64-577C-4EA7-B7A9-2A7390F5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24250"/>
            <a:ext cx="93345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orchestra-check-ring">
            <a:extLst xmlns:a="http://schemas.openxmlformats.org/drawingml/2006/main">
              <a:ext uri="{FF2B5EF4-FFF2-40B4-BE49-F238E27FC236}">
                <a16:creationId xmlns:a16="http://schemas.microsoft.com/office/drawing/2014/main" id="{40F4247F-7680-4B27-9194-A58EC156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71750"/>
            <a:ext cx="2343150" cy="2343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9EF"/>
          </a:solidFill>
          <a:ln xmlns:a="http://schemas.openxmlformats.org/drawingml/2006/main" w="95250">
            <a:solidFill>
              <a:srgbClr val="22C55E"/>
            </a:solidFill>
            <a:prstDash val="solid"/>
          </a:ln>
        </p:spPr>
      </p:sp>
      <p:sp>
        <p:nvSpPr>
          <p:cNvPr id="22" name="orchestra-check">
            <a:extLst xmlns:a="http://schemas.openxmlformats.org/drawingml/2006/main">
              <a:ext uri="{FF2B5EF4-FFF2-40B4-BE49-F238E27FC236}">
                <a16:creationId xmlns:a16="http://schemas.microsoft.com/office/drawing/2014/main" id="{29F5AE73-D730-4703-A01A-C62BB2C9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00350"/>
            <a:ext cx="150495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40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23" name="orchestra-baton">
            <a:extLst xmlns:a="http://schemas.openxmlformats.org/drawingml/2006/main">
              <a:ext uri="{FF2B5EF4-FFF2-40B4-BE49-F238E27FC236}">
                <a16:creationId xmlns:a16="http://schemas.microsoft.com/office/drawing/2014/main" id="{4433CEB9-388D-455D-81A1-EBB2B110E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247900"/>
            <a:ext cx="95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orchestra-baton-tip">
            <a:extLst xmlns:a="http://schemas.openxmlformats.org/drawingml/2006/main">
              <a:ext uri="{FF2B5EF4-FFF2-40B4-BE49-F238E27FC236}">
                <a16:creationId xmlns:a16="http://schemas.microsoft.com/office/drawing/2014/main" id="{C4CD5493-2771-44A3-9033-6324F8DB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0764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olo-label-0">
            <a:extLst xmlns:a="http://schemas.openxmlformats.org/drawingml/2006/main">
              <a:ext uri="{FF2B5EF4-FFF2-40B4-BE49-F238E27FC236}">
                <a16:creationId xmlns:a16="http://schemas.microsoft.com/office/drawing/2014/main" id="{3A47C76C-EEF5-4052-9968-333CDDB58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Python</a:t>
            </a:r>
          </a:p>
        </p:txBody>
      </p:sp>
      <p:sp>
        <p:nvSpPr>
          <p:cNvPr id="26" name="solo-note-0">
            <a:extLst xmlns:a="http://schemas.openxmlformats.org/drawingml/2006/main">
              <a:ext uri="{FF2B5EF4-FFF2-40B4-BE49-F238E27FC236}">
                <a16:creationId xmlns:a16="http://schemas.microsoft.com/office/drawing/2014/main" id="{06A32471-7C68-4628-BC95-1732B301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383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♪</a:t>
            </a:r>
          </a:p>
        </p:txBody>
      </p:sp>
      <p:sp>
        <p:nvSpPr>
          <p:cNvPr id="27" name="solo-label-1">
            <a:extLst xmlns:a="http://schemas.openxmlformats.org/drawingml/2006/main">
              <a:ext uri="{FF2B5EF4-FFF2-40B4-BE49-F238E27FC236}">
                <a16:creationId xmlns:a16="http://schemas.microsoft.com/office/drawing/2014/main" id="{29727E8F-78AC-4222-BD9D-9713AEF2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style</a:t>
            </a:r>
          </a:p>
        </p:txBody>
      </p:sp>
      <p:sp>
        <p:nvSpPr>
          <p:cNvPr id="28" name="solo-note-1">
            <a:extLst xmlns:a="http://schemas.openxmlformats.org/drawingml/2006/main">
              <a:ext uri="{FF2B5EF4-FFF2-40B4-BE49-F238E27FC236}">
                <a16:creationId xmlns:a16="http://schemas.microsoft.com/office/drawing/2014/main" id="{90B61C17-7CF5-4FEC-B32A-4988AB71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336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♫</a:t>
            </a:r>
          </a:p>
        </p:txBody>
      </p:sp>
      <p:sp>
        <p:nvSpPr>
          <p:cNvPr id="29" name="solo-label-2">
            <a:extLst xmlns:a="http://schemas.openxmlformats.org/drawingml/2006/main">
              <a:ext uri="{FF2B5EF4-FFF2-40B4-BE49-F238E27FC236}">
                <a16:creationId xmlns:a16="http://schemas.microsoft.com/office/drawing/2014/main" id="{2ED8419D-CC72-43FB-898F-AD85A1F7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432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docs</a:t>
            </a:r>
          </a:p>
        </p:txBody>
      </p:sp>
      <p:sp>
        <p:nvSpPr>
          <p:cNvPr id="30" name="solo-note-2">
            <a:extLst xmlns:a="http://schemas.openxmlformats.org/drawingml/2006/main">
              <a:ext uri="{FF2B5EF4-FFF2-40B4-BE49-F238E27FC236}">
                <a16:creationId xmlns:a16="http://schemas.microsoft.com/office/drawing/2014/main" id="{E0C98C5B-3005-4BC1-97E2-C838EC46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0289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t>♪</a:t>
            </a:r>
          </a:p>
        </p:txBody>
      </p:sp>
      <p:sp>
        <p:nvSpPr>
          <p:cNvPr id="31" name="solo-label-3">
            <a:extLst xmlns:a="http://schemas.openxmlformats.org/drawingml/2006/main">
              <a:ext uri="{FF2B5EF4-FFF2-40B4-BE49-F238E27FC236}">
                <a16:creationId xmlns:a16="http://schemas.microsoft.com/office/drawing/2014/main" id="{E36C94F1-38D8-475A-B3CC-404D3969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policy</a:t>
            </a:r>
          </a:p>
        </p:txBody>
      </p:sp>
      <p:sp>
        <p:nvSpPr>
          <p:cNvPr id="32" name="solo-note-3">
            <a:extLst xmlns:a="http://schemas.openxmlformats.org/drawingml/2006/main">
              <a:ext uri="{FF2B5EF4-FFF2-40B4-BE49-F238E27FC236}">
                <a16:creationId xmlns:a16="http://schemas.microsoft.com/office/drawing/2014/main" id="{AD1CDF26-8746-4FE2-B852-84A9C057F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5242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♫</a:t>
            </a:r>
          </a:p>
        </p:txBody>
      </p:sp>
      <p:sp>
        <p:nvSpPr>
          <p:cNvPr id="33" name="solo-label-4">
            <a:extLst xmlns:a="http://schemas.openxmlformats.org/drawingml/2006/main">
              <a:ext uri="{FF2B5EF4-FFF2-40B4-BE49-F238E27FC236}">
                <a16:creationId xmlns:a16="http://schemas.microsoft.com/office/drawing/2014/main" id="{0D388C4D-88B9-4466-A512-2020CC99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338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fixtures</a:t>
            </a:r>
          </a:p>
        </p:txBody>
      </p:sp>
      <p:sp>
        <p:nvSpPr>
          <p:cNvPr id="34" name="solo-note-4">
            <a:extLst xmlns:a="http://schemas.openxmlformats.org/drawingml/2006/main">
              <a:ext uri="{FF2B5EF4-FFF2-40B4-BE49-F238E27FC236}">
                <a16:creationId xmlns:a16="http://schemas.microsoft.com/office/drawing/2014/main" id="{4DE02818-95A0-4AAC-AC02-89373DAF8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0195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♪</a:t>
            </a:r>
          </a:p>
        </p:txBody>
      </p:sp>
      <p:sp>
        <p:nvSpPr>
          <p:cNvPr id="35" name="solo-label-5">
            <a:extLst xmlns:a="http://schemas.openxmlformats.org/drawingml/2006/main">
              <a:ext uri="{FF2B5EF4-FFF2-40B4-BE49-F238E27FC236}">
                <a16:creationId xmlns:a16="http://schemas.microsoft.com/office/drawing/2014/main" id="{3D3A7A54-95CB-4F36-9FE1-5C10C2D2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TUI</a:t>
            </a:r>
          </a:p>
        </p:txBody>
      </p:sp>
      <p:sp>
        <p:nvSpPr>
          <p:cNvPr id="36" name="solo-note-5">
            <a:extLst xmlns:a="http://schemas.openxmlformats.org/drawingml/2006/main">
              <a:ext uri="{FF2B5EF4-FFF2-40B4-BE49-F238E27FC236}">
                <a16:creationId xmlns:a16="http://schemas.microsoft.com/office/drawing/2014/main" id="{BFFFB38D-E04D-4303-95FF-866130DF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5148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♫</a:t>
            </a:r>
          </a:p>
        </p:txBody>
      </p:sp>
      <p:sp>
        <p:nvSpPr>
          <p:cNvPr id="37" name="solo-label-6">
            <a:extLst xmlns:a="http://schemas.openxmlformats.org/drawingml/2006/main">
              <a:ext uri="{FF2B5EF4-FFF2-40B4-BE49-F238E27FC236}">
                <a16:creationId xmlns:a16="http://schemas.microsoft.com/office/drawing/2014/main" id="{CAED938E-F59C-4A91-81C6-E64067BA1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244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boundary</a:t>
            </a:r>
          </a:p>
        </p:txBody>
      </p:sp>
      <p:sp>
        <p:nvSpPr>
          <p:cNvPr id="38" name="solo-note-6">
            <a:extLst xmlns:a="http://schemas.openxmlformats.org/drawingml/2006/main">
              <a:ext uri="{FF2B5EF4-FFF2-40B4-BE49-F238E27FC236}">
                <a16:creationId xmlns:a16="http://schemas.microsoft.com/office/drawing/2014/main" id="{24109D46-1F69-4667-AF8B-A42AEC27F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0101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♪</a:t>
            </a:r>
          </a:p>
        </p:txBody>
      </p:sp>
      <p:sp>
        <p:nvSpPr>
          <p:cNvPr id="39" name="orchestra-caption">
            <a:extLst xmlns:a="http://schemas.openxmlformats.org/drawingml/2006/main">
              <a:ext uri="{FF2B5EF4-FFF2-40B4-BE49-F238E27FC236}">
                <a16:creationId xmlns:a16="http://schemas.microsoft.com/office/drawing/2014/main" id="{CBD359EA-4072-4B72-B671-9AAB76AC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933950"/>
            <a:ext cx="36576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Individually useful.
Collectively trustworthy only when one command owns the order.</a:t>
            </a:r>
          </a:p>
        </p:txBody>
      </p:sp>
      <p:sp>
        <p:nvSpPr>
          <p:cNvPr id="40" name="orchestra-punchline">
            <a:extLst xmlns:a="http://schemas.openxmlformats.org/drawingml/2006/main">
              <a:ext uri="{FF2B5EF4-FFF2-40B4-BE49-F238E27FC236}">
                <a16:creationId xmlns:a16="http://schemas.microsoft.com/office/drawing/2014/main" id="{058F0000-A5F9-4B65-8A9C-DB01F06E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62650"/>
            <a:ext cx="11277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orchestra-punchline-text">
            <a:extLst xmlns:a="http://schemas.openxmlformats.org/drawingml/2006/main">
              <a:ext uri="{FF2B5EF4-FFF2-40B4-BE49-F238E27FC236}">
                <a16:creationId xmlns:a16="http://schemas.microsoft.com/office/drawing/2014/main" id="{E928690E-3E73-4600-885D-51E30F5F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76950"/>
            <a:ext cx="1070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The product is not a pile of green commands—it is one reproducible decision.</a:t>
            </a:r>
          </a:p>
        </p:txBody>
      </p:sp>
    </p:spTree>
    <p:extLst>
      <p:ext uri="{BB962C8B-B14F-4D97-AF65-F5344CB8AC3E}">
        <p14:creationId xmlns:p14="http://schemas.microsoft.com/office/powerpoint/2010/main" val="11622710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3">
            <a:extLst xmlns:a="http://schemas.openxmlformats.org/drawingml/2006/main">
              <a:ext uri="{FF2B5EF4-FFF2-40B4-BE49-F238E27FC236}">
                <a16:creationId xmlns:a16="http://schemas.microsoft.com/office/drawing/2014/main" id="{36289CFC-B1E9-44C6-9E5F-39D4B11F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40C1EAF7-BF1D-4BE3-875D-2A405286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Eleven named stations make failures attributable</a:t>
            </a:r>
          </a:p>
        </p:txBody>
      </p:sp>
      <p:cxnSp>
        <p:nvCxnSpPr>
          <p:cNvPr id="43" name="header-rule-3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3">
            <a:extLst xmlns:a="http://schemas.openxmlformats.org/drawingml/2006/main">
              <a:ext uri="{FF2B5EF4-FFF2-40B4-BE49-F238E27FC236}">
                <a16:creationId xmlns:a16="http://schemas.microsoft.com/office/drawing/2014/main" id="{F65171D4-D3C0-4188-8655-48DEEB96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cxnSp>
        <p:nvCxnSpPr>
          <p:cNvPr id="45" name="station-line-0"/>
          <p:cNvCxnSpPr/>
          <p:nvPr/>
        </p:nvCxnSpPr>
        <p:spPr>
          <a:xfrm xmlns:a="http://schemas.openxmlformats.org/drawingml/2006/main">
            <a:off x="3124200" y="2266950"/>
            <a:ext cx="79819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38BDF8"/>
            </a:solidFill>
            <a:prstDash val="solid"/>
          </a:ln>
        </p:spPr>
      </p:cxnSp>
      <p:sp>
        <p:nvSpPr>
          <p:cNvPr id="6" name="station-group-0">
            <a:extLst xmlns:a="http://schemas.openxmlformats.org/drawingml/2006/main">
              <a:ext uri="{FF2B5EF4-FFF2-40B4-BE49-F238E27FC236}">
                <a16:creationId xmlns:a16="http://schemas.microsoft.com/office/drawing/2014/main" id="{3F565B17-6B1B-45E6-8AA7-D976438A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81200"/>
            <a:ext cx="2324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PYTHON CORE  •  4</a:t>
            </a:r>
          </a:p>
        </p:txBody>
      </p:sp>
      <p:sp>
        <p:nvSpPr>
          <p:cNvPr id="7" name="station-dot-0-0">
            <a:extLst xmlns:a="http://schemas.openxmlformats.org/drawingml/2006/main">
              <a:ext uri="{FF2B5EF4-FFF2-40B4-BE49-F238E27FC236}">
                <a16:creationId xmlns:a16="http://schemas.microsoft.com/office/drawing/2014/main" id="{47FD91CC-95A6-4409-9D52-511E267F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124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8" name="station-label-0-0">
            <a:extLst xmlns:a="http://schemas.openxmlformats.org/drawingml/2006/main">
              <a:ext uri="{FF2B5EF4-FFF2-40B4-BE49-F238E27FC236}">
                <a16:creationId xmlns:a16="http://schemas.microsoft.com/office/drawing/2014/main" id="{0F0DF56C-81EC-4CC8-AF86-91B96E2BB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812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lockfile</a:t>
            </a:r>
          </a:p>
        </p:txBody>
      </p:sp>
      <p:sp>
        <p:nvSpPr>
          <p:cNvPr id="9" name="station-dot-0-1">
            <a:extLst xmlns:a="http://schemas.openxmlformats.org/drawingml/2006/main">
              <a:ext uri="{FF2B5EF4-FFF2-40B4-BE49-F238E27FC236}">
                <a16:creationId xmlns:a16="http://schemas.microsoft.com/office/drawing/2014/main" id="{176FEE0A-2F90-40BF-8CF4-109D6A8D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1975" y="2124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0" name="station-label-0-1">
            <a:extLst xmlns:a="http://schemas.openxmlformats.org/drawingml/2006/main">
              <a:ext uri="{FF2B5EF4-FFF2-40B4-BE49-F238E27FC236}">
                <a16:creationId xmlns:a16="http://schemas.microsoft.com/office/drawing/2014/main" id="{3AE1D741-7C66-4F8C-9823-6CD7993D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250" y="23812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lint + docstrings</a:t>
            </a:r>
          </a:p>
        </p:txBody>
      </p:sp>
      <p:sp>
        <p:nvSpPr>
          <p:cNvPr id="11" name="station-dot-0-2">
            <a:extLst xmlns:a="http://schemas.openxmlformats.org/drawingml/2006/main">
              <a:ext uri="{FF2B5EF4-FFF2-40B4-BE49-F238E27FC236}">
                <a16:creationId xmlns:a16="http://schemas.microsoft.com/office/drawing/2014/main" id="{29E0490F-7056-4185-8554-EC2B78C7A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625" y="2124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2" name="station-label-0-2">
            <a:extLst xmlns:a="http://schemas.openxmlformats.org/drawingml/2006/main">
              <a:ext uri="{FF2B5EF4-FFF2-40B4-BE49-F238E27FC236}">
                <a16:creationId xmlns:a16="http://schemas.microsoft.com/office/drawing/2014/main" id="{3CB22131-5F3D-4AD9-A714-F98E3B61D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900" y="23812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format</a:t>
            </a:r>
          </a:p>
        </p:txBody>
      </p:sp>
      <p:sp>
        <p:nvSpPr>
          <p:cNvPr id="13" name="station-dot-0-3">
            <a:extLst xmlns:a="http://schemas.openxmlformats.org/drawingml/2006/main">
              <a:ext uri="{FF2B5EF4-FFF2-40B4-BE49-F238E27FC236}">
                <a16:creationId xmlns:a16="http://schemas.microsoft.com/office/drawing/2014/main" id="{C206EA78-BB69-4115-B865-23DD57122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3275" y="2124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4" name="station-label-0-3">
            <a:extLst xmlns:a="http://schemas.openxmlformats.org/drawingml/2006/main">
              <a:ext uri="{FF2B5EF4-FFF2-40B4-BE49-F238E27FC236}">
                <a16:creationId xmlns:a16="http://schemas.microsoft.com/office/drawing/2014/main" id="{19F536B2-49D8-4E1A-B072-382B43139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3812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core tests</a:t>
            </a:r>
          </a:p>
        </p:txBody>
      </p:sp>
      <p:cxnSp>
        <p:nvCxnSpPr>
          <p:cNvPr id="55" name="station-line-1"/>
          <p:cNvCxnSpPr/>
          <p:nvPr/>
        </p:nvCxnSpPr>
        <p:spPr>
          <a:xfrm xmlns:a="http://schemas.openxmlformats.org/drawingml/2006/main">
            <a:off x="3124200" y="3143250"/>
            <a:ext cx="79819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8B5CF6"/>
            </a:solidFill>
            <a:prstDash val="solid"/>
          </a:ln>
        </p:spPr>
      </p:cxnSp>
      <p:sp>
        <p:nvSpPr>
          <p:cNvPr id="16" name="station-group-1">
            <a:extLst xmlns:a="http://schemas.openxmlformats.org/drawingml/2006/main">
              <a:ext uri="{FF2B5EF4-FFF2-40B4-BE49-F238E27FC236}">
                <a16:creationId xmlns:a16="http://schemas.microsoft.com/office/drawing/2014/main" id="{86E467AA-6F7A-4CF7-B288-E85CA371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0"/>
            <a:ext cx="2324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TRUST BOUNDARY  •  2</a:t>
            </a:r>
          </a:p>
        </p:txBody>
      </p:sp>
      <p:sp>
        <p:nvSpPr>
          <p:cNvPr id="17" name="station-dot-1-0">
            <a:extLst xmlns:a="http://schemas.openxmlformats.org/drawingml/2006/main">
              <a:ext uri="{FF2B5EF4-FFF2-40B4-BE49-F238E27FC236}">
                <a16:creationId xmlns:a16="http://schemas.microsoft.com/office/drawing/2014/main" id="{79C52BB9-C4FF-4CBD-A53B-EE8760BC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8" name="station-label-1-0">
            <a:extLst xmlns:a="http://schemas.openxmlformats.org/drawingml/2006/main">
              <a:ext uri="{FF2B5EF4-FFF2-40B4-BE49-F238E27FC236}">
                <a16:creationId xmlns:a16="http://schemas.microsoft.com/office/drawing/2014/main" id="{2D351D76-9F3B-4C41-B2AC-877B97BE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575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Python fixtures</a:t>
            </a:r>
          </a:p>
        </p:txBody>
      </p:sp>
      <p:sp>
        <p:nvSpPr>
          <p:cNvPr id="19" name="station-dot-1-1">
            <a:extLst xmlns:a="http://schemas.openxmlformats.org/drawingml/2006/main">
              <a:ext uri="{FF2B5EF4-FFF2-40B4-BE49-F238E27FC236}">
                <a16:creationId xmlns:a16="http://schemas.microsoft.com/office/drawing/2014/main" id="{252DC3F0-33C4-4B02-87DF-4C168062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327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20" name="station-label-1-1">
            <a:extLst xmlns:a="http://schemas.openxmlformats.org/drawingml/2006/main">
              <a:ext uri="{FF2B5EF4-FFF2-40B4-BE49-F238E27FC236}">
                <a16:creationId xmlns:a16="http://schemas.microsoft.com/office/drawing/2014/main" id="{23952680-FB5E-4E1A-B62F-D21AFC67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2575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repository policy</a:t>
            </a:r>
          </a:p>
        </p:txBody>
      </p:sp>
      <p:cxnSp>
        <p:nvCxnSpPr>
          <p:cNvPr id="61" name="station-line-2"/>
          <p:cNvCxnSpPr/>
          <p:nvPr/>
        </p:nvCxnSpPr>
        <p:spPr>
          <a:xfrm xmlns:a="http://schemas.openxmlformats.org/drawingml/2006/main">
            <a:off x="3124200" y="4019550"/>
            <a:ext cx="79819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FF6B6B"/>
            </a:solidFill>
            <a:prstDash val="solid"/>
          </a:ln>
        </p:spPr>
      </p:cxnSp>
      <p:sp>
        <p:nvSpPr>
          <p:cNvPr id="22" name="station-group-2">
            <a:extLst xmlns:a="http://schemas.openxmlformats.org/drawingml/2006/main">
              <a:ext uri="{FF2B5EF4-FFF2-40B4-BE49-F238E27FC236}">
                <a16:creationId xmlns:a16="http://schemas.microsoft.com/office/drawing/2014/main" id="{2B5F6628-F448-4519-8C77-17219379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33800"/>
            <a:ext cx="2324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TUI CORE  •  3</a:t>
            </a:r>
          </a:p>
        </p:txBody>
      </p:sp>
      <p:sp>
        <p:nvSpPr>
          <p:cNvPr id="23" name="station-dot-2-0">
            <a:extLst xmlns:a="http://schemas.openxmlformats.org/drawingml/2006/main">
              <a:ext uri="{FF2B5EF4-FFF2-40B4-BE49-F238E27FC236}">
                <a16:creationId xmlns:a16="http://schemas.microsoft.com/office/drawing/2014/main" id="{35D0F0DE-74B8-4FB4-972B-A5B4CD71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876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24" name="station-label-2-0">
            <a:extLst xmlns:a="http://schemas.openxmlformats.org/drawingml/2006/main">
              <a:ext uri="{FF2B5EF4-FFF2-40B4-BE49-F238E27FC236}">
                <a16:creationId xmlns:a16="http://schemas.microsoft.com/office/drawing/2014/main" id="{0D71C111-ACEF-406E-BE0B-4AD58863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1338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typecheck</a:t>
            </a:r>
          </a:p>
        </p:txBody>
      </p:sp>
      <p:sp>
        <p:nvSpPr>
          <p:cNvPr id="25" name="station-dot-2-1">
            <a:extLst xmlns:a="http://schemas.openxmlformats.org/drawingml/2006/main">
              <a:ext uri="{FF2B5EF4-FFF2-40B4-BE49-F238E27FC236}">
                <a16:creationId xmlns:a16="http://schemas.microsoft.com/office/drawing/2014/main" id="{ECFE3B7A-8626-4325-A26A-C4C10F0D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76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26" name="station-label-2-1">
            <a:extLst xmlns:a="http://schemas.openxmlformats.org/drawingml/2006/main">
              <a:ext uri="{FF2B5EF4-FFF2-40B4-BE49-F238E27FC236}">
                <a16:creationId xmlns:a16="http://schemas.microsoft.com/office/drawing/2014/main" id="{CF66690D-F438-4CAD-A7BE-90A882E5C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41338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lint</a:t>
            </a:r>
          </a:p>
        </p:txBody>
      </p:sp>
      <p:sp>
        <p:nvSpPr>
          <p:cNvPr id="27" name="station-dot-2-2">
            <a:extLst xmlns:a="http://schemas.openxmlformats.org/drawingml/2006/main">
              <a:ext uri="{FF2B5EF4-FFF2-40B4-BE49-F238E27FC236}">
                <a16:creationId xmlns:a16="http://schemas.microsoft.com/office/drawing/2014/main" id="{82EDA0E9-D755-4526-87F0-EA47365C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3275" y="3876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28" name="station-label-2-2">
            <a:extLst xmlns:a="http://schemas.openxmlformats.org/drawingml/2006/main">
              <a:ext uri="{FF2B5EF4-FFF2-40B4-BE49-F238E27FC236}">
                <a16:creationId xmlns:a16="http://schemas.microsoft.com/office/drawing/2014/main" id="{C8BBED10-0B70-4129-A969-A5265422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1338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core tests</a:t>
            </a:r>
          </a:p>
        </p:txBody>
      </p:sp>
      <p:cxnSp>
        <p:nvCxnSpPr>
          <p:cNvPr id="69" name="station-line-3"/>
          <p:cNvCxnSpPr/>
          <p:nvPr/>
        </p:nvCxnSpPr>
        <p:spPr>
          <a:xfrm xmlns:a="http://schemas.openxmlformats.org/drawingml/2006/main">
            <a:off x="3124200" y="4895850"/>
            <a:ext cx="79819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22C55E"/>
            </a:solidFill>
            <a:prstDash val="solid"/>
          </a:ln>
        </p:spPr>
      </p:cxnSp>
      <p:sp>
        <p:nvSpPr>
          <p:cNvPr id="30" name="station-group-3">
            <a:extLst xmlns:a="http://schemas.openxmlformats.org/drawingml/2006/main">
              <a:ext uri="{FF2B5EF4-FFF2-40B4-BE49-F238E27FC236}">
                <a16:creationId xmlns:a16="http://schemas.microsoft.com/office/drawing/2014/main" id="{556EAF61-80A7-4DBD-97E6-F7D0E8DF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0100"/>
            <a:ext cx="2324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CROSS-PROCESS  •  2</a:t>
            </a:r>
          </a:p>
        </p:txBody>
      </p:sp>
      <p:sp>
        <p:nvSpPr>
          <p:cNvPr id="31" name="station-dot-3-0">
            <a:extLst xmlns:a="http://schemas.openxmlformats.org/drawingml/2006/main">
              <a:ext uri="{FF2B5EF4-FFF2-40B4-BE49-F238E27FC236}">
                <a16:creationId xmlns:a16="http://schemas.microsoft.com/office/drawing/2014/main" id="{7903F9DA-DC24-4382-8DAE-342024D07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7529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32" name="station-label-3-0">
            <a:extLst xmlns:a="http://schemas.openxmlformats.org/drawingml/2006/main">
              <a:ext uri="{FF2B5EF4-FFF2-40B4-BE49-F238E27FC236}">
                <a16:creationId xmlns:a16="http://schemas.microsoft.com/office/drawing/2014/main" id="{EA65A283-869F-44E8-BB5C-4498517A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101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TypeScript fixtures</a:t>
            </a:r>
          </a:p>
        </p:txBody>
      </p:sp>
      <p:sp>
        <p:nvSpPr>
          <p:cNvPr id="33" name="station-dot-3-1">
            <a:extLst xmlns:a="http://schemas.openxmlformats.org/drawingml/2006/main">
              <a:ext uri="{FF2B5EF4-FFF2-40B4-BE49-F238E27FC236}">
                <a16:creationId xmlns:a16="http://schemas.microsoft.com/office/drawing/2014/main" id="{3389ED81-47B1-4D26-92B5-AA231FAB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3275" y="47529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34" name="station-label-3-1">
            <a:extLst xmlns:a="http://schemas.openxmlformats.org/drawingml/2006/main">
              <a:ext uri="{FF2B5EF4-FFF2-40B4-BE49-F238E27FC236}">
                <a16:creationId xmlns:a16="http://schemas.microsoft.com/office/drawing/2014/main" id="{C5835B8F-B746-4459-AA48-6E2546BF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0101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Node–Python integration</a:t>
            </a:r>
          </a:p>
        </p:txBody>
      </p:sp>
      <p:sp>
        <p:nvSpPr>
          <p:cNvPr id="35" name="spine-fail">
            <a:extLst xmlns:a="http://schemas.openxmlformats.org/drawingml/2006/main">
              <a:ext uri="{FF2B5EF4-FFF2-40B4-BE49-F238E27FC236}">
                <a16:creationId xmlns:a16="http://schemas.microsoft.com/office/drawing/2014/main" id="{148EBBA6-E9B8-4020-9BD9-DF34DBBC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66865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9050">
            <a:solidFill>
              <a:srgbClr val="FF6B6B"/>
            </a:solidFill>
            <a:prstDash val="solid"/>
          </a:ln>
        </p:spPr>
      </p:sp>
      <p:sp>
        <p:nvSpPr>
          <p:cNvPr id="36" name="spine-fail-icon">
            <a:extLst xmlns:a="http://schemas.openxmlformats.org/drawingml/2006/main">
              <a:ext uri="{FF2B5EF4-FFF2-40B4-BE49-F238E27FC236}">
                <a16:creationId xmlns:a16="http://schemas.microsoft.com/office/drawing/2014/main" id="{974DF767-5BAB-46F9-A511-97602420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476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!</a:t>
            </a:r>
          </a:p>
        </p:txBody>
      </p:sp>
      <p:sp>
        <p:nvSpPr>
          <p:cNvPr id="37" name="spine-fail-text">
            <a:extLst xmlns:a="http://schemas.openxmlformats.org/drawingml/2006/main">
              <a:ext uri="{FF2B5EF4-FFF2-40B4-BE49-F238E27FC236}">
                <a16:creationId xmlns:a16="http://schemas.microsoft.com/office/drawing/2014/main" id="{F0D7C1F4-CA6D-441F-AC3F-4A931BF1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781675"/>
            <a:ext cx="54673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First failure stops the train;
the last  ==&gt;  label names the layer.</a:t>
            </a:r>
          </a:p>
        </p:txBody>
      </p:sp>
      <p:sp>
        <p:nvSpPr>
          <p:cNvPr id="38" name="spine-pass">
            <a:extLst xmlns:a="http://schemas.openxmlformats.org/drawingml/2006/main">
              <a:ext uri="{FF2B5EF4-FFF2-40B4-BE49-F238E27FC236}">
                <a16:creationId xmlns:a16="http://schemas.microsoft.com/office/drawing/2014/main" id="{944472B5-A2E3-4275-BEE9-B9974756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657850"/>
            <a:ext cx="4286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9F9EF"/>
          </a:solidFill>
          <a:ln xmlns:a="http://schemas.openxmlformats.org/drawingml/2006/main" w="19050">
            <a:solidFill>
              <a:srgbClr val="22C55E"/>
            </a:solidFill>
            <a:prstDash val="solid"/>
          </a:ln>
        </p:spPr>
      </p:sp>
      <p:sp>
        <p:nvSpPr>
          <p:cNvPr id="39" name="spine-pass-icon">
            <a:extLst xmlns:a="http://schemas.openxmlformats.org/drawingml/2006/main">
              <a:ext uri="{FF2B5EF4-FFF2-40B4-BE49-F238E27FC236}">
                <a16:creationId xmlns:a16="http://schemas.microsoft.com/office/drawing/2014/main" id="{72ECCD7F-B3E7-474E-A383-FB093E83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762625"/>
            <a:ext cx="495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40" name="spine-pass-text">
            <a:extLst xmlns:a="http://schemas.openxmlformats.org/drawingml/2006/main">
              <a:ext uri="{FF2B5EF4-FFF2-40B4-BE49-F238E27FC236}">
                <a16:creationId xmlns:a16="http://schemas.microsoft.com/office/drawing/2014/main" id="{05DC0FF3-A184-4377-8495-2469FDDF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781675"/>
            <a:ext cx="30670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Only after station 11:
All repository checks passed.</a:t>
            </a:r>
          </a:p>
        </p:txBody>
      </p:sp>
    </p:spTree>
    <p:extLst>
      <p:ext uri="{BB962C8B-B14F-4D97-AF65-F5344CB8AC3E}">
        <p14:creationId xmlns:p14="http://schemas.microsoft.com/office/powerpoint/2010/main" val="15492323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4">
            <a:extLst xmlns:a="http://schemas.openxmlformats.org/drawingml/2006/main">
              <a:ext uri="{FF2B5EF4-FFF2-40B4-BE49-F238E27FC236}">
                <a16:creationId xmlns:a16="http://schemas.microsoft.com/office/drawing/2014/main" id="{46050C10-6928-44A4-B99B-B2646BD0C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F15F1A11-6484-409A-9DD9-DBDDF350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Setup may fetch; validation closes the airlock</a:t>
            </a:r>
          </a:p>
        </p:txBody>
      </p:sp>
      <p:cxnSp>
        <p:nvCxnSpPr>
          <p:cNvPr id="26" name="header-rule-4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4">
            <a:extLst xmlns:a="http://schemas.openxmlformats.org/drawingml/2006/main">
              <a:ext uri="{FF2B5EF4-FFF2-40B4-BE49-F238E27FC236}">
                <a16:creationId xmlns:a16="http://schemas.microsoft.com/office/drawing/2014/main" id="{145C457B-D96A-46C0-B5CA-6D4E39E1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04</a:t>
            </a:r>
          </a:p>
        </p:txBody>
      </p:sp>
      <p:cxnSp>
        <p:nvCxnSpPr>
          <p:cNvPr id="28" name="airlock-bridge"/>
          <p:cNvCxnSpPr/>
          <p:nvPr/>
        </p:nvCxnSpPr>
        <p:spPr>
          <a:xfrm xmlns:a="http://schemas.openxmlformats.org/drawingml/2006/main">
            <a:off x="4438650" y="3486150"/>
            <a:ext cx="3333750" cy="953"/>
          </a:xfrm>
          <a:prstGeom xmlns:a="http://schemas.openxmlformats.org/drawingml/2006/main" prst="straightConnector1">
            <a:avLst/>
          </a:prstGeom>
          <a:ln xmlns:a="http://schemas.openxmlformats.org/drawingml/2006/main" w="152400">
            <a:solidFill>
              <a:srgbClr val="CBD5E1"/>
            </a:solidFill>
            <a:prstDash val="solid"/>
          </a:ln>
        </p:spPr>
      </p:cxnSp>
      <p:sp>
        <p:nvSpPr>
          <p:cNvPr id="6" name="airlock-arrow">
            <a:extLst xmlns:a="http://schemas.openxmlformats.org/drawingml/2006/main">
              <a:ext uri="{FF2B5EF4-FFF2-40B4-BE49-F238E27FC236}">
                <a16:creationId xmlns:a16="http://schemas.microsoft.com/office/drawing/2014/main" id="{99716F61-8B8D-4871-AB03-C262D07F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38500"/>
            <a:ext cx="914400" cy="495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etup-island">
            <a:extLst xmlns:a="http://schemas.openxmlformats.org/drawingml/2006/main">
              <a:ext uri="{FF2B5EF4-FFF2-40B4-BE49-F238E27FC236}">
                <a16:creationId xmlns:a16="http://schemas.microsoft.com/office/drawing/2014/main" id="{3942FC4B-AFDE-4A34-926B-3A2BE8BC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36766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6F7FD"/>
          </a:solidFill>
          <a:ln xmlns:a="http://schemas.openxmlformats.org/drawingml/2006/main" w="28575">
            <a:solidFill>
              <a:srgbClr val="38BDF8"/>
            </a:solidFill>
            <a:prstDash val="solid"/>
          </a:ln>
        </p:spPr>
      </p:sp>
      <p:sp>
        <p:nvSpPr>
          <p:cNvPr id="8" name="check-island">
            <a:extLst xmlns:a="http://schemas.openxmlformats.org/drawingml/2006/main">
              <a:ext uri="{FF2B5EF4-FFF2-40B4-BE49-F238E27FC236}">
                <a16:creationId xmlns:a16="http://schemas.microsoft.com/office/drawing/2014/main" id="{079DB91C-FE3B-46CF-906B-800CEEA9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6766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9F9EF"/>
          </a:solidFill>
          <a:ln xmlns:a="http://schemas.openxmlformats.org/drawingml/2006/main" w="28575">
            <a:solidFill>
              <a:srgbClr val="22C55E"/>
            </a:solidFill>
            <a:prstDash val="solid"/>
          </a:ln>
        </p:spPr>
      </p:sp>
      <p:sp>
        <p:nvSpPr>
          <p:cNvPr id="9" name="airlock-door">
            <a:extLst xmlns:a="http://schemas.openxmlformats.org/drawingml/2006/main">
              <a:ext uri="{FF2B5EF4-FFF2-40B4-BE49-F238E27FC236}">
                <a16:creationId xmlns:a16="http://schemas.microsoft.com/office/drawing/2014/main" id="{B2B0AAF8-97C8-4B39-B27D-C2DA5186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47900"/>
            <a:ext cx="118110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irlock-lock">
            <a:extLst xmlns:a="http://schemas.openxmlformats.org/drawingml/2006/main">
              <a:ext uri="{FF2B5EF4-FFF2-40B4-BE49-F238E27FC236}">
                <a16:creationId xmlns:a16="http://schemas.microsoft.com/office/drawing/2014/main" id="{815E771E-A856-4928-A380-546D3C5F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146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irlock-keyhole">
            <a:extLst xmlns:a="http://schemas.openxmlformats.org/drawingml/2006/main">
              <a:ext uri="{FF2B5EF4-FFF2-40B4-BE49-F238E27FC236}">
                <a16:creationId xmlns:a16="http://schemas.microsoft.com/office/drawing/2014/main" id="{DF5AE351-4988-4BC1-947C-7AE43EC1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390900"/>
            <a:ext cx="133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irlock-cross">
            <a:extLst xmlns:a="http://schemas.openxmlformats.org/drawingml/2006/main">
              <a:ext uri="{FF2B5EF4-FFF2-40B4-BE49-F238E27FC236}">
                <a16:creationId xmlns:a16="http://schemas.microsoft.com/office/drawing/2014/main" id="{3D8FE4BF-E4F5-418B-8AD5-EE2136BEB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267200"/>
            <a:ext cx="8001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×</a:t>
            </a:r>
          </a:p>
        </p:txBody>
      </p:sp>
      <p:sp>
        <p:nvSpPr>
          <p:cNvPr id="13" name="setup-label">
            <a:extLst xmlns:a="http://schemas.openxmlformats.org/drawingml/2006/main">
              <a:ext uri="{FF2B5EF4-FFF2-40B4-BE49-F238E27FC236}">
                <a16:creationId xmlns:a16="http://schemas.microsoft.com/office/drawing/2014/main" id="{55AD8D0F-322E-4CCF-8B04-E54936280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3067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SETUP ZONE</a:t>
            </a:r>
          </a:p>
        </p:txBody>
      </p:sp>
      <p:sp>
        <p:nvSpPr>
          <p:cNvPr id="14" name="setup-title">
            <a:extLst xmlns:a="http://schemas.openxmlformats.org/drawingml/2006/main">
              <a:ext uri="{FF2B5EF4-FFF2-40B4-BE49-F238E27FC236}">
                <a16:creationId xmlns:a16="http://schemas.microsoft.com/office/drawing/2014/main" id="{B3737A57-3B6E-4610-8EB1-26F4106A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76550"/>
            <a:ext cx="3067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Reproducible installs</a:t>
            </a:r>
          </a:p>
        </p:txBody>
      </p:sp>
      <p:sp>
        <p:nvSpPr>
          <p:cNvPr id="15" name="setup-command-1">
            <a:extLst xmlns:a="http://schemas.openxmlformats.org/drawingml/2006/main">
              <a:ext uri="{FF2B5EF4-FFF2-40B4-BE49-F238E27FC236}">
                <a16:creationId xmlns:a16="http://schemas.microsoft.com/office/drawing/2014/main" id="{05700BBB-6015-40B5-ACA7-6F3F3BB0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4805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  <a:latin typeface="Consolas"/>
                <a:ea typeface="Consolas"/>
                <a:cs typeface="Consolas"/>
              </a:defRPr>
            </a:pPr>
            <a:r>
              <a:t>uv sync --dev</a:t>
            </a:r>
          </a:p>
        </p:txBody>
      </p:sp>
      <p:sp>
        <p:nvSpPr>
          <p:cNvPr id="16" name="setup-command-2">
            <a:extLst xmlns:a="http://schemas.openxmlformats.org/drawingml/2006/main">
              <a:ext uri="{FF2B5EF4-FFF2-40B4-BE49-F238E27FC236}">
                <a16:creationId xmlns:a16="http://schemas.microsoft.com/office/drawing/2014/main" id="{8C0A26B9-5703-44FC-99F3-1ED2AA316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671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33"/>
                </a:solidFill>
                <a:latin typeface="Consolas"/>
                <a:ea typeface="Consolas"/>
                <a:cs typeface="Consolas"/>
              </a:defRPr>
            </a:pPr>
            <a:r>
              <a:t>CI: uv sync --locked</a:t>
            </a:r>
          </a:p>
        </p:txBody>
      </p:sp>
      <p:sp>
        <p:nvSpPr>
          <p:cNvPr id="17" name="setup-command-3">
            <a:extLst xmlns:a="http://schemas.openxmlformats.org/drawingml/2006/main">
              <a:ext uri="{FF2B5EF4-FFF2-40B4-BE49-F238E27FC236}">
                <a16:creationId xmlns:a16="http://schemas.microsoft.com/office/drawing/2014/main" id="{DD49538A-31F4-4627-8668-918069E5D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33"/>
                </a:solidFill>
                <a:latin typeface="Consolas"/>
                <a:ea typeface="Consolas"/>
                <a:cs typeface="Consolas"/>
              </a:defRPr>
            </a:pPr>
            <a:r>
              <a:t>npm --prefix tui ci</a:t>
            </a:r>
          </a:p>
        </p:txBody>
      </p:sp>
      <p:sp>
        <p:nvSpPr>
          <p:cNvPr id="18" name="setup-caption">
            <a:extLst xmlns:a="http://schemas.openxmlformats.org/drawingml/2006/main">
              <a:ext uri="{FF2B5EF4-FFF2-40B4-BE49-F238E27FC236}">
                <a16:creationId xmlns:a16="http://schemas.microsoft.com/office/drawing/2014/main" id="{995F920B-1123-4468-888D-E1D90A0C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2857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Network is allowed only to prepare
the locked environment.</a:t>
            </a:r>
          </a:p>
        </p:txBody>
      </p:sp>
      <p:sp>
        <p:nvSpPr>
          <p:cNvPr id="19" name="check-label">
            <a:extLst xmlns:a="http://schemas.openxmlformats.org/drawingml/2006/main">
              <a:ext uri="{FF2B5EF4-FFF2-40B4-BE49-F238E27FC236}">
                <a16:creationId xmlns:a16="http://schemas.microsoft.com/office/drawing/2014/main" id="{182F0058-960C-4B4A-BA63-4CFE4CD6D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19350"/>
            <a:ext cx="3067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CHECK ZONE</a:t>
            </a:r>
          </a:p>
        </p:txBody>
      </p:sp>
      <p:sp>
        <p:nvSpPr>
          <p:cNvPr id="20" name="check-title">
            <a:extLst xmlns:a="http://schemas.openxmlformats.org/drawingml/2006/main">
              <a:ext uri="{FF2B5EF4-FFF2-40B4-BE49-F238E27FC236}">
                <a16:creationId xmlns:a16="http://schemas.microsoft.com/office/drawing/2014/main" id="{DF0505C5-DC11-485D-8B47-46A92731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76550"/>
            <a:ext cx="3067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Offline guardrails active</a:t>
            </a:r>
          </a:p>
        </p:txBody>
      </p:sp>
      <p:sp>
        <p:nvSpPr>
          <p:cNvPr id="21" name="check-list">
            <a:extLst xmlns:a="http://schemas.openxmlformats.org/drawingml/2006/main">
              <a:ext uri="{FF2B5EF4-FFF2-40B4-BE49-F238E27FC236}">
                <a16:creationId xmlns:a16="http://schemas.microsoft.com/office/drawing/2014/main" id="{30FABE83-737C-4B08-BEEF-239AB1BC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09950"/>
            <a:ext cx="295275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33"/>
                </a:solidFill>
                <a:latin typeface="Consolas"/>
                <a:ea typeface="Consolas"/>
                <a:cs typeface="Consolas"/>
              </a:defRPr>
            </a:pPr>
            <a:r>
              <a:t>credentials unset
common network APIs blocked
UV_OFFLINE=1
NPM_CONFIG_OFFLINE=true
--offline + --frozen</a:t>
            </a:r>
          </a:p>
        </p:txBody>
      </p:sp>
      <p:sp>
        <p:nvSpPr>
          <p:cNvPr id="22" name="airlock-caption">
            <a:extLst xmlns:a="http://schemas.openxmlformats.org/drawingml/2006/main">
              <a:ext uri="{FF2B5EF4-FFF2-40B4-BE49-F238E27FC236}">
                <a16:creationId xmlns:a16="http://schemas.microsoft.com/office/drawing/2014/main" id="{70E539BF-D56D-454C-8BB0-FE2DD0870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619750"/>
            <a:ext cx="1333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STATIC GUARD</a:t>
            </a:r>
          </a:p>
        </p:txBody>
      </p:sp>
      <p:sp>
        <p:nvSpPr>
          <p:cNvPr id="23" name="airlock-note">
            <a:extLst xmlns:a="http://schemas.openxmlformats.org/drawingml/2006/main">
              <a:ext uri="{FF2B5EF4-FFF2-40B4-BE49-F238E27FC236}">
                <a16:creationId xmlns:a16="http://schemas.microsoft.com/office/drawing/2014/main" id="{7F764050-3602-4DEA-990F-1DD8C52E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981700"/>
            <a:ext cx="8610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Process guards + source denylist—not an OS sandbox. External links remain offline.</a:t>
            </a:r>
          </a:p>
        </p:txBody>
      </p:sp>
    </p:spTree>
    <p:extLst>
      <p:ext uri="{BB962C8B-B14F-4D97-AF65-F5344CB8AC3E}">
        <p14:creationId xmlns:p14="http://schemas.microsoft.com/office/powerpoint/2010/main" val="9461443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5">
            <a:extLst xmlns:a="http://schemas.openxmlformats.org/drawingml/2006/main">
              <a:ext uri="{FF2B5EF4-FFF2-40B4-BE49-F238E27FC236}">
                <a16:creationId xmlns:a16="http://schemas.microsoft.com/office/drawing/2014/main" id="{B28FEB0E-A8AF-4D5F-91A6-FD216DC9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791578E-852F-483D-AB04-84C5AACD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The seams get first-class seats in the test suite</a:t>
            </a:r>
          </a:p>
        </p:txBody>
      </p:sp>
      <p:cxnSp>
        <p:nvCxnSpPr>
          <p:cNvPr id="32" name="header-rule-5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5">
            <a:extLst xmlns:a="http://schemas.openxmlformats.org/drawingml/2006/main">
              <a:ext uri="{FF2B5EF4-FFF2-40B4-BE49-F238E27FC236}">
                <a16:creationId xmlns:a16="http://schemas.microsoft.com/office/drawing/2014/main" id="{39DE4954-0D1D-414A-B1DE-5BDEF85C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05</a:t>
            </a:r>
          </a:p>
        </p:txBody>
      </p:sp>
      <p:cxnSp>
        <p:nvCxnSpPr>
          <p:cNvPr id="34" name="seam-main"/>
          <p:cNvCxnSpPr/>
          <p:nvPr/>
        </p:nvCxnSpPr>
        <p:spPr>
          <a:xfrm xmlns:a="http://schemas.openxmlformats.org/drawingml/2006/main">
            <a:off x="1123950" y="3448050"/>
            <a:ext cx="990600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0B1F33"/>
            </a:solidFill>
            <a:prstDash val="solid"/>
          </a:ln>
        </p:spPr>
      </p:cxnSp>
      <p:cxnSp>
        <p:nvCxnSpPr>
          <p:cNvPr id="35" name="seam-doc"/>
          <p:cNvCxnSpPr/>
          <p:nvPr/>
        </p:nvCxnSpPr>
        <p:spPr>
          <a:xfrm xmlns:a="http://schemas.openxmlformats.org/drawingml/2006/main">
            <a:off x="2457450" y="2457450"/>
            <a:ext cx="953" cy="9906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FF6B6B"/>
            </a:solidFill>
            <a:prstDash val="solid"/>
          </a:ln>
        </p:spPr>
      </p:cxnSp>
      <p:cxnSp>
        <p:nvCxnSpPr>
          <p:cNvPr id="36" name="seam-policy"/>
          <p:cNvCxnSpPr/>
          <p:nvPr/>
        </p:nvCxnSpPr>
        <p:spPr>
          <a:xfrm xmlns:a="http://schemas.openxmlformats.org/drawingml/2006/main">
            <a:off x="4705350" y="3448050"/>
            <a:ext cx="953" cy="11811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8B5CF6"/>
            </a:solidFill>
            <a:prstDash val="solid"/>
          </a:ln>
        </p:spPr>
      </p:cxnSp>
      <p:cxnSp>
        <p:nvCxnSpPr>
          <p:cNvPr id="37" name="seam-fixture"/>
          <p:cNvCxnSpPr/>
          <p:nvPr/>
        </p:nvCxnSpPr>
        <p:spPr>
          <a:xfrm xmlns:a="http://schemas.openxmlformats.org/drawingml/2006/main">
            <a:off x="6953250" y="2457450"/>
            <a:ext cx="953" cy="9906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FFD166"/>
            </a:solidFill>
            <a:prstDash val="solid"/>
          </a:ln>
        </p:spPr>
      </p:cxnSp>
      <p:cxnSp>
        <p:nvCxnSpPr>
          <p:cNvPr id="38" name="seam-integration"/>
          <p:cNvCxnSpPr/>
          <p:nvPr/>
        </p:nvCxnSpPr>
        <p:spPr>
          <a:xfrm xmlns:a="http://schemas.openxmlformats.org/drawingml/2006/main">
            <a:off x="9201150" y="3448050"/>
            <a:ext cx="953" cy="11811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22C55E"/>
            </a:solidFill>
            <a:prstDash val="solid"/>
          </a:ln>
        </p:spPr>
      </p:cxnSp>
      <p:sp>
        <p:nvSpPr>
          <p:cNvPr id="10" name="seam-ring-0">
            <a:extLst xmlns:a="http://schemas.openxmlformats.org/drawingml/2006/main">
              <a:ext uri="{FF2B5EF4-FFF2-40B4-BE49-F238E27FC236}">
                <a16:creationId xmlns:a16="http://schemas.microsoft.com/office/drawing/2014/main" id="{999BF6D4-2DA1-4A9C-8092-40861C31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2004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1" name="seam-box-0">
            <a:extLst xmlns:a="http://schemas.openxmlformats.org/drawingml/2006/main">
              <a:ext uri="{FF2B5EF4-FFF2-40B4-BE49-F238E27FC236}">
                <a16:creationId xmlns:a16="http://schemas.microsoft.com/office/drawing/2014/main" id="{8A36A6D4-B6AB-4A02-9D1F-52C9F335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2857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FF6B6B"/>
            </a:solidFill>
            <a:prstDash val="solid"/>
          </a:ln>
        </p:spPr>
      </p:sp>
      <p:sp>
        <p:nvSpPr>
          <p:cNvPr id="12" name="seam-heading-0">
            <a:extLst xmlns:a="http://schemas.openxmlformats.org/drawingml/2006/main">
              <a:ext uri="{FF2B5EF4-FFF2-40B4-BE49-F238E27FC236}">
                <a16:creationId xmlns:a16="http://schemas.microsoft.com/office/drawing/2014/main" id="{AD1B9C04-FB32-4342-ACDF-900FFC2B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38400"/>
            <a:ext cx="2400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DOC LINKS</a:t>
            </a:r>
          </a:p>
        </p:txBody>
      </p:sp>
      <p:sp>
        <p:nvSpPr>
          <p:cNvPr id="13" name="seam-body-0">
            <a:extLst xmlns:a="http://schemas.openxmlformats.org/drawingml/2006/main">
              <a:ext uri="{FF2B5EF4-FFF2-40B4-BE49-F238E27FC236}">
                <a16:creationId xmlns:a16="http://schemas.microsoft.com/office/drawing/2014/main" id="{F2CF28F9-8831-431B-A0E3-5E5EE0521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43200"/>
            <a:ext cx="2400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Local targets + headings
must resolve</a:t>
            </a:r>
          </a:p>
        </p:txBody>
      </p:sp>
      <p:sp>
        <p:nvSpPr>
          <p:cNvPr id="14" name="seam-ring-1">
            <a:extLst xmlns:a="http://schemas.openxmlformats.org/drawingml/2006/main">
              <a:ext uri="{FF2B5EF4-FFF2-40B4-BE49-F238E27FC236}">
                <a16:creationId xmlns:a16="http://schemas.microsoft.com/office/drawing/2014/main" id="{8209CF97-5D71-40E6-B5FF-7A8A0F988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004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5" name="seam-box-1">
            <a:extLst xmlns:a="http://schemas.openxmlformats.org/drawingml/2006/main">
              <a:ext uri="{FF2B5EF4-FFF2-40B4-BE49-F238E27FC236}">
                <a16:creationId xmlns:a16="http://schemas.microsoft.com/office/drawing/2014/main" id="{C1AFEE93-385B-4396-AAFB-A44A217D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629150"/>
            <a:ext cx="2857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3FF"/>
          </a:solidFill>
          <a:ln xmlns:a="http://schemas.openxmlformats.org/drawingml/2006/main" w="19050">
            <a:solidFill>
              <a:srgbClr val="8B5CF6"/>
            </a:solidFill>
            <a:prstDash val="solid"/>
          </a:ln>
        </p:spPr>
      </p:sp>
      <p:sp>
        <p:nvSpPr>
          <p:cNvPr id="16" name="seam-heading-1">
            <a:extLst xmlns:a="http://schemas.openxmlformats.org/drawingml/2006/main">
              <a:ext uri="{FF2B5EF4-FFF2-40B4-BE49-F238E27FC236}">
                <a16:creationId xmlns:a16="http://schemas.microsoft.com/office/drawing/2014/main" id="{06676C5C-9683-4BD6-880E-B68FE854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81550"/>
            <a:ext cx="2400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NETWORK POLICY</a:t>
            </a:r>
          </a:p>
        </p:txBody>
      </p:sp>
      <p:sp>
        <p:nvSpPr>
          <p:cNvPr id="17" name="seam-body-1">
            <a:extLst xmlns:a="http://schemas.openxmlformats.org/drawingml/2006/main">
              <a:ext uri="{FF2B5EF4-FFF2-40B4-BE49-F238E27FC236}">
                <a16:creationId xmlns:a16="http://schemas.microsoft.com/office/drawing/2014/main" id="{FEAFBADE-E543-4E11-8CF0-F08F4AF4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086350"/>
            <a:ext cx="2400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Synthetic imports and fetch
must be rejected</a:t>
            </a:r>
          </a:p>
        </p:txBody>
      </p:sp>
      <p:sp>
        <p:nvSpPr>
          <p:cNvPr id="18" name="seam-ring-2">
            <a:extLst xmlns:a="http://schemas.openxmlformats.org/drawingml/2006/main">
              <a:ext uri="{FF2B5EF4-FFF2-40B4-BE49-F238E27FC236}">
                <a16:creationId xmlns:a16="http://schemas.microsoft.com/office/drawing/2014/main" id="{CC741B0C-DE2E-49CD-8D93-078631AE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004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9" name="seam-box-2">
            <a:extLst xmlns:a="http://schemas.openxmlformats.org/drawingml/2006/main">
              <a:ext uri="{FF2B5EF4-FFF2-40B4-BE49-F238E27FC236}">
                <a16:creationId xmlns:a16="http://schemas.microsoft.com/office/drawing/2014/main" id="{C187CB9E-DFF5-4961-B712-27AB0388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86000"/>
            <a:ext cx="2857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FFD166"/>
            </a:solidFill>
            <a:prstDash val="solid"/>
          </a:ln>
        </p:spPr>
      </p:sp>
      <p:sp>
        <p:nvSpPr>
          <p:cNvPr id="20" name="seam-heading-2">
            <a:extLst xmlns:a="http://schemas.openxmlformats.org/drawingml/2006/main">
              <a:ext uri="{FF2B5EF4-FFF2-40B4-BE49-F238E27FC236}">
                <a16:creationId xmlns:a16="http://schemas.microsoft.com/office/drawing/2014/main" id="{7C4B7CED-683A-4F14-877D-A432B41D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438400"/>
            <a:ext cx="2400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GOLDEN FIXTURES</a:t>
            </a:r>
          </a:p>
        </p:txBody>
      </p:sp>
      <p:sp>
        <p:nvSpPr>
          <p:cNvPr id="21" name="seam-body-2">
            <a:extLst xmlns:a="http://schemas.openxmlformats.org/drawingml/2006/main">
              <a:ext uri="{FF2B5EF4-FFF2-40B4-BE49-F238E27FC236}">
                <a16:creationId xmlns:a16="http://schemas.microsoft.com/office/drawing/2014/main" id="{AC5F45A8-ED96-4FB6-A2F0-3E40F8C4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743200"/>
            <a:ext cx="2400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Python and TypeScript read
the same protocol truth</a:t>
            </a:r>
          </a:p>
        </p:txBody>
      </p:sp>
      <p:sp>
        <p:nvSpPr>
          <p:cNvPr id="22" name="seam-ring-3">
            <a:extLst xmlns:a="http://schemas.openxmlformats.org/drawingml/2006/main">
              <a:ext uri="{FF2B5EF4-FFF2-40B4-BE49-F238E27FC236}">
                <a16:creationId xmlns:a16="http://schemas.microsoft.com/office/drawing/2014/main" id="{7901492F-A280-43F6-9B55-10729FFE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004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23" name="seam-box-3">
            <a:extLst xmlns:a="http://schemas.openxmlformats.org/drawingml/2006/main">
              <a:ext uri="{FF2B5EF4-FFF2-40B4-BE49-F238E27FC236}">
                <a16:creationId xmlns:a16="http://schemas.microsoft.com/office/drawing/2014/main" id="{E0DA26CC-786A-462F-9D77-B24F3BE8B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629150"/>
            <a:ext cx="2857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3FF"/>
          </a:solidFill>
          <a:ln xmlns:a="http://schemas.openxmlformats.org/drawingml/2006/main" w="19050">
            <a:solidFill>
              <a:srgbClr val="22C55E"/>
            </a:solidFill>
            <a:prstDash val="solid"/>
          </a:ln>
        </p:spPr>
      </p:sp>
      <p:sp>
        <p:nvSpPr>
          <p:cNvPr id="24" name="seam-heading-3">
            <a:extLst xmlns:a="http://schemas.openxmlformats.org/drawingml/2006/main">
              <a:ext uri="{FF2B5EF4-FFF2-40B4-BE49-F238E27FC236}">
                <a16:creationId xmlns:a16="http://schemas.microsoft.com/office/drawing/2014/main" id="{C9A966B4-86CB-4BBB-A849-525CC9293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81550"/>
            <a:ext cx="2400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REAL BOUNDARY</a:t>
            </a:r>
          </a:p>
        </p:txBody>
      </p:sp>
      <p:sp>
        <p:nvSpPr>
          <p:cNvPr id="25" name="seam-body-3">
            <a:extLst xmlns:a="http://schemas.openxmlformats.org/drawingml/2006/main">
              <a:ext uri="{FF2B5EF4-FFF2-40B4-BE49-F238E27FC236}">
                <a16:creationId xmlns:a16="http://schemas.microsoft.com/office/drawing/2014/main" id="{96CAA593-3DD5-4402-A10D-B6AC57E6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86350"/>
            <a:ext cx="2400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Node launches Python and
observes real NDJSON</a:t>
            </a:r>
          </a:p>
        </p:txBody>
      </p:sp>
      <p:sp>
        <p:nvSpPr>
          <p:cNvPr id="26" name="seam-python">
            <a:extLst xmlns:a="http://schemas.openxmlformats.org/drawingml/2006/main">
              <a:ext uri="{FF2B5EF4-FFF2-40B4-BE49-F238E27FC236}">
                <a16:creationId xmlns:a16="http://schemas.microsoft.com/office/drawing/2014/main" id="{239AACA7-A640-4F3E-A501-50E61F9A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19450"/>
            <a:ext cx="114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PYTHON</a:t>
            </a:r>
          </a:p>
        </p:txBody>
      </p:sp>
      <p:sp>
        <p:nvSpPr>
          <p:cNvPr id="27" name="seam-tui">
            <a:extLst xmlns:a="http://schemas.openxmlformats.org/drawingml/2006/main">
              <a:ext uri="{FF2B5EF4-FFF2-40B4-BE49-F238E27FC236}">
                <a16:creationId xmlns:a16="http://schemas.microsoft.com/office/drawing/2014/main" id="{78C02B01-7B03-4B9D-8FB2-A456DA7A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219450"/>
            <a:ext cx="8001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TUI</a:t>
            </a:r>
          </a:p>
        </p:txBody>
      </p:sp>
      <p:sp>
        <p:nvSpPr>
          <p:cNvPr id="28" name="seam-footer">
            <a:extLst xmlns:a="http://schemas.openxmlformats.org/drawingml/2006/main">
              <a:ext uri="{FF2B5EF4-FFF2-40B4-BE49-F238E27FC236}">
                <a16:creationId xmlns:a16="http://schemas.microsoft.com/office/drawing/2014/main" id="{182C4A7D-0ED4-4FAD-BF64-68CF32F50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77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eam-footer-text">
            <a:extLst xmlns:a="http://schemas.openxmlformats.org/drawingml/2006/main">
              <a:ext uri="{FF2B5EF4-FFF2-40B4-BE49-F238E27FC236}">
                <a16:creationId xmlns:a16="http://schemas.microsoft.com/office/drawing/2014/main" id="{D0012DDD-F763-4AF1-83D5-1C212126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57900"/>
            <a:ext cx="1070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 walking skeleton fails at boundaries; the gate checks the boundaries on purpose.</a:t>
            </a:r>
          </a:p>
        </p:txBody>
      </p:sp>
    </p:spTree>
    <p:extLst>
      <p:ext uri="{BB962C8B-B14F-4D97-AF65-F5344CB8AC3E}">
        <p14:creationId xmlns:p14="http://schemas.microsoft.com/office/powerpoint/2010/main" val="19285583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6">
            <a:extLst xmlns:a="http://schemas.openxmlformats.org/drawingml/2006/main">
              <a:ext uri="{FF2B5EF4-FFF2-40B4-BE49-F238E27FC236}">
                <a16:creationId xmlns:a16="http://schemas.microsoft.com/office/drawing/2014/main" id="{4B17380F-7AA6-492D-B761-133F305A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1FD0DEC2-91A8-41FD-A96E-38289517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CI prepares the room, then calls the same conductor</a:t>
            </a:r>
          </a:p>
        </p:txBody>
      </p:sp>
      <p:cxnSp>
        <p:nvCxnSpPr>
          <p:cNvPr id="19" name="header-rule-6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6">
            <a:extLst xmlns:a="http://schemas.openxmlformats.org/drawingml/2006/main">
              <a:ext uri="{FF2B5EF4-FFF2-40B4-BE49-F238E27FC236}">
                <a16:creationId xmlns:a16="http://schemas.microsoft.com/office/drawing/2014/main" id="{0FCBB5C8-642D-473A-9424-F7411F9C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06</a:t>
            </a:r>
          </a:p>
        </p:txBody>
      </p:sp>
      <p:sp>
        <p:nvSpPr>
          <p:cNvPr id="5" name="ci-arrow">
            <a:extLst xmlns:a="http://schemas.openxmlformats.org/drawingml/2006/main">
              <a:ext uri="{FF2B5EF4-FFF2-40B4-BE49-F238E27FC236}">
                <a16:creationId xmlns:a16="http://schemas.microsoft.com/office/drawing/2014/main" id="{F7F0702A-69BE-4C49-8E4E-86390C22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314700"/>
            <a:ext cx="1219200" cy="514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22" name="ci-reflection"/>
          <p:cNvCxnSpPr/>
          <p:nvPr/>
        </p:nvCxnSpPr>
        <p:spPr>
          <a:xfrm xmlns:a="http://schemas.openxmlformats.org/drawingml/2006/main">
            <a:off x="6076950" y="2019300"/>
            <a:ext cx="953" cy="3619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BD5E1"/>
            </a:solidFill>
            <a:prstDash val="solid"/>
          </a:ln>
        </p:spPr>
      </p:cxnSp>
      <p:sp>
        <p:nvSpPr>
          <p:cNvPr id="7" name="ci-setup">
            <a:extLst xmlns:a="http://schemas.openxmlformats.org/drawingml/2006/main">
              <a:ext uri="{FF2B5EF4-FFF2-40B4-BE49-F238E27FC236}">
                <a16:creationId xmlns:a16="http://schemas.microsoft.com/office/drawing/2014/main" id="{40A203A3-DE09-4969-B84F-D972D3F0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38350"/>
            <a:ext cx="4686300" cy="3467100"/>
          </a:xfrm>
          <a:prstGeom xmlns:a="http://schemas.openxmlformats.org/drawingml/2006/main" prst="roundRect">
            <a:avLst>
              <a:gd name="adj" fmla="val 2198"/>
            </a:avLst>
          </a:prstGeom>
          <a:solidFill xmlns:a="http://schemas.openxmlformats.org/drawingml/2006/main">
            <a:srgbClr val="F1EAFF"/>
          </a:solidFill>
          <a:ln xmlns:a="http://schemas.openxmlformats.org/drawingml/2006/main" w="28575">
            <a:solidFill>
              <a:srgbClr val="8B5CF6"/>
            </a:solidFill>
            <a:prstDash val="solid"/>
          </a:ln>
        </p:spPr>
      </p:sp>
      <p:sp>
        <p:nvSpPr>
          <p:cNvPr id="8" name="ci-command">
            <a:extLst xmlns:a="http://schemas.openxmlformats.org/drawingml/2006/main">
              <a:ext uri="{FF2B5EF4-FFF2-40B4-BE49-F238E27FC236}">
                <a16:creationId xmlns:a16="http://schemas.microsoft.com/office/drawing/2014/main" id="{C8C770B1-7604-46B1-97A4-CA539A3D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38350"/>
            <a:ext cx="4686300" cy="3467100"/>
          </a:xfrm>
          <a:prstGeom xmlns:a="http://schemas.openxmlformats.org/drawingml/2006/main" prst="roundRect">
            <a:avLst>
              <a:gd name="adj" fmla="val 2198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28575">
            <a:solidFill>
              <a:srgbClr val="22D3EE"/>
            </a:solidFill>
            <a:prstDash val="solid"/>
          </a:ln>
        </p:spPr>
      </p:sp>
      <p:sp>
        <p:nvSpPr>
          <p:cNvPr id="9" name="ci-left-kicker">
            <a:extLst xmlns:a="http://schemas.openxmlformats.org/drawingml/2006/main">
              <a:ext uri="{FF2B5EF4-FFF2-40B4-BE49-F238E27FC236}">
                <a16:creationId xmlns:a16="http://schemas.microsoft.com/office/drawing/2014/main" id="{3B75AA1E-17A8-4E96-96BF-266BC79D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43150"/>
            <a:ext cx="4095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GITHUB ACTIONS  •  UBUNTU 24.04</a:t>
            </a:r>
          </a:p>
        </p:txBody>
      </p:sp>
      <p:sp>
        <p:nvSpPr>
          <p:cNvPr id="10" name="ci-left-title">
            <a:extLst xmlns:a="http://schemas.openxmlformats.org/drawingml/2006/main">
              <a:ext uri="{FF2B5EF4-FFF2-40B4-BE49-F238E27FC236}">
                <a16:creationId xmlns:a16="http://schemas.microsoft.com/office/drawing/2014/main" id="{EE6304CF-C1E0-42F9-92F7-9F3C2950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3943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Prepare reproducibly</a:t>
            </a:r>
          </a:p>
        </p:txBody>
      </p:sp>
      <p:sp>
        <p:nvSpPr>
          <p:cNvPr id="11" name="ci-left-list">
            <a:extLst xmlns:a="http://schemas.openxmlformats.org/drawingml/2006/main">
              <a:ext uri="{FF2B5EF4-FFF2-40B4-BE49-F238E27FC236}">
                <a16:creationId xmlns:a16="http://schemas.microsoft.com/office/drawing/2014/main" id="{23622C10-2E71-4EFF-8F73-DD378146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3829050" cy="163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contents: read
immutable action SHAs
.python-version + .node-version
uv sync --locked
npm ci
15-minute timeout</a:t>
            </a:r>
          </a:p>
        </p:txBody>
      </p:sp>
      <p:sp>
        <p:nvSpPr>
          <p:cNvPr id="12" name="ci-right-kicker">
            <a:extLst xmlns:a="http://schemas.openxmlformats.org/drawingml/2006/main">
              <a:ext uri="{FF2B5EF4-FFF2-40B4-BE49-F238E27FC236}">
                <a16:creationId xmlns:a16="http://schemas.microsoft.com/office/drawing/2014/main" id="{7D5B335B-CEA0-4625-B36A-535810EE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43150"/>
            <a:ext cx="4076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THE ONLY VALIDATION INVOCATION</a:t>
            </a:r>
          </a:p>
        </p:txBody>
      </p:sp>
      <p:sp>
        <p:nvSpPr>
          <p:cNvPr id="13" name="ci-right-command">
            <a:extLst xmlns:a="http://schemas.openxmlformats.org/drawingml/2006/main">
              <a:ext uri="{FF2B5EF4-FFF2-40B4-BE49-F238E27FC236}">
                <a16:creationId xmlns:a16="http://schemas.microsoft.com/office/drawing/2014/main" id="{AC80335B-92E1-4C80-B050-A61525DE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05150"/>
            <a:ext cx="40767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625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./scripts/check</a:t>
            </a:r>
          </a:p>
        </p:txBody>
      </p:sp>
      <p:cxnSp>
        <p:nvCxnSpPr>
          <p:cNvPr id="30" name="ci-command-rule"/>
          <p:cNvCxnSpPr/>
          <p:nvPr/>
        </p:nvCxnSpPr>
        <p:spPr>
          <a:xfrm xmlns:a="http://schemas.openxmlformats.org/drawingml/2006/main">
            <a:off x="7715250" y="4057650"/>
            <a:ext cx="33528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9445F"/>
            </a:solidFill>
            <a:prstDash val="solid"/>
          </a:ln>
        </p:spPr>
      </p:cxnSp>
      <p:sp>
        <p:nvSpPr>
          <p:cNvPr id="15" name="ci-right-caption">
            <a:extLst xmlns:a="http://schemas.openxmlformats.org/drawingml/2006/main">
              <a:ext uri="{FF2B5EF4-FFF2-40B4-BE49-F238E27FC236}">
                <a16:creationId xmlns:a16="http://schemas.microsoft.com/office/drawing/2014/main" id="{A14C72EC-6706-405B-9301-23727EC49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381500"/>
            <a:ext cx="36957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7E5F4"/>
                </a:solidFill>
                <a:latin typeface="Aptos"/>
                <a:ea typeface="Aptos"/>
                <a:cs typeface="Aptos"/>
              </a:defRPr>
            </a:pPr>
            <a:r>
              <a:t>No duplicated lint list.
No local-versus-CI remix.</a:t>
            </a:r>
          </a:p>
        </p:txBody>
      </p:sp>
      <p:sp>
        <p:nvSpPr>
          <p:cNvPr id="16" name="ci-footer">
            <a:extLst xmlns:a="http://schemas.openxmlformats.org/drawingml/2006/main">
              <a:ext uri="{FF2B5EF4-FFF2-40B4-BE49-F238E27FC236}">
                <a16:creationId xmlns:a16="http://schemas.microsoft.com/office/drawing/2014/main" id="{22DADFEA-CF1D-4856-90D5-83698E27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62650"/>
            <a:ext cx="9906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Local and CI can differ in setup. They must not differ in what “green” means.</a:t>
            </a:r>
          </a:p>
        </p:txBody>
      </p:sp>
    </p:spTree>
    <p:extLst>
      <p:ext uri="{BB962C8B-B14F-4D97-AF65-F5344CB8AC3E}">
        <p14:creationId xmlns:p14="http://schemas.microsoft.com/office/powerpoint/2010/main" val="11591204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7">
            <a:extLst xmlns:a="http://schemas.openxmlformats.org/drawingml/2006/main">
              <a:ext uri="{FF2B5EF4-FFF2-40B4-BE49-F238E27FC236}">
                <a16:creationId xmlns:a16="http://schemas.microsoft.com/office/drawing/2014/main" id="{00A724E8-52CC-4C0D-8B22-3E033CF7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9724D7D3-845B-4BCA-983F-F9BE7548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Break one layer on purpose; watch the label catch it</a:t>
            </a:r>
          </a:p>
        </p:txBody>
      </p:sp>
      <p:cxnSp>
        <p:nvCxnSpPr>
          <p:cNvPr id="38" name="header-rule-7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7">
            <a:extLst xmlns:a="http://schemas.openxmlformats.org/drawingml/2006/main">
              <a:ext uri="{FF2B5EF4-FFF2-40B4-BE49-F238E27FC236}">
                <a16:creationId xmlns:a16="http://schemas.microsoft.com/office/drawing/2014/main" id="{515AAC60-6C65-4965-ACD1-FBE8A70D5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07</a:t>
            </a:r>
          </a:p>
        </p:txBody>
      </p:sp>
      <p:cxnSp>
        <p:nvCxnSpPr>
          <p:cNvPr id="40" name="lab-fuse-0"/>
          <p:cNvCxnSpPr/>
          <p:nvPr/>
        </p:nvCxnSpPr>
        <p:spPr>
          <a:xfrm xmlns:a="http://schemas.openxmlformats.org/drawingml/2006/main">
            <a:off x="1657350" y="2857500"/>
            <a:ext cx="953" cy="19050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FF6B6B"/>
            </a:solidFill>
            <a:prstDash val="solid"/>
          </a:ln>
        </p:spPr>
      </p:cxnSp>
      <p:sp>
        <p:nvSpPr>
          <p:cNvPr id="6" name="lab-bulb-0">
            <a:extLst xmlns:a="http://schemas.openxmlformats.org/drawingml/2006/main">
              <a:ext uri="{FF2B5EF4-FFF2-40B4-BE49-F238E27FC236}">
                <a16:creationId xmlns:a16="http://schemas.microsoft.com/office/drawing/2014/main" id="{137B6525-E5D1-4B72-AF52-E3A928A4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336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lab-flag-0">
            <a:extLst xmlns:a="http://schemas.openxmlformats.org/drawingml/2006/main">
              <a:ext uri="{FF2B5EF4-FFF2-40B4-BE49-F238E27FC236}">
                <a16:creationId xmlns:a16="http://schemas.microsoft.com/office/drawing/2014/main" id="{C01075F5-64E5-4031-9137-8CF9DA06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1714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9050">
            <a:solidFill>
              <a:srgbClr val="EF4444"/>
            </a:solidFill>
            <a:prstDash val="solid"/>
          </a:ln>
        </p:spPr>
      </p:sp>
      <p:sp>
        <p:nvSpPr>
          <p:cNvPr id="8" name="lab-icon-0">
            <a:extLst xmlns:a="http://schemas.openxmlformats.org/drawingml/2006/main">
              <a:ext uri="{FF2B5EF4-FFF2-40B4-BE49-F238E27FC236}">
                <a16:creationId xmlns:a16="http://schemas.microsoft.com/office/drawing/2014/main" id="{CA7A4807-1EAC-492B-B4D4-CCC3744F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333625"/>
            <a:ext cx="571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PY</a:t>
            </a:r>
          </a:p>
        </p:txBody>
      </p:sp>
      <p:sp>
        <p:nvSpPr>
          <p:cNvPr id="9" name="lab-heading-0">
            <a:extLst xmlns:a="http://schemas.openxmlformats.org/drawingml/2006/main">
              <a:ext uri="{FF2B5EF4-FFF2-40B4-BE49-F238E27FC236}">
                <a16:creationId xmlns:a16="http://schemas.microsoft.com/office/drawing/2014/main" id="{4A89FFA2-1FA3-4D89-9C27-9662D4BF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81350"/>
            <a:ext cx="2400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Python</a:t>
            </a:r>
          </a:p>
        </p:txBody>
      </p:sp>
      <p:sp>
        <p:nvSpPr>
          <p:cNvPr id="10" name="lab-failure-0">
            <a:extLst xmlns:a="http://schemas.openxmlformats.org/drawingml/2006/main">
              <a:ext uri="{FF2B5EF4-FFF2-40B4-BE49-F238E27FC236}">
                <a16:creationId xmlns:a16="http://schemas.microsoft.com/office/drawing/2014/main" id="{93AF1F82-6C25-4D15-8E20-8C1A97DC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95700"/>
            <a:ext cx="2400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bad format / failing test</a:t>
            </a:r>
          </a:p>
        </p:txBody>
      </p:sp>
      <p:sp>
        <p:nvSpPr>
          <p:cNvPr id="11" name="lab-stop-0">
            <a:extLst xmlns:a="http://schemas.openxmlformats.org/drawingml/2006/main">
              <a:ext uri="{FF2B5EF4-FFF2-40B4-BE49-F238E27FC236}">
                <a16:creationId xmlns:a16="http://schemas.microsoft.com/office/drawing/2014/main" id="{2D8E0D44-9199-493D-AE1A-CA518939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67250"/>
            <a:ext cx="1409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F4444"/>
                </a:solidFill>
                <a:latin typeface="Aptos"/>
                <a:ea typeface="Aptos"/>
                <a:cs typeface="Aptos"/>
              </a:defRPr>
            </a:pPr>
            <a:r>
              <a:t>STOP HERE</a:t>
            </a:r>
          </a:p>
        </p:txBody>
      </p:sp>
      <p:cxnSp>
        <p:nvCxnSpPr>
          <p:cNvPr id="47" name="lab-fuse-1"/>
          <p:cNvCxnSpPr/>
          <p:nvPr/>
        </p:nvCxnSpPr>
        <p:spPr>
          <a:xfrm xmlns:a="http://schemas.openxmlformats.org/drawingml/2006/main">
            <a:off x="4419600" y="2857500"/>
            <a:ext cx="953" cy="19050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8B5CF6"/>
            </a:solidFill>
            <a:prstDash val="solid"/>
          </a:ln>
        </p:spPr>
      </p:cxnSp>
      <p:sp>
        <p:nvSpPr>
          <p:cNvPr id="13" name="lab-bulb-1">
            <a:extLst xmlns:a="http://schemas.openxmlformats.org/drawingml/2006/main">
              <a:ext uri="{FF2B5EF4-FFF2-40B4-BE49-F238E27FC236}">
                <a16:creationId xmlns:a16="http://schemas.microsoft.com/office/drawing/2014/main" id="{D4C7741D-60D1-45BE-AA7F-65643095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1336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lab-flag-1">
            <a:extLst xmlns:a="http://schemas.openxmlformats.org/drawingml/2006/main">
              <a:ext uri="{FF2B5EF4-FFF2-40B4-BE49-F238E27FC236}">
                <a16:creationId xmlns:a16="http://schemas.microsoft.com/office/drawing/2014/main" id="{F00EE6B3-198E-4B09-9380-12AAC71A1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95800"/>
            <a:ext cx="1714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9050">
            <a:solidFill>
              <a:srgbClr val="EF4444"/>
            </a:solidFill>
            <a:prstDash val="solid"/>
          </a:ln>
        </p:spPr>
      </p:sp>
      <p:sp>
        <p:nvSpPr>
          <p:cNvPr id="15" name="lab-icon-1">
            <a:extLst xmlns:a="http://schemas.openxmlformats.org/drawingml/2006/main">
              <a:ext uri="{FF2B5EF4-FFF2-40B4-BE49-F238E27FC236}">
                <a16:creationId xmlns:a16="http://schemas.microsoft.com/office/drawing/2014/main" id="{97E7E3F5-2E02-4A1E-B8E2-7D151318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333625"/>
            <a:ext cx="571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TS</a:t>
            </a:r>
          </a:p>
        </p:txBody>
      </p:sp>
      <p:sp>
        <p:nvSpPr>
          <p:cNvPr id="16" name="lab-heading-1">
            <a:extLst xmlns:a="http://schemas.openxmlformats.org/drawingml/2006/main">
              <a:ext uri="{FF2B5EF4-FFF2-40B4-BE49-F238E27FC236}">
                <a16:creationId xmlns:a16="http://schemas.microsoft.com/office/drawing/2014/main" id="{D85DDAE5-5FE7-4A4E-9EDD-05E14FC7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81350"/>
            <a:ext cx="2400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TypeScript</a:t>
            </a:r>
          </a:p>
        </p:txBody>
      </p:sp>
      <p:sp>
        <p:nvSpPr>
          <p:cNvPr id="17" name="lab-failure-1">
            <a:extLst xmlns:a="http://schemas.openxmlformats.org/drawingml/2006/main">
              <a:ext uri="{FF2B5EF4-FFF2-40B4-BE49-F238E27FC236}">
                <a16:creationId xmlns:a16="http://schemas.microsoft.com/office/drawing/2014/main" id="{1CAC0ED4-C468-4B9B-9921-8BEB1EF7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695700"/>
            <a:ext cx="2400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type or lint error</a:t>
            </a:r>
          </a:p>
        </p:txBody>
      </p:sp>
      <p:sp>
        <p:nvSpPr>
          <p:cNvPr id="18" name="lab-stop-1">
            <a:extLst xmlns:a="http://schemas.openxmlformats.org/drawingml/2006/main">
              <a:ext uri="{FF2B5EF4-FFF2-40B4-BE49-F238E27FC236}">
                <a16:creationId xmlns:a16="http://schemas.microsoft.com/office/drawing/2014/main" id="{55FD9903-3D5E-47FE-8785-89D30702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667250"/>
            <a:ext cx="1409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F4444"/>
                </a:solidFill>
                <a:latin typeface="Aptos"/>
                <a:ea typeface="Aptos"/>
                <a:cs typeface="Aptos"/>
              </a:defRPr>
            </a:pPr>
            <a:r>
              <a:t>STOP HERE</a:t>
            </a:r>
          </a:p>
        </p:txBody>
      </p:sp>
      <p:cxnSp>
        <p:nvCxnSpPr>
          <p:cNvPr id="54" name="lab-fuse-2"/>
          <p:cNvCxnSpPr/>
          <p:nvPr/>
        </p:nvCxnSpPr>
        <p:spPr>
          <a:xfrm xmlns:a="http://schemas.openxmlformats.org/drawingml/2006/main">
            <a:off x="7181850" y="2857500"/>
            <a:ext cx="953" cy="19050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FFD166"/>
            </a:solidFill>
            <a:prstDash val="solid"/>
          </a:ln>
        </p:spPr>
      </p:cxnSp>
      <p:sp>
        <p:nvSpPr>
          <p:cNvPr id="20" name="lab-bulb-2">
            <a:extLst xmlns:a="http://schemas.openxmlformats.org/drawingml/2006/main">
              <a:ext uri="{FF2B5EF4-FFF2-40B4-BE49-F238E27FC236}">
                <a16:creationId xmlns:a16="http://schemas.microsoft.com/office/drawing/2014/main" id="{3F1B8D67-C565-44F3-B14E-ECD4C136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1336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lab-flag-2">
            <a:extLst xmlns:a="http://schemas.openxmlformats.org/drawingml/2006/main">
              <a:ext uri="{FF2B5EF4-FFF2-40B4-BE49-F238E27FC236}">
                <a16:creationId xmlns:a16="http://schemas.microsoft.com/office/drawing/2014/main" id="{80690A10-B4EA-4B18-A7DC-424FAA9C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495800"/>
            <a:ext cx="1714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9050">
            <a:solidFill>
              <a:srgbClr val="EF4444"/>
            </a:solidFill>
            <a:prstDash val="solid"/>
          </a:ln>
        </p:spPr>
      </p:sp>
      <p:sp>
        <p:nvSpPr>
          <p:cNvPr id="22" name="lab-icon-2">
            <a:extLst xmlns:a="http://schemas.openxmlformats.org/drawingml/2006/main">
              <a:ext uri="{FF2B5EF4-FFF2-40B4-BE49-F238E27FC236}">
                <a16:creationId xmlns:a16="http://schemas.microsoft.com/office/drawing/2014/main" id="{41416BCE-FFC5-4EA2-A8FA-72FF2479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33625"/>
            <a:ext cx="571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{}</a:t>
            </a:r>
          </a:p>
        </p:txBody>
      </p:sp>
      <p:sp>
        <p:nvSpPr>
          <p:cNvPr id="23" name="lab-heading-2">
            <a:extLst xmlns:a="http://schemas.openxmlformats.org/drawingml/2006/main">
              <a:ext uri="{FF2B5EF4-FFF2-40B4-BE49-F238E27FC236}">
                <a16:creationId xmlns:a16="http://schemas.microsoft.com/office/drawing/2014/main" id="{9042149F-CDEF-4B84-BA78-38424575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81350"/>
            <a:ext cx="2400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Protocol fixture</a:t>
            </a:r>
          </a:p>
        </p:txBody>
      </p:sp>
      <p:sp>
        <p:nvSpPr>
          <p:cNvPr id="24" name="lab-failure-2">
            <a:extLst xmlns:a="http://schemas.openxmlformats.org/drawingml/2006/main">
              <a:ext uri="{FF2B5EF4-FFF2-40B4-BE49-F238E27FC236}">
                <a16:creationId xmlns:a16="http://schemas.microsoft.com/office/drawing/2014/main" id="{5443DD54-428A-4216-8528-EC2330D6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695700"/>
            <a:ext cx="2400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cross-language mismatch</a:t>
            </a:r>
          </a:p>
        </p:txBody>
      </p:sp>
      <p:sp>
        <p:nvSpPr>
          <p:cNvPr id="25" name="lab-stop-2">
            <a:extLst xmlns:a="http://schemas.openxmlformats.org/drawingml/2006/main">
              <a:ext uri="{FF2B5EF4-FFF2-40B4-BE49-F238E27FC236}">
                <a16:creationId xmlns:a16="http://schemas.microsoft.com/office/drawing/2014/main" id="{3FFC0EB2-F734-443B-AFE7-7EBACA87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1409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F4444"/>
                </a:solidFill>
                <a:latin typeface="Aptos"/>
                <a:ea typeface="Aptos"/>
                <a:cs typeface="Aptos"/>
              </a:defRPr>
            </a:pPr>
            <a:r>
              <a:t>STOP HERE</a:t>
            </a:r>
          </a:p>
        </p:txBody>
      </p:sp>
      <p:cxnSp>
        <p:nvCxnSpPr>
          <p:cNvPr id="61" name="lab-fuse-3"/>
          <p:cNvCxnSpPr/>
          <p:nvPr/>
        </p:nvCxnSpPr>
        <p:spPr>
          <a:xfrm xmlns:a="http://schemas.openxmlformats.org/drawingml/2006/main">
            <a:off x="9944100" y="2857500"/>
            <a:ext cx="953" cy="19050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22C55E"/>
            </a:solidFill>
            <a:prstDash val="solid"/>
          </a:ln>
        </p:spPr>
      </p:cxnSp>
      <p:sp>
        <p:nvSpPr>
          <p:cNvPr id="27" name="lab-bulb-3">
            <a:extLst xmlns:a="http://schemas.openxmlformats.org/drawingml/2006/main">
              <a:ext uri="{FF2B5EF4-FFF2-40B4-BE49-F238E27FC236}">
                <a16:creationId xmlns:a16="http://schemas.microsoft.com/office/drawing/2014/main" id="{8473A9D8-1CD2-45E1-AA5B-0176B355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1336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lab-flag-3">
            <a:extLst xmlns:a="http://schemas.openxmlformats.org/drawingml/2006/main">
              <a:ext uri="{FF2B5EF4-FFF2-40B4-BE49-F238E27FC236}">
                <a16:creationId xmlns:a16="http://schemas.microsoft.com/office/drawing/2014/main" id="{9B8BA186-D464-44EF-8C97-55E6EF7A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495800"/>
            <a:ext cx="1714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9050">
            <a:solidFill>
              <a:srgbClr val="EF4444"/>
            </a:solidFill>
            <a:prstDash val="solid"/>
          </a:ln>
        </p:spPr>
      </p:sp>
      <p:sp>
        <p:nvSpPr>
          <p:cNvPr id="29" name="lab-icon-3">
            <a:extLst xmlns:a="http://schemas.openxmlformats.org/drawingml/2006/main">
              <a:ext uri="{FF2B5EF4-FFF2-40B4-BE49-F238E27FC236}">
                <a16:creationId xmlns:a16="http://schemas.microsoft.com/office/drawing/2014/main" id="{C681743A-6FF6-441B-9BB7-AA729138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33625"/>
            <a:ext cx="571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↔</a:t>
            </a:r>
          </a:p>
        </p:txBody>
      </p:sp>
      <p:sp>
        <p:nvSpPr>
          <p:cNvPr id="30" name="lab-heading-3">
            <a:extLst xmlns:a="http://schemas.openxmlformats.org/drawingml/2006/main">
              <a:ext uri="{FF2B5EF4-FFF2-40B4-BE49-F238E27FC236}">
                <a16:creationId xmlns:a16="http://schemas.microsoft.com/office/drawing/2014/main" id="{B4E61C3A-538C-48D6-AA96-44CFF971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181350"/>
            <a:ext cx="2400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Integration</a:t>
            </a:r>
          </a:p>
        </p:txBody>
      </p:sp>
      <p:sp>
        <p:nvSpPr>
          <p:cNvPr id="31" name="lab-failure-3">
            <a:extLst xmlns:a="http://schemas.openxmlformats.org/drawingml/2006/main">
              <a:ext uri="{FF2B5EF4-FFF2-40B4-BE49-F238E27FC236}">
                <a16:creationId xmlns:a16="http://schemas.microsoft.com/office/drawing/2014/main" id="{F38EA6DF-4D59-4B7D-90D3-773AFA0E6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695700"/>
            <a:ext cx="2400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Node↔Python tape breaks</a:t>
            </a:r>
          </a:p>
        </p:txBody>
      </p:sp>
      <p:sp>
        <p:nvSpPr>
          <p:cNvPr id="32" name="lab-stop-3">
            <a:extLst xmlns:a="http://schemas.openxmlformats.org/drawingml/2006/main">
              <a:ext uri="{FF2B5EF4-FFF2-40B4-BE49-F238E27FC236}">
                <a16:creationId xmlns:a16="http://schemas.microsoft.com/office/drawing/2014/main" id="{EDC4110F-BB21-4C35-987F-CDD9FC02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667250"/>
            <a:ext cx="1409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F4444"/>
                </a:solidFill>
                <a:latin typeface="Aptos"/>
                <a:ea typeface="Aptos"/>
                <a:cs typeface="Aptos"/>
              </a:defRPr>
            </a:pPr>
            <a:r>
              <a:t>STOP HERE</a:t>
            </a:r>
          </a:p>
        </p:txBody>
      </p:sp>
      <p:sp>
        <p:nvSpPr>
          <p:cNvPr id="33" name="lab-command">
            <a:extLst xmlns:a="http://schemas.openxmlformats.org/drawingml/2006/main">
              <a:ext uri="{FF2B5EF4-FFF2-40B4-BE49-F238E27FC236}">
                <a16:creationId xmlns:a16="http://schemas.microsoft.com/office/drawing/2014/main" id="{6455CFC4-2233-443A-819C-7719834F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581650"/>
            <a:ext cx="91821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lab-command-text">
            <a:extLst xmlns:a="http://schemas.openxmlformats.org/drawingml/2006/main">
              <a:ext uri="{FF2B5EF4-FFF2-40B4-BE49-F238E27FC236}">
                <a16:creationId xmlns:a16="http://schemas.microsoft.com/office/drawing/2014/main" id="{A67FCD45-61A0-4232-944D-D3E882EC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753100"/>
            <a:ext cx="8648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read the last  ==&gt;  label  •  fix that layer  •  rerun the same command</a:t>
            </a:r>
          </a:p>
        </p:txBody>
      </p:sp>
      <p:sp>
        <p:nvSpPr>
          <p:cNvPr id="35" name="lab-note">
            <a:extLst xmlns:a="http://schemas.openxmlformats.org/drawingml/2006/main">
              <a:ext uri="{FF2B5EF4-FFF2-40B4-BE49-F238E27FC236}">
                <a16:creationId xmlns:a16="http://schemas.microsoft.com/office/drawing/2014/main" id="{D70A9C91-918E-4DD2-8443-A82733194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05550"/>
            <a:ext cx="647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The script itself has a deterministic fail-fast regression suite.</a:t>
            </a:r>
          </a:p>
        </p:txBody>
      </p:sp>
    </p:spTree>
    <p:extLst>
      <p:ext uri="{BB962C8B-B14F-4D97-AF65-F5344CB8AC3E}">
        <p14:creationId xmlns:p14="http://schemas.microsoft.com/office/powerpoint/2010/main" val="13728562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8">
            <a:extLst xmlns:a="http://schemas.openxmlformats.org/drawingml/2006/main">
              <a:ext uri="{FF2B5EF4-FFF2-40B4-BE49-F238E27FC236}">
                <a16:creationId xmlns:a16="http://schemas.microsoft.com/office/drawing/2014/main" id="{90F6C176-8B50-47AC-85A1-B74F64E9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077199C9-C541-41CC-A96F-0A7B74E8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The local gate is a contract—not an entire platform</a:t>
            </a:r>
          </a:p>
        </p:txBody>
      </p:sp>
      <p:cxnSp>
        <p:nvCxnSpPr>
          <p:cNvPr id="27" name="header-rule-8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8">
            <a:extLst xmlns:a="http://schemas.openxmlformats.org/drawingml/2006/main">
              <a:ext uri="{FF2B5EF4-FFF2-40B4-BE49-F238E27FC236}">
                <a16:creationId xmlns:a16="http://schemas.microsoft.com/office/drawing/2014/main" id="{4D3AA34A-F693-43E3-B040-56A2F29B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08</a:t>
            </a:r>
          </a:p>
        </p:txBody>
      </p:sp>
      <p:cxnSp>
        <p:nvCxnSpPr>
          <p:cNvPr id="29" name="prod-stair-1"/>
          <p:cNvCxnSpPr/>
          <p:nvPr/>
        </p:nvCxnSpPr>
        <p:spPr>
          <a:xfrm xmlns:a="http://schemas.openxmlformats.org/drawingml/2006/main">
            <a:off x="819150" y="5353050"/>
            <a:ext cx="24765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38BDF8"/>
            </a:solidFill>
            <a:prstDash val="solid"/>
          </a:ln>
        </p:spPr>
      </p:cxnSp>
      <p:cxnSp>
        <p:nvCxnSpPr>
          <p:cNvPr id="30" name="prod-stair-2"/>
          <p:cNvCxnSpPr/>
          <p:nvPr/>
        </p:nvCxnSpPr>
        <p:spPr>
          <a:xfrm xmlns:a="http://schemas.openxmlformats.org/drawingml/2006/main">
            <a:off x="3295650" y="4362450"/>
            <a:ext cx="953" cy="990600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8B5CF6"/>
            </a:solidFill>
            <a:prstDash val="solid"/>
          </a:ln>
        </p:spPr>
      </p:cxnSp>
      <p:cxnSp>
        <p:nvCxnSpPr>
          <p:cNvPr id="31" name="prod-stair-3"/>
          <p:cNvCxnSpPr/>
          <p:nvPr/>
        </p:nvCxnSpPr>
        <p:spPr>
          <a:xfrm xmlns:a="http://schemas.openxmlformats.org/drawingml/2006/main">
            <a:off x="3295650" y="4362450"/>
            <a:ext cx="24765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8B5CF6"/>
            </a:solidFill>
            <a:prstDash val="solid"/>
          </a:ln>
        </p:spPr>
      </p:cxnSp>
      <p:cxnSp>
        <p:nvCxnSpPr>
          <p:cNvPr id="32" name="prod-stair-4"/>
          <p:cNvCxnSpPr/>
          <p:nvPr/>
        </p:nvCxnSpPr>
        <p:spPr>
          <a:xfrm xmlns:a="http://schemas.openxmlformats.org/drawingml/2006/main">
            <a:off x="5772150" y="3371850"/>
            <a:ext cx="953" cy="990600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FF6B6B"/>
            </a:solidFill>
            <a:prstDash val="solid"/>
          </a:ln>
        </p:spPr>
      </p:cxnSp>
      <p:cxnSp>
        <p:nvCxnSpPr>
          <p:cNvPr id="33" name="prod-stair-5"/>
          <p:cNvCxnSpPr/>
          <p:nvPr/>
        </p:nvCxnSpPr>
        <p:spPr>
          <a:xfrm xmlns:a="http://schemas.openxmlformats.org/drawingml/2006/main">
            <a:off x="5772150" y="3371850"/>
            <a:ext cx="24765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FF6B6B"/>
            </a:solidFill>
            <a:prstDash val="solid"/>
          </a:ln>
        </p:spPr>
      </p:cxnSp>
      <p:cxnSp>
        <p:nvCxnSpPr>
          <p:cNvPr id="34" name="prod-stair-6"/>
          <p:cNvCxnSpPr/>
          <p:nvPr/>
        </p:nvCxnSpPr>
        <p:spPr>
          <a:xfrm xmlns:a="http://schemas.openxmlformats.org/drawingml/2006/main">
            <a:off x="8248650" y="2381250"/>
            <a:ext cx="953" cy="990600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22C55E"/>
            </a:solidFill>
            <a:prstDash val="solid"/>
          </a:ln>
        </p:spPr>
      </p:cxnSp>
      <p:cxnSp>
        <p:nvCxnSpPr>
          <p:cNvPr id="35" name="prod-stair-7"/>
          <p:cNvCxnSpPr/>
          <p:nvPr/>
        </p:nvCxnSpPr>
        <p:spPr>
          <a:xfrm xmlns:a="http://schemas.openxmlformats.org/drawingml/2006/main">
            <a:off x="8248650" y="2381250"/>
            <a:ext cx="30480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22C55E"/>
            </a:solidFill>
            <a:prstDash val="solid"/>
          </a:ln>
        </p:spPr>
      </p:cxnSp>
      <p:sp>
        <p:nvSpPr>
          <p:cNvPr id="12" name="prod-local-dot">
            <a:extLst xmlns:a="http://schemas.openxmlformats.org/drawingml/2006/main">
              <a:ext uri="{FF2B5EF4-FFF2-40B4-BE49-F238E27FC236}">
                <a16:creationId xmlns:a16="http://schemas.microsoft.com/office/drawing/2014/main" id="{3A9C00EA-9412-419A-8D53-516E94A1D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rod-ci-dot">
            <a:extLst xmlns:a="http://schemas.openxmlformats.org/drawingml/2006/main">
              <a:ext uri="{FF2B5EF4-FFF2-40B4-BE49-F238E27FC236}">
                <a16:creationId xmlns:a16="http://schemas.microsoft.com/office/drawing/2014/main" id="{C9FCA1AF-5CDE-4F9D-A3C1-AD35C619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529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rod-scale-dot">
            <a:extLst xmlns:a="http://schemas.openxmlformats.org/drawingml/2006/main">
              <a:ext uri="{FF2B5EF4-FFF2-40B4-BE49-F238E27FC236}">
                <a16:creationId xmlns:a16="http://schemas.microsoft.com/office/drawing/2014/main" id="{7B933C3E-D0FA-4AB4-BF3E-D40A8A3A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1623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rod-enterprise-dot">
            <a:extLst xmlns:a="http://schemas.openxmlformats.org/drawingml/2006/main">
              <a:ext uri="{FF2B5EF4-FFF2-40B4-BE49-F238E27FC236}">
                <a16:creationId xmlns:a16="http://schemas.microsoft.com/office/drawing/2014/main" id="{7B056D41-B8EA-466C-8874-F20DA76E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717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rod-local-title">
            <a:extLst xmlns:a="http://schemas.openxmlformats.org/drawingml/2006/main">
              <a:ext uri="{FF2B5EF4-FFF2-40B4-BE49-F238E27FC236}">
                <a16:creationId xmlns:a16="http://schemas.microsoft.com/office/drawing/2014/main" id="{398142CF-32ED-4A18-9384-E85C606A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85950"/>
            <a:ext cx="1809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NOW</a:t>
            </a:r>
          </a:p>
        </p:txBody>
      </p:sp>
      <p:sp>
        <p:nvSpPr>
          <p:cNvPr id="17" name="prod-local-body">
            <a:extLst xmlns:a="http://schemas.openxmlformats.org/drawingml/2006/main">
              <a:ext uri="{FF2B5EF4-FFF2-40B4-BE49-F238E27FC236}">
                <a16:creationId xmlns:a16="http://schemas.microsoft.com/office/drawing/2014/main" id="{70F2A376-E4CF-4891-B1B9-E3FCF841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21336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55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one offline script
lockfiles + pins
runtime API + source guard</a:t>
            </a:r>
          </a:p>
        </p:txBody>
      </p:sp>
      <p:sp>
        <p:nvSpPr>
          <p:cNvPr id="18" name="prod-ci-title">
            <a:extLst xmlns:a="http://schemas.openxmlformats.org/drawingml/2006/main">
              <a:ext uri="{FF2B5EF4-FFF2-40B4-BE49-F238E27FC236}">
                <a16:creationId xmlns:a16="http://schemas.microsoft.com/office/drawing/2014/main" id="{47130F5A-1002-42E2-AE4D-184B35D2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05350"/>
            <a:ext cx="1905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TEAM GATE</a:t>
            </a:r>
          </a:p>
        </p:txBody>
      </p:sp>
      <p:sp>
        <p:nvSpPr>
          <p:cNvPr id="19" name="prod-ci-body">
            <a:extLst xmlns:a="http://schemas.openxmlformats.org/drawingml/2006/main">
              <a:ext uri="{FF2B5EF4-FFF2-40B4-BE49-F238E27FC236}">
                <a16:creationId xmlns:a16="http://schemas.microsoft.com/office/drawing/2014/main" id="{1D94E3AC-14C7-4D92-A8CC-33F7583A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48250"/>
            <a:ext cx="22860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required PR check
branch protection
ownership + SLAs</a:t>
            </a:r>
          </a:p>
        </p:txBody>
      </p:sp>
      <p:sp>
        <p:nvSpPr>
          <p:cNvPr id="20" name="prod-scale-title">
            <a:extLst xmlns:a="http://schemas.openxmlformats.org/drawingml/2006/main">
              <a:ext uri="{FF2B5EF4-FFF2-40B4-BE49-F238E27FC236}">
                <a16:creationId xmlns:a16="http://schemas.microsoft.com/office/drawing/2014/main" id="{909950CD-CCC4-4B17-9A5C-6E98AD73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71475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SCALE</a:t>
            </a:r>
          </a:p>
        </p:txBody>
      </p:sp>
      <p:sp>
        <p:nvSpPr>
          <p:cNvPr id="21" name="prod-scale-body">
            <a:extLst xmlns:a="http://schemas.openxmlformats.org/drawingml/2006/main">
              <a:ext uri="{FF2B5EF4-FFF2-40B4-BE49-F238E27FC236}">
                <a16:creationId xmlns:a16="http://schemas.microsoft.com/office/drawing/2014/main" id="{A6B0FD6B-8079-4418-9465-50C2BE16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057650"/>
            <a:ext cx="1714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pre-commit
Renovate
CodeQL</a:t>
            </a:r>
          </a:p>
        </p:txBody>
      </p:sp>
      <p:sp>
        <p:nvSpPr>
          <p:cNvPr id="22" name="prod-enterprise-title">
            <a:extLst xmlns:a="http://schemas.openxmlformats.org/drawingml/2006/main">
              <a:ext uri="{FF2B5EF4-FFF2-40B4-BE49-F238E27FC236}">
                <a16:creationId xmlns:a16="http://schemas.microsoft.com/office/drawing/2014/main" id="{AC8F65C2-4BD2-40A9-8079-22431913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43200"/>
            <a:ext cx="2724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MATURE PLATFORM</a:t>
            </a:r>
          </a:p>
        </p:txBody>
      </p:sp>
      <p:sp>
        <p:nvSpPr>
          <p:cNvPr id="23" name="prod-enterprise-body">
            <a:extLst xmlns:a="http://schemas.openxmlformats.org/drawingml/2006/main">
              <a:ext uri="{FF2B5EF4-FFF2-40B4-BE49-F238E27FC236}">
                <a16:creationId xmlns:a16="http://schemas.microsoft.com/office/drawing/2014/main" id="{C3D491D1-1E11-4271-94C6-B9088ACA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62300"/>
            <a:ext cx="272415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policy exceptions
parallel shards
provenance + attestations
OpenSSF Scorecard</a:t>
            </a:r>
          </a:p>
        </p:txBody>
      </p:sp>
      <p:sp>
        <p:nvSpPr>
          <p:cNvPr id="24" name="prod-signal">
            <a:extLst xmlns:a="http://schemas.openxmlformats.org/drawingml/2006/main">
              <a:ext uri="{FF2B5EF4-FFF2-40B4-BE49-F238E27FC236}">
                <a16:creationId xmlns:a16="http://schemas.microsoft.com/office/drawing/2014/main" id="{88660DE7-559E-4D60-90DE-7286B106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29350"/>
            <a:ext cx="10515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Graduate when feedback time, supply-chain risk, or team coordination outgrows one linear gate.</a:t>
            </a:r>
          </a:p>
        </p:txBody>
      </p:sp>
    </p:spTree>
    <p:extLst>
      <p:ext uri="{BB962C8B-B14F-4D97-AF65-F5344CB8AC3E}">
        <p14:creationId xmlns:p14="http://schemas.microsoft.com/office/powerpoint/2010/main" val="17730757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9">
            <a:extLst xmlns:a="http://schemas.openxmlformats.org/drawingml/2006/main">
              <a:ext uri="{FF2B5EF4-FFF2-40B4-BE49-F238E27FC236}">
                <a16:creationId xmlns:a16="http://schemas.microsoft.com/office/drawing/2014/main" id="{2D94F6F5-DD13-4078-818B-BDC5147E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EF39FC57-3C6C-47A0-AB3A-C340A1BA9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Trust rises because the trade-offs stay visible</a:t>
            </a:r>
          </a:p>
        </p:txBody>
      </p:sp>
      <p:cxnSp>
        <p:nvCxnSpPr>
          <p:cNvPr id="20" name="header-rule-9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9">
            <a:extLst xmlns:a="http://schemas.openxmlformats.org/drawingml/2006/main">
              <a:ext uri="{FF2B5EF4-FFF2-40B4-BE49-F238E27FC236}">
                <a16:creationId xmlns:a16="http://schemas.microsoft.com/office/drawing/2014/main" id="{BCD96466-C752-4F82-AC61-1E59DC82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09</a:t>
            </a:r>
          </a:p>
        </p:txBody>
      </p:sp>
      <p:cxnSp>
        <p:nvCxnSpPr>
          <p:cNvPr id="22" name="trade-beam"/>
          <p:cNvCxnSpPr/>
          <p:nvPr/>
        </p:nvCxnSpPr>
        <p:spPr>
          <a:xfrm xmlns:a="http://schemas.openxmlformats.org/drawingml/2006/main">
            <a:off x="2038350" y="3371850"/>
            <a:ext cx="81153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0B1F33"/>
            </a:solidFill>
            <a:prstDash val="solid"/>
          </a:ln>
        </p:spPr>
      </p:cxnSp>
      <p:sp>
        <p:nvSpPr>
          <p:cNvPr id="6" name="trade-fulcrum">
            <a:extLst xmlns:a="http://schemas.openxmlformats.org/drawingml/2006/main">
              <a:ext uri="{FF2B5EF4-FFF2-40B4-BE49-F238E27FC236}">
                <a16:creationId xmlns:a16="http://schemas.microsoft.com/office/drawing/2014/main" id="{E16D692A-91B6-4BE8-860C-F6ADF13F0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289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rade-left-pan">
            <a:extLst xmlns:a="http://schemas.openxmlformats.org/drawingml/2006/main">
              <a:ext uri="{FF2B5EF4-FFF2-40B4-BE49-F238E27FC236}">
                <a16:creationId xmlns:a16="http://schemas.microsoft.com/office/drawing/2014/main" id="{E3384CC5-EB6D-47CA-B8B7-24A4F2FC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36766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E9F9EF"/>
          </a:solidFill>
          <a:ln xmlns:a="http://schemas.openxmlformats.org/drawingml/2006/main" w="28575">
            <a:solidFill>
              <a:srgbClr val="22C55E"/>
            </a:solidFill>
            <a:prstDash val="solid"/>
          </a:ln>
        </p:spPr>
      </p:sp>
      <p:sp>
        <p:nvSpPr>
          <p:cNvPr id="8" name="trade-right-pan">
            <a:extLst xmlns:a="http://schemas.openxmlformats.org/drawingml/2006/main">
              <a:ext uri="{FF2B5EF4-FFF2-40B4-BE49-F238E27FC236}">
                <a16:creationId xmlns:a16="http://schemas.microsoft.com/office/drawing/2014/main" id="{9FF7BCDB-FE95-48A1-AFE9-3886BAE54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95700"/>
            <a:ext cx="36766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28575">
            <a:solidFill>
              <a:srgbClr val="FF6B6B"/>
            </a:solidFill>
            <a:prstDash val="solid"/>
          </a:ln>
        </p:spPr>
      </p:sp>
      <p:cxnSp>
        <p:nvCxnSpPr>
          <p:cNvPr id="26" name="trade-left-rope"/>
          <p:cNvCxnSpPr/>
          <p:nvPr/>
        </p:nvCxnSpPr>
        <p:spPr>
          <a:xfrm xmlns:a="http://schemas.openxmlformats.org/drawingml/2006/main">
            <a:off x="2038350" y="3371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B1F33"/>
            </a:solidFill>
            <a:prstDash val="solid"/>
          </a:ln>
        </p:spPr>
      </p:cxnSp>
      <p:cxnSp>
        <p:nvCxnSpPr>
          <p:cNvPr id="27" name="trade-right-rope"/>
          <p:cNvCxnSpPr/>
          <p:nvPr/>
        </p:nvCxnSpPr>
        <p:spPr>
          <a:xfrm xmlns:a="http://schemas.openxmlformats.org/drawingml/2006/main">
            <a:off x="10153650" y="3371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B1F33"/>
            </a:solidFill>
            <a:prstDash val="solid"/>
          </a:ln>
        </p:spPr>
      </p:cxnSp>
      <p:sp>
        <p:nvSpPr>
          <p:cNvPr id="11" name="trade-left-title">
            <a:extLst xmlns:a="http://schemas.openxmlformats.org/drawingml/2006/main">
              <a:ext uri="{FF2B5EF4-FFF2-40B4-BE49-F238E27FC236}">
                <a16:creationId xmlns:a16="http://schemas.microsoft.com/office/drawing/2014/main" id="{72C15BA1-4629-4A33-A76F-32EC1809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4335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WHAT WE GAIN</a:t>
            </a:r>
          </a:p>
        </p:txBody>
      </p:sp>
      <p:sp>
        <p:nvSpPr>
          <p:cNvPr id="12" name="trade-left-body">
            <a:extLst xmlns:a="http://schemas.openxmlformats.org/drawingml/2006/main">
              <a:ext uri="{FF2B5EF4-FFF2-40B4-BE49-F238E27FC236}">
                <a16:creationId xmlns:a16="http://schemas.microsoft.com/office/drawing/2014/main" id="{F34E4606-3D2C-43E5-99B3-654BBD39E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43400"/>
            <a:ext cx="31051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one definition of green
offline confidence
clear layer attribution</a:t>
            </a:r>
          </a:p>
        </p:txBody>
      </p:sp>
      <p:sp>
        <p:nvSpPr>
          <p:cNvPr id="13" name="trade-right-title">
            <a:extLst xmlns:a="http://schemas.openxmlformats.org/drawingml/2006/main">
              <a:ext uri="{FF2B5EF4-FFF2-40B4-BE49-F238E27FC236}">
                <a16:creationId xmlns:a16="http://schemas.microsoft.com/office/drawing/2014/main" id="{AB8355FA-6E22-4980-B90B-9535CA6F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4335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WHAT WE ACCEPT</a:t>
            </a:r>
          </a:p>
        </p:txBody>
      </p:sp>
      <p:sp>
        <p:nvSpPr>
          <p:cNvPr id="14" name="trade-right-body">
            <a:extLst xmlns:a="http://schemas.openxmlformats.org/drawingml/2006/main">
              <a:ext uri="{FF2B5EF4-FFF2-40B4-BE49-F238E27FC236}">
                <a16:creationId xmlns:a16="http://schemas.microsoft.com/office/drawing/2014/main" id="{BCF110FB-A0CA-48EA-BAB7-DE302326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43400"/>
            <a:ext cx="31051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fail-fast, not full aggregation
a deliberately blunt static guard
serial checks before optimization</a:t>
            </a:r>
          </a:p>
        </p:txBody>
      </p:sp>
      <p:sp>
        <p:nvSpPr>
          <p:cNvPr id="15" name="trade-center">
            <a:extLst xmlns:a="http://schemas.openxmlformats.org/drawingml/2006/main">
              <a:ext uri="{FF2B5EF4-FFF2-40B4-BE49-F238E27FC236}">
                <a16:creationId xmlns:a16="http://schemas.microsoft.com/office/drawing/2014/main" id="{E329AA25-3236-48E7-BF10-90BDD198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33750"/>
            <a:ext cx="609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M0</a:t>
            </a:r>
          </a:p>
        </p:txBody>
      </p:sp>
      <p:sp>
        <p:nvSpPr>
          <p:cNvPr id="16" name="trade-rule">
            <a:extLst xmlns:a="http://schemas.openxmlformats.org/drawingml/2006/main">
              <a:ext uri="{FF2B5EF4-FFF2-40B4-BE49-F238E27FC236}">
                <a16:creationId xmlns:a16="http://schemas.microsoft.com/office/drawing/2014/main" id="{FE37CE95-CBA2-4682-96DF-DA5ECA51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562600"/>
            <a:ext cx="81534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rade-rule-text">
            <a:extLst xmlns:a="http://schemas.openxmlformats.org/drawingml/2006/main">
              <a:ext uri="{FF2B5EF4-FFF2-40B4-BE49-F238E27FC236}">
                <a16:creationId xmlns:a16="http://schemas.microsoft.com/office/drawing/2014/main" id="{06F5DBCC-50F1-4FDC-BC05-EAA0B271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7505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Optimize only after measured pain—never by quietly changing the meaning of green.</a:t>
            </a:r>
          </a:p>
        </p:txBody>
      </p:sp>
    </p:spTree>
    <p:extLst>
      <p:ext uri="{BB962C8B-B14F-4D97-AF65-F5344CB8AC3E}">
        <p14:creationId xmlns:p14="http://schemas.microsoft.com/office/powerpoint/2010/main" val="17791464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lose-bg">
            <a:extLst xmlns:a="http://schemas.openxmlformats.org/drawingml/2006/main">
              <a:ext uri="{FF2B5EF4-FFF2-40B4-BE49-F238E27FC236}">
                <a16:creationId xmlns:a16="http://schemas.microsoft.com/office/drawing/2014/main" id="{5E52DFD5-0958-4CB2-B236-9600CA41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21" name="close-runway"/>
          <p:cNvCxnSpPr/>
          <p:nvPr/>
        </p:nvCxnSpPr>
        <p:spPr>
          <a:xfrm xmlns:a="http://schemas.openxmlformats.org/drawingml/2006/main">
            <a:off x="1123950" y="4953000"/>
            <a:ext cx="9391650" cy="953"/>
          </a:xfrm>
          <a:prstGeom xmlns:a="http://schemas.openxmlformats.org/drawingml/2006/main" prst="straightConnector1">
            <a:avLst/>
          </a:prstGeom>
          <a:ln xmlns:a="http://schemas.openxmlformats.org/drawingml/2006/main" w="171450">
            <a:solidFill>
              <a:srgbClr val="29445F"/>
            </a:solidFill>
            <a:prstDash val="solid"/>
          </a:ln>
        </p:spPr>
      </p:cxnSp>
      <p:cxnSp>
        <p:nvCxnSpPr>
          <p:cNvPr id="22" name="close-runway-green"/>
          <p:cNvCxnSpPr/>
          <p:nvPr/>
        </p:nvCxnSpPr>
        <p:spPr>
          <a:xfrm xmlns:a="http://schemas.openxmlformats.org/drawingml/2006/main">
            <a:off x="1123950" y="4953000"/>
            <a:ext cx="7239000" cy="953"/>
          </a:xfrm>
          <a:prstGeom xmlns:a="http://schemas.openxmlformats.org/drawingml/2006/main" prst="straightConnector1">
            <a:avLst/>
          </a:prstGeom>
          <a:ln xmlns:a="http://schemas.openxmlformats.org/drawingml/2006/main" w="171450">
            <a:solidFill>
              <a:srgbClr val="22C55E"/>
            </a:solidFill>
            <a:prstDash val="solid"/>
          </a:ln>
        </p:spPr>
      </p:cxnSp>
      <p:sp>
        <p:nvSpPr>
          <p:cNvPr id="4" name="close-arrow">
            <a:extLst xmlns:a="http://schemas.openxmlformats.org/drawingml/2006/main">
              <a:ext uri="{FF2B5EF4-FFF2-40B4-BE49-F238E27FC236}">
                <a16:creationId xmlns:a16="http://schemas.microsoft.com/office/drawing/2014/main" id="{0D8AFEBB-D4E6-46C6-9D96-736CCA9E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1466850" cy="685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lose-check-ring">
            <a:extLst xmlns:a="http://schemas.openxmlformats.org/drawingml/2006/main">
              <a:ext uri="{FF2B5EF4-FFF2-40B4-BE49-F238E27FC236}">
                <a16:creationId xmlns:a16="http://schemas.microsoft.com/office/drawing/2014/main" id="{48745D0E-5980-43FE-80E0-2ACE96D2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886200"/>
            <a:ext cx="1962150" cy="1962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351F"/>
          </a:solidFill>
          <a:ln xmlns:a="http://schemas.openxmlformats.org/drawingml/2006/main" w="76200">
            <a:solidFill>
              <a:srgbClr val="22C55E"/>
            </a:solidFill>
            <a:prstDash val="solid"/>
          </a:ln>
        </p:spPr>
      </p:sp>
      <p:sp>
        <p:nvSpPr>
          <p:cNvPr id="6" name="close-check">
            <a:extLst xmlns:a="http://schemas.openxmlformats.org/drawingml/2006/main">
              <a:ext uri="{FF2B5EF4-FFF2-40B4-BE49-F238E27FC236}">
                <a16:creationId xmlns:a16="http://schemas.microsoft.com/office/drawing/2014/main" id="{80EEF9F0-6792-4A3F-8D90-AEA0B4A9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133850"/>
            <a:ext cx="1162050" cy="1162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30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7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A94618DC-6C47-410B-87C9-E4CD1A7CB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571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CAH-007  •  GATE ESTABLISHED</a:t>
            </a:r>
          </a:p>
        </p:txBody>
      </p:sp>
      <p:sp>
        <p:nvSpPr>
          <p:cNvPr id="8" name="close-title">
            <a:extLst xmlns:a="http://schemas.openxmlformats.org/drawingml/2006/main">
              <a:ext uri="{FF2B5EF4-FFF2-40B4-BE49-F238E27FC236}">
                <a16:creationId xmlns:a16="http://schemas.microsoft.com/office/drawing/2014/main" id="{B20DA335-110A-44ED-9BFF-085F32E4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7429500" cy="148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t>Make green mean
something.</a:t>
            </a:r>
          </a:p>
        </p:txBody>
      </p:sp>
      <p:sp>
        <p:nvSpPr>
          <p:cNvPr id="9" name="close-subtitle">
            <a:extLst xmlns:a="http://schemas.openxmlformats.org/drawingml/2006/main">
              <a:ext uri="{FF2B5EF4-FFF2-40B4-BE49-F238E27FC236}">
                <a16:creationId xmlns:a16="http://schemas.microsoft.com/office/drawing/2014/main" id="{5B8A049F-ED5D-417B-82BA-FB436419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0"/>
            <a:ext cx="8191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7E5F4"/>
                </a:solidFill>
                <a:latin typeface="Aptos"/>
                <a:ea typeface="Aptos"/>
                <a:cs typeface="Aptos"/>
              </a:defRPr>
            </a:pPr>
            <a:r>
              <a:t>One command. Locked setup. Offline validation. Honest failures.</a:t>
            </a:r>
          </a:p>
        </p:txBody>
      </p:sp>
      <p:sp>
        <p:nvSpPr>
          <p:cNvPr id="10" name="close-num-0">
            <a:extLst xmlns:a="http://schemas.openxmlformats.org/drawingml/2006/main">
              <a:ext uri="{FF2B5EF4-FFF2-40B4-BE49-F238E27FC236}">
                <a16:creationId xmlns:a16="http://schemas.microsoft.com/office/drawing/2014/main" id="{3B5E07D6-F40C-4609-9947-C970949C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76650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01</a:t>
            </a:r>
          </a:p>
        </p:txBody>
      </p:sp>
      <p:sp>
        <p:nvSpPr>
          <p:cNvPr id="11" name="close-body-0">
            <a:extLst xmlns:a="http://schemas.openxmlformats.org/drawingml/2006/main">
              <a:ext uri="{FF2B5EF4-FFF2-40B4-BE49-F238E27FC236}">
                <a16:creationId xmlns:a16="http://schemas.microsoft.com/office/drawing/2014/main" id="{90123EE4-90B9-4413-B748-91ACE6610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20383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Use ./scripts/check before Done</a:t>
            </a:r>
          </a:p>
        </p:txBody>
      </p:sp>
      <p:sp>
        <p:nvSpPr>
          <p:cNvPr id="12" name="close-num-1">
            <a:extLst xmlns:a="http://schemas.openxmlformats.org/drawingml/2006/main">
              <a:ext uri="{FF2B5EF4-FFF2-40B4-BE49-F238E27FC236}">
                <a16:creationId xmlns:a16="http://schemas.microsoft.com/office/drawing/2014/main" id="{68E8C2F8-8089-45C6-BD77-DDBE84F5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76650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sp>
        <p:nvSpPr>
          <p:cNvPr id="13" name="close-body-1">
            <a:extLst xmlns:a="http://schemas.openxmlformats.org/drawingml/2006/main">
              <a:ext uri="{FF2B5EF4-FFF2-40B4-BE49-F238E27FC236}">
                <a16:creationId xmlns:a16="http://schemas.microsoft.com/office/drawing/2014/main" id="{BDA92DB4-5954-4397-9477-DE8E8704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714750"/>
            <a:ext cx="20383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Trust seams, not just modules</a:t>
            </a:r>
          </a:p>
        </p:txBody>
      </p:sp>
      <p:sp>
        <p:nvSpPr>
          <p:cNvPr id="14" name="close-num-2">
            <a:extLst xmlns:a="http://schemas.openxmlformats.org/drawingml/2006/main">
              <a:ext uri="{FF2B5EF4-FFF2-40B4-BE49-F238E27FC236}">
                <a16:creationId xmlns:a16="http://schemas.microsoft.com/office/drawing/2014/main" id="{C8C664F9-67D7-4629-B16C-0D741CF2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sp>
        <p:nvSpPr>
          <p:cNvPr id="15" name="close-body-2">
            <a:extLst xmlns:a="http://schemas.openxmlformats.org/drawingml/2006/main">
              <a:ext uri="{FF2B5EF4-FFF2-40B4-BE49-F238E27FC236}">
                <a16:creationId xmlns:a16="http://schemas.microsoft.com/office/drawing/2014/main" id="{813307EC-BDC1-4247-A0C5-43B8DA489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14750"/>
            <a:ext cx="20383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Let CI reuse the same contract</a:t>
            </a:r>
          </a:p>
        </p:txBody>
      </p:sp>
      <p:sp>
        <p:nvSpPr>
          <p:cNvPr id="16" name="close-next">
            <a:extLst xmlns:a="http://schemas.openxmlformats.org/drawingml/2006/main">
              <a:ext uri="{FF2B5EF4-FFF2-40B4-BE49-F238E27FC236}">
                <a16:creationId xmlns:a16="http://schemas.microsoft.com/office/drawing/2014/main" id="{A64D27AA-0A27-4421-9FA6-9FB0AC24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34050"/>
            <a:ext cx="80200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12744"/>
          </a:solidFill>
          <a:ln xmlns:a="http://schemas.openxmlformats.org/drawingml/2006/main" w="19050">
            <a:solidFill>
              <a:srgbClr val="8B5CF6"/>
            </a:solidFill>
            <a:prstDash val="solid"/>
          </a:ln>
        </p:spPr>
      </p:sp>
      <p:sp>
        <p:nvSpPr>
          <p:cNvPr id="17" name="close-next-kicker">
            <a:extLst xmlns:a="http://schemas.openxmlformats.org/drawingml/2006/main">
              <a:ext uri="{FF2B5EF4-FFF2-40B4-BE49-F238E27FC236}">
                <a16:creationId xmlns:a16="http://schemas.microsoft.com/office/drawing/2014/main" id="{C917EEB1-8EBE-480A-935C-52E64555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0"/>
            <a:ext cx="2190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NEXT  →  CAH-010</a:t>
            </a:r>
          </a:p>
        </p:txBody>
      </p:sp>
      <p:sp>
        <p:nvSpPr>
          <p:cNvPr id="18" name="close-next-body">
            <a:extLst xmlns:a="http://schemas.openxmlformats.org/drawingml/2006/main">
              <a:ext uri="{FF2B5EF4-FFF2-40B4-BE49-F238E27FC236}">
                <a16:creationId xmlns:a16="http://schemas.microsoft.com/office/drawing/2014/main" id="{5781AB84-0769-4154-A0D4-DB8DF607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886450"/>
            <a:ext cx="5181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Build the session-state reducer behind a gate we can trust.</a:t>
            </a:r>
          </a:p>
        </p:txBody>
      </p:sp>
      <p:sp>
        <p:nvSpPr>
          <p:cNvPr id="19" name="close-fun">
            <a:extLst xmlns:a="http://schemas.openxmlformats.org/drawingml/2006/main">
              <a:ext uri="{FF2B5EF4-FFF2-40B4-BE49-F238E27FC236}">
                <a16:creationId xmlns:a16="http://schemas.microsoft.com/office/drawing/2014/main" id="{A7DD4A18-9325-4400-9FCB-ED7EEDB3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6076950"/>
            <a:ext cx="2343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t>The robot approves.</a:t>
            </a:r>
          </a:p>
        </p:txBody>
      </p:sp>
    </p:spTree>
    <p:extLst>
      <p:ext uri="{BB962C8B-B14F-4D97-AF65-F5344CB8AC3E}">
        <p14:creationId xmlns:p14="http://schemas.microsoft.com/office/powerpoint/2010/main" val="3887746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2026-07-30T19:22:05.7970000Z</dcterms:created>
  <dcterms:modified xsi:type="dcterms:W3CDTF">2026-07-30T19:22:05.7970000Z</dcterms:modified>
</coreProperties>
</file>