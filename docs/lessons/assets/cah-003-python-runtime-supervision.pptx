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df19efaf0443bb" /><Relationship Type="http://schemas.openxmlformats.org/officeDocument/2006/relationships/extended-properties" Target="/docProps/app.xml" Id="R4e28d588dfb54843" /><Relationship Type="http://schemas.openxmlformats.org/officeDocument/2006/relationships/officeDocument" Target="/ppt/presentation.xml" Id="R711ba63ad9d44f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215b0219c340b2"/>
  </p:sldMasterIdLst>
  <p:notesMasterIdLst>
    <p:notesMasterId xmlns:r="http://schemas.openxmlformats.org/officeDocument/2006/relationships" r:id="Rc5c740506bd542b0"/>
  </p:notesMasterIdLst>
  <p:sldIdLst>
    <p:sldId xmlns:r="http://schemas.openxmlformats.org/officeDocument/2006/relationships" id="256" r:id="R4b39a44ffe774acc"/>
    <p:sldId xmlns:r="http://schemas.openxmlformats.org/officeDocument/2006/relationships" id="257" r:id="R4113dc15a7cb4d0b"/>
    <p:sldId xmlns:r="http://schemas.openxmlformats.org/officeDocument/2006/relationships" id="258" r:id="R559c4aea96a64710"/>
    <p:sldId xmlns:r="http://schemas.openxmlformats.org/officeDocument/2006/relationships" id="259" r:id="R620e89ccb92342f1"/>
    <p:sldId xmlns:r="http://schemas.openxmlformats.org/officeDocument/2006/relationships" id="260" r:id="Rdd9afae362e946b6"/>
    <p:sldId xmlns:r="http://schemas.openxmlformats.org/officeDocument/2006/relationships" id="261" r:id="R07e3f202992e4b35"/>
    <p:sldId xmlns:r="http://schemas.openxmlformats.org/officeDocument/2006/relationships" id="262" r:id="R62e3ebf9096b472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bbcc9875564a5b" /><Relationship Type="http://schemas.openxmlformats.org/officeDocument/2006/relationships/slideMaster" Target="/ppt/slideMasters/slideMaster1.xml" Id="Ra3215b0219c340b2" /><Relationship Type="http://schemas.openxmlformats.org/officeDocument/2006/relationships/notesMaster" Target="/ppt/notesMasters/notesMaster1.xml" Id="Rc5c740506bd542b0" /><Relationship Type="http://schemas.openxmlformats.org/officeDocument/2006/relationships/presProps" Target="/ppt/presProps.xml" Id="R61f62ee6efa2466d" /><Relationship Type="http://schemas.openxmlformats.org/officeDocument/2006/relationships/tableStyles" Target="/ppt/tableStyles.xml" Id="R8b524232d23b4a09" /><Relationship Type="http://schemas.openxmlformats.org/officeDocument/2006/relationships/slide" Target="/ppt/slides/slide1.xml" Id="R4b39a44ffe774acc" /><Relationship Type="http://schemas.openxmlformats.org/officeDocument/2006/relationships/slide" Target="/ppt/slides/slide2.xml" Id="R4113dc15a7cb4d0b" /><Relationship Type="http://schemas.openxmlformats.org/officeDocument/2006/relationships/slide" Target="/ppt/slides/slide3.xml" Id="R559c4aea96a64710" /><Relationship Type="http://schemas.openxmlformats.org/officeDocument/2006/relationships/slide" Target="/ppt/slides/slide4.xml" Id="R620e89ccb92342f1" /><Relationship Type="http://schemas.openxmlformats.org/officeDocument/2006/relationships/slide" Target="/ppt/slides/slide5.xml" Id="Rdd9afae362e946b6" /><Relationship Type="http://schemas.openxmlformats.org/officeDocument/2006/relationships/slide" Target="/ppt/slides/slide6.xml" Id="R07e3f202992e4b35" /><Relationship Type="http://schemas.openxmlformats.org/officeDocument/2006/relationships/slide" Target="/ppt/slides/slide7.xml" Id="R62e3ebf9096b47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7f6ab39b8d4b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aa9df0ae094d34" /><Relationship Type="http://schemas.openxmlformats.org/officeDocument/2006/relationships/notesMaster" Target="/ppt/notesMasters/notesMaster1.xml" Id="Rd2eecb611db24d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56ade5b1cd46c0" /><Relationship Type="http://schemas.openxmlformats.org/officeDocument/2006/relationships/notesMaster" Target="/ppt/notesMasters/notesMaster1.xml" Id="Rf2bd56d818884c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18f05b02704fbc" /><Relationship Type="http://schemas.openxmlformats.org/officeDocument/2006/relationships/notesMaster" Target="/ppt/notesMasters/notesMaster1.xml" Id="Re5c53522f32343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71be5025a645d8" /><Relationship Type="http://schemas.openxmlformats.org/officeDocument/2006/relationships/notesMaster" Target="/ppt/notesMasters/notesMaster1.xml" Id="R2a0c93232c3a4c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41fe482a0cc4e85" /><Relationship Type="http://schemas.openxmlformats.org/officeDocument/2006/relationships/notesMaster" Target="/ppt/notesMasters/notesMaster1.xml" Id="Rc01023e8d41b460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0e601c8b9fd45ac" /><Relationship Type="http://schemas.openxmlformats.org/officeDocument/2006/relationships/notesMaster" Target="/ppt/notesMasters/notesMaster1.xml" Id="Rc0001472eab949c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f5b2a3b9ea4687" /><Relationship Type="http://schemas.openxmlformats.org/officeDocument/2006/relationships/notesMaster" Target="/ppt/notesMasters/notesMaster1.xml" Id="R618e5ec4d31f4d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415be0ac3340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76698264af4ecd" /><Relationship Type="http://schemas.openxmlformats.org/officeDocument/2006/relationships/slideLayout" Target="/ppt/slideLayouts/slideLayout1.xml" Id="R5ecf94762a6243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cf94762a6243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8bf829a29f4090" /><Relationship Type="http://schemas.openxmlformats.org/officeDocument/2006/relationships/image" Target="/ppt/media/image.png" Id="Rf5412be976cc4944" /><Relationship Type="http://schemas.openxmlformats.org/officeDocument/2006/relationships/notesSlide" Target="/ppt/notesSlides/notesSlide1.xml" Id="R6da282d7977e48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01f219c1b64e56" /><Relationship Type="http://schemas.openxmlformats.org/officeDocument/2006/relationships/notesSlide" Target="/ppt/notesSlides/notesSlide2.xml" Id="R239e03ae57b4434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84b35b498c4647" /><Relationship Type="http://schemas.openxmlformats.org/officeDocument/2006/relationships/notesSlide" Target="/ppt/notesSlides/notesSlide3.xml" Id="R60293b31ab174a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709e5905ad4c5c" /><Relationship Type="http://schemas.openxmlformats.org/officeDocument/2006/relationships/notesSlide" Target="/ppt/notesSlides/notesSlide4.xml" Id="Rc80cddf0910947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9bd0c4225a42d4" /><Relationship Type="http://schemas.openxmlformats.org/officeDocument/2006/relationships/notesSlide" Target="/ppt/notesSlides/notesSlide5.xml" Id="Rbbc7f7694502487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5b989c143f4fcb" /><Relationship Type="http://schemas.openxmlformats.org/officeDocument/2006/relationships/notesSlide" Target="/ppt/notesSlides/notesSlide6.xml" Id="R09cd49920d17438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9b5ac8471b4181" /><Relationship Type="http://schemas.openxmlformats.org/officeDocument/2006/relationships/notesSlide" Target="/ppt/notesSlides/notesSlide7.xml" Id="Re320d4c70f4446d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76C04E91-2FA0-47DB-8B20-3C088BD2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5334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CAH-003  ·  PLANNED LESSON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9A4A4CC-DCE6-4366-9363-F388B337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523875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93000"/>
              </a:lnSpc>
              <a:buNone/>
              <a:defRPr sz="40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One parent. One child.
One complete lifetime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8C570DDA-C1E2-4C5B-A335-E3723701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43350"/>
            <a:ext cx="5143500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65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Ink parent will start, observe, stop, and reap one Python runtime while keeping protocol traffic separate from human diagnostics.</a:t>
            </a:r>
          </a:p>
        </p:txBody>
      </p:sp>
      <p:sp>
        <p:nvSpPr>
          <p:cNvPr id="4" name="hero-backing">
            <a:extLst xmlns:a="http://schemas.openxmlformats.org/drawingml/2006/main">
              <a:ext uri="{FF2B5EF4-FFF2-40B4-BE49-F238E27FC236}">
                <a16:creationId xmlns:a16="http://schemas.microsoft.com/office/drawing/2014/main" id="{AFFA8D92-BC64-4090-AF9E-FAF22C78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43550" cy="5600700"/>
          </a:xfrm>
          <a:prstGeom xmlns:a="http://schemas.openxmlformats.org/drawingml/2006/main" prst="roundRect">
            <a:avLst>
              <a:gd name="adj" fmla="val 1375"/>
            </a:avLst>
          </a:prstGeom>
          <a:solidFill xmlns:a="http://schemas.openxmlformats.org/drawingml/2006/main">
            <a:srgbClr val="DFF3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412be976cc4944"/>
          <a:srcRect xmlns:a="http://schemas.openxmlformats.org/drawingml/2006/main" l="22147" t="0" r="221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267450" y="400050"/>
            <a:ext cx="5543550" cy="5600700"/>
          </a:xfrm>
          <a:prstGeom xmlns:a="http://schemas.openxmlformats.org/drawingml/2006/main" prst="roundRect">
            <a:avLst/>
          </a:prstGeom>
        </p:spPr>
      </p:pic>
      <p:sp>
        <p:nvSpPr>
          <p:cNvPr id="6" name="page-1">
            <a:extLst xmlns:a="http://schemas.openxmlformats.org/drawingml/2006/main">
              <a:ext uri="{FF2B5EF4-FFF2-40B4-BE49-F238E27FC236}">
                <a16:creationId xmlns:a16="http://schemas.microsoft.com/office/drawing/2014/main" id="{BE0A8AEA-B308-4ACD-8287-9CB90E7D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000000"/>
                </a:solidFill>
              </a:defRPr>
            </a:pPr>
            <a:r>
              <a:rPr sz="975">
                <a:solidFill>
                  <a:srgbClr val="00000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0842568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5CDB6397-E546-4910-954B-63552485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21A6C5AC-EC64-41DC-B851-53F414140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CAH-003 defines three process contracts</a:t>
            </a:r>
          </a:p>
        </p:txBody>
      </p:sp>
      <p:sp>
        <p:nvSpPr>
          <p:cNvPr id="3" name="Google-Shape-558-p61-4">
            <a:extLst xmlns:a="http://schemas.openxmlformats.org/drawingml/2006/main">
              <a:ext uri="{FF2B5EF4-FFF2-40B4-BE49-F238E27FC236}">
                <a16:creationId xmlns:a16="http://schemas.microsoft.com/office/drawing/2014/main" id="{DBDA27E6-BCC6-4488-BDD0-0911BE71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Explicit launch</a:t>
            </a: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
</a:t>
            </a: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Spawn uv with an argument array, no shell, and one canonical workspace.</a:t>
            </a:r>
          </a:p>
        </p:txBody>
      </p:sp>
      <p:sp>
        <p:nvSpPr>
          <p:cNvPr id="4" name="Google-Shape-559-p61-5">
            <a:extLst xmlns:a="http://schemas.openxmlformats.org/drawingml/2006/main">
              <a:ext uri="{FF2B5EF4-FFF2-40B4-BE49-F238E27FC236}">
                <a16:creationId xmlns:a16="http://schemas.microsoft.com/office/drawing/2014/main" id="{23A7B98C-1A39-4B21-8556-CEF82DCC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9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Typed streams</a:t>
            </a: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
</a:t>
            </a: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Reserve stdin and stdout for protocol; route bounded human diagnostics through stderr.</a:t>
            </a:r>
          </a:p>
        </p:txBody>
      </p:sp>
      <p:sp>
        <p:nvSpPr>
          <p:cNvPr id="5" name="Google-Shape-560-p61-6">
            <a:extLst xmlns:a="http://schemas.openxmlformats.org/drawingml/2006/main">
              <a:ext uri="{FF2B5EF4-FFF2-40B4-BE49-F238E27FC236}">
                <a16:creationId xmlns:a16="http://schemas.microsoft.com/office/drawing/2014/main" id="{5A2874BC-FAB8-4048-9B30-D554D947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Total lifecycle</a:t>
            </a: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
</a:t>
            </a: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Classify startup, unexpected exit, and shutdown—and reap the child exactly once.</a:t>
            </a:r>
          </a:p>
        </p:txBody>
      </p:sp>
      <p:sp>
        <p:nvSpPr>
          <p:cNvPr id="6" name="Google-Shape-561-p61-7">
            <a:extLst xmlns:a="http://schemas.openxmlformats.org/drawingml/2006/main">
              <a:ext uri="{FF2B5EF4-FFF2-40B4-BE49-F238E27FC236}">
                <a16:creationId xmlns:a16="http://schemas.microsoft.com/office/drawing/2014/main" id="{50678FDD-C007-4BDD-8973-58F7F02E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868" y="3382328"/>
            <a:ext cx="315563" cy="353854"/>
          </a:xfrm>
          <a:custGeom xmlns:a="http://schemas.openxmlformats.org/drawingml/2006/main">
            <a:pathLst>
              <a:path w="192747900" h="191595375">
                <a:moveTo>
                  <a:pt x="107661075" y="24707850"/>
                </a:moveTo>
                <a:lnTo>
                  <a:pt x="20716875" y="114138075"/>
                </a:lnTo>
                <a:lnTo>
                  <a:pt x="86039325" y="114138075"/>
                </a:lnTo>
                <a:cubicBezTo>
                  <a:pt x="89192100" y="114138075"/>
                  <a:pt x="92182950" y="115423950"/>
                  <a:pt x="94135575" y="117614700"/>
                </a:cubicBezTo>
                <a:cubicBezTo>
                  <a:pt x="96097725" y="119814975"/>
                  <a:pt x="96821625" y="122682000"/>
                  <a:pt x="96097725" y="125406150"/>
                </a:cubicBezTo>
                <a:lnTo>
                  <a:pt x="85086825" y="166897050"/>
                </a:lnTo>
                <a:lnTo>
                  <a:pt x="172031025" y="77466825"/>
                </a:lnTo>
                <a:lnTo>
                  <a:pt x="106708575" y="77466825"/>
                </a:lnTo>
                <a:cubicBezTo>
                  <a:pt x="103555800" y="77466825"/>
                  <a:pt x="100564950" y="76190475"/>
                  <a:pt x="98612325" y="73990200"/>
                </a:cubicBezTo>
                <a:cubicBezTo>
                  <a:pt x="96650175" y="71789925"/>
                  <a:pt x="95926275" y="68922900"/>
                  <a:pt x="96650175" y="66198750"/>
                </a:cubicBezTo>
                <a:lnTo>
                  <a:pt x="107661075" y="24707850"/>
                </a:lnTo>
                <a:close/>
                <a:moveTo>
                  <a:pt x="98888550" y="5648325"/>
                </a:moveTo>
                <a:cubicBezTo>
                  <a:pt x="111242475" y="-7067550"/>
                  <a:pt x="134540625" y="3457575"/>
                  <a:pt x="130206750" y="19792950"/>
                </a:cubicBezTo>
                <a:lnTo>
                  <a:pt x="119767350" y="59131200"/>
                </a:lnTo>
                <a:lnTo>
                  <a:pt x="172031025" y="59131200"/>
                </a:lnTo>
                <a:cubicBezTo>
                  <a:pt x="189718950" y="59131200"/>
                  <a:pt x="199243950" y="77552550"/>
                  <a:pt x="187690125" y="89439750"/>
                </a:cubicBezTo>
                <a:lnTo>
                  <a:pt x="93859350" y="185956575"/>
                </a:lnTo>
                <a:cubicBezTo>
                  <a:pt x="81505425" y="198672450"/>
                  <a:pt x="58207275" y="188147325"/>
                  <a:pt x="62541150" y="171811950"/>
                </a:cubicBezTo>
                <a:lnTo>
                  <a:pt x="72980550" y="132473700"/>
                </a:lnTo>
                <a:lnTo>
                  <a:pt x="20716875" y="132473700"/>
                </a:lnTo>
                <a:cubicBezTo>
                  <a:pt x="3028950" y="132473700"/>
                  <a:pt x="-6496050" y="114052350"/>
                  <a:pt x="5057775" y="102165150"/>
                </a:cubicBezTo>
                <a:lnTo>
                  <a:pt x="98888550" y="56483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7" name="Google-Shape-562-p61-8">
            <a:extLst xmlns:a="http://schemas.openxmlformats.org/drawingml/2006/main">
              <a:ext uri="{FF2B5EF4-FFF2-40B4-BE49-F238E27FC236}">
                <a16:creationId xmlns:a16="http://schemas.microsoft.com/office/drawing/2014/main" id="{5FB02869-70D4-4870-813C-87727F83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84" y="3378232"/>
            <a:ext cx="327089" cy="362045"/>
          </a:xfrm>
          <a:custGeom xmlns:a="http://schemas.openxmlformats.org/drawingml/2006/main">
            <a:pathLst>
              <a:path w="205740000" h="203196825">
                <a:moveTo>
                  <a:pt x="108194475" y="20288250"/>
                </a:moveTo>
                <a:cubicBezTo>
                  <a:pt x="104908350" y="18583275"/>
                  <a:pt x="100850700" y="18583275"/>
                  <a:pt x="97545525" y="20288250"/>
                </a:cubicBezTo>
                <a:lnTo>
                  <a:pt x="30956250" y="54597300"/>
                </a:lnTo>
                <a:lnTo>
                  <a:pt x="103031925" y="90773250"/>
                </a:lnTo>
                <a:lnTo>
                  <a:pt x="177098325" y="55778400"/>
                </a:lnTo>
                <a:lnTo>
                  <a:pt x="108194475" y="20288250"/>
                </a:lnTo>
                <a:close/>
                <a:moveTo>
                  <a:pt x="184442100" y="73809225"/>
                </a:moveTo>
                <a:lnTo>
                  <a:pt x="113518950" y="107318175"/>
                </a:lnTo>
                <a:lnTo>
                  <a:pt x="113518950" y="180174900"/>
                </a:lnTo>
                <a:lnTo>
                  <a:pt x="179117625" y="146370675"/>
                </a:lnTo>
                <a:cubicBezTo>
                  <a:pt x="182422800" y="144675225"/>
                  <a:pt x="184442100" y="141541500"/>
                  <a:pt x="184442100" y="138141075"/>
                </a:cubicBezTo>
                <a:lnTo>
                  <a:pt x="184442100" y="73809225"/>
                </a:lnTo>
                <a:close/>
                <a:moveTo>
                  <a:pt x="92221050" y="180174900"/>
                </a:moveTo>
                <a:lnTo>
                  <a:pt x="92221050" y="107156250"/>
                </a:lnTo>
                <a:lnTo>
                  <a:pt x="21297900" y="71561325"/>
                </a:lnTo>
                <a:lnTo>
                  <a:pt x="21297900" y="138141075"/>
                </a:lnTo>
                <a:cubicBezTo>
                  <a:pt x="21297900" y="141541500"/>
                  <a:pt x="23317200" y="144675225"/>
                  <a:pt x="26622375" y="146370675"/>
                </a:cubicBezTo>
                <a:lnTo>
                  <a:pt x="92221050" y="180174900"/>
                </a:lnTo>
                <a:close/>
                <a:moveTo>
                  <a:pt x="86896575" y="3819525"/>
                </a:moveTo>
                <a:cubicBezTo>
                  <a:pt x="96774000" y="-1266825"/>
                  <a:pt x="108966000" y="-1266825"/>
                  <a:pt x="118843425" y="3819525"/>
                </a:cubicBezTo>
                <a:lnTo>
                  <a:pt x="189766575" y="40366950"/>
                </a:lnTo>
                <a:cubicBezTo>
                  <a:pt x="199663050" y="45462825"/>
                  <a:pt x="205740000" y="54873525"/>
                  <a:pt x="205740000" y="65055750"/>
                </a:cubicBezTo>
                <a:lnTo>
                  <a:pt x="205740000" y="138141075"/>
                </a:lnTo>
                <a:cubicBezTo>
                  <a:pt x="205740000" y="148323300"/>
                  <a:pt x="199663050" y="157743525"/>
                  <a:pt x="189766575" y="162839400"/>
                </a:cubicBezTo>
                <a:lnTo>
                  <a:pt x="118843425" y="199377300"/>
                </a:lnTo>
                <a:cubicBezTo>
                  <a:pt x="108966000" y="204473175"/>
                  <a:pt x="96774000" y="204473175"/>
                  <a:pt x="86896575" y="199377300"/>
                </a:cubicBezTo>
                <a:lnTo>
                  <a:pt x="15973425" y="162839400"/>
                </a:lnTo>
                <a:cubicBezTo>
                  <a:pt x="6096000" y="157743525"/>
                  <a:pt x="0" y="148323300"/>
                  <a:pt x="0" y="138141075"/>
                </a:cubicBezTo>
                <a:lnTo>
                  <a:pt x="0" y="65055750"/>
                </a:lnTo>
                <a:cubicBezTo>
                  <a:pt x="0" y="54873525"/>
                  <a:pt x="6096000" y="45462825"/>
                  <a:pt x="15973425" y="40366950"/>
                </a:cubicBezTo>
                <a:lnTo>
                  <a:pt x="86896575" y="38195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563-p61-9">
            <a:extLst xmlns:a="http://schemas.openxmlformats.org/drawingml/2006/main">
              <a:ext uri="{FF2B5EF4-FFF2-40B4-BE49-F238E27FC236}">
                <a16:creationId xmlns:a16="http://schemas.microsoft.com/office/drawing/2014/main" id="{140FDE66-C20C-4A2D-BD01-A747A028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600" y="3406807"/>
            <a:ext cx="338614" cy="270891"/>
          </a:xfrm>
          <a:custGeom xmlns:a="http://schemas.openxmlformats.org/drawingml/2006/main">
            <a:pathLst>
              <a:path w="205740000" h="205740000">
                <a:moveTo>
                  <a:pt x="59245500" y="0"/>
                </a:moveTo>
                <a:lnTo>
                  <a:pt x="146494500" y="0"/>
                </a:lnTo>
                <a:cubicBezTo>
                  <a:pt x="154781250" y="0"/>
                  <a:pt x="161620200" y="0"/>
                  <a:pt x="167182800" y="561975"/>
                </a:cubicBezTo>
                <a:cubicBezTo>
                  <a:pt x="172964475" y="1162050"/>
                  <a:pt x="178279425" y="2428875"/>
                  <a:pt x="183270525" y="5610225"/>
                </a:cubicBezTo>
                <a:cubicBezTo>
                  <a:pt x="191023875" y="10534650"/>
                  <a:pt x="197310375" y="18402300"/>
                  <a:pt x="201253725" y="28079700"/>
                </a:cubicBezTo>
                <a:cubicBezTo>
                  <a:pt x="203796900" y="34318575"/>
                  <a:pt x="204816075" y="40967025"/>
                  <a:pt x="205282800" y="48196500"/>
                </a:cubicBezTo>
                <a:cubicBezTo>
                  <a:pt x="205740000" y="55149750"/>
                  <a:pt x="205740000" y="63703200"/>
                  <a:pt x="205740000" y="74056875"/>
                </a:cubicBezTo>
                <a:lnTo>
                  <a:pt x="205740000" y="131683125"/>
                </a:lnTo>
                <a:cubicBezTo>
                  <a:pt x="205740000" y="142036800"/>
                  <a:pt x="205740000" y="150590250"/>
                  <a:pt x="205282800" y="157543500"/>
                </a:cubicBezTo>
                <a:cubicBezTo>
                  <a:pt x="204816075" y="164772975"/>
                  <a:pt x="203796900" y="171421425"/>
                  <a:pt x="201253725" y="177660300"/>
                </a:cubicBezTo>
                <a:cubicBezTo>
                  <a:pt x="197310375" y="187337700"/>
                  <a:pt x="191023875" y="195205350"/>
                  <a:pt x="183270525" y="200129775"/>
                </a:cubicBezTo>
                <a:cubicBezTo>
                  <a:pt x="178279425" y="203311125"/>
                  <a:pt x="172964475" y="204577950"/>
                  <a:pt x="167182800" y="205178025"/>
                </a:cubicBezTo>
                <a:cubicBezTo>
                  <a:pt x="161620200" y="205740000"/>
                  <a:pt x="154781250" y="205740000"/>
                  <a:pt x="146494500" y="205740000"/>
                </a:cubicBezTo>
                <a:lnTo>
                  <a:pt x="59245500" y="205740000"/>
                </a:lnTo>
                <a:cubicBezTo>
                  <a:pt x="50958750" y="205740000"/>
                  <a:pt x="44119800" y="205740000"/>
                  <a:pt x="38557200" y="205178025"/>
                </a:cubicBezTo>
                <a:cubicBezTo>
                  <a:pt x="32775525" y="204577950"/>
                  <a:pt x="27460575" y="203311125"/>
                  <a:pt x="22469475" y="200129775"/>
                </a:cubicBezTo>
                <a:cubicBezTo>
                  <a:pt x="14716125" y="195205350"/>
                  <a:pt x="8429625" y="187337700"/>
                  <a:pt x="4486275" y="177660300"/>
                </a:cubicBezTo>
                <a:cubicBezTo>
                  <a:pt x="1943100" y="171421425"/>
                  <a:pt x="923925" y="164772975"/>
                  <a:pt x="457200" y="157543500"/>
                </a:cubicBezTo>
                <a:cubicBezTo>
                  <a:pt x="0" y="150590250"/>
                  <a:pt x="0" y="142036800"/>
                  <a:pt x="0" y="131683125"/>
                </a:cubicBezTo>
                <a:lnTo>
                  <a:pt x="0" y="74056875"/>
                </a:lnTo>
                <a:cubicBezTo>
                  <a:pt x="0" y="63703200"/>
                  <a:pt x="0" y="55149750"/>
                  <a:pt x="457200" y="48196500"/>
                </a:cubicBezTo>
                <a:cubicBezTo>
                  <a:pt x="923925" y="40967025"/>
                  <a:pt x="1943100" y="34318575"/>
                  <a:pt x="4486275" y="28079700"/>
                </a:cubicBezTo>
                <a:cubicBezTo>
                  <a:pt x="8429625" y="18402300"/>
                  <a:pt x="14716125" y="10534650"/>
                  <a:pt x="22469475" y="5610225"/>
                </a:cubicBezTo>
                <a:cubicBezTo>
                  <a:pt x="27460575" y="2428875"/>
                  <a:pt x="32775525" y="1162050"/>
                  <a:pt x="38557200" y="561975"/>
                </a:cubicBezTo>
                <a:cubicBezTo>
                  <a:pt x="44119800" y="0"/>
                  <a:pt x="50958750" y="0"/>
                  <a:pt x="59245500" y="0"/>
                </a:cubicBezTo>
                <a:close/>
                <a:moveTo>
                  <a:pt x="20574000" y="90011250"/>
                </a:moveTo>
                <a:lnTo>
                  <a:pt x="20574000" y="131159250"/>
                </a:lnTo>
                <a:cubicBezTo>
                  <a:pt x="20574000" y="142179675"/>
                  <a:pt x="20583525" y="149666325"/>
                  <a:pt x="20964525" y="155448000"/>
                </a:cubicBezTo>
                <a:cubicBezTo>
                  <a:pt x="21326475" y="161077275"/>
                  <a:pt x="21993225" y="163972875"/>
                  <a:pt x="22812375" y="165982650"/>
                </a:cubicBezTo>
                <a:cubicBezTo>
                  <a:pt x="24793575" y="170811825"/>
                  <a:pt x="27936825" y="174755175"/>
                  <a:pt x="31803975" y="177222150"/>
                </a:cubicBezTo>
                <a:cubicBezTo>
                  <a:pt x="33413700" y="178250850"/>
                  <a:pt x="35728275" y="179079525"/>
                  <a:pt x="40233600" y="179536725"/>
                </a:cubicBezTo>
                <a:cubicBezTo>
                  <a:pt x="44862750" y="180012975"/>
                  <a:pt x="50844450" y="180022500"/>
                  <a:pt x="59664600" y="180022500"/>
                </a:cubicBezTo>
                <a:lnTo>
                  <a:pt x="146075400" y="180022500"/>
                </a:lnTo>
                <a:cubicBezTo>
                  <a:pt x="154895550" y="180022500"/>
                  <a:pt x="160877250" y="180012975"/>
                  <a:pt x="165506400" y="179536725"/>
                </a:cubicBezTo>
                <a:cubicBezTo>
                  <a:pt x="170011725" y="179079525"/>
                  <a:pt x="172326300" y="178250850"/>
                  <a:pt x="173936025" y="177222150"/>
                </a:cubicBezTo>
                <a:cubicBezTo>
                  <a:pt x="177803175" y="174755175"/>
                  <a:pt x="180946425" y="170811825"/>
                  <a:pt x="182927625" y="165982650"/>
                </a:cubicBezTo>
                <a:cubicBezTo>
                  <a:pt x="183746775" y="163972875"/>
                  <a:pt x="184413525" y="161077275"/>
                  <a:pt x="184775475" y="155448000"/>
                </a:cubicBezTo>
                <a:cubicBezTo>
                  <a:pt x="185156475" y="149666325"/>
                  <a:pt x="185166000" y="142179675"/>
                  <a:pt x="185166000" y="131159250"/>
                </a:cubicBezTo>
                <a:lnTo>
                  <a:pt x="185166000" y="90011250"/>
                </a:lnTo>
                <a:lnTo>
                  <a:pt x="20574000" y="90011250"/>
                </a:lnTo>
                <a:close/>
                <a:moveTo>
                  <a:pt x="185146950" y="64293750"/>
                </a:moveTo>
                <a:cubicBezTo>
                  <a:pt x="185118375" y="58559700"/>
                  <a:pt x="185023125" y="54073425"/>
                  <a:pt x="184775475" y="50292000"/>
                </a:cubicBezTo>
                <a:cubicBezTo>
                  <a:pt x="184413525" y="44662725"/>
                  <a:pt x="183746775" y="41767125"/>
                  <a:pt x="182927625" y="39757350"/>
                </a:cubicBezTo>
                <a:cubicBezTo>
                  <a:pt x="180946425" y="34928175"/>
                  <a:pt x="177803175" y="30994350"/>
                  <a:pt x="173936025" y="28517850"/>
                </a:cubicBezTo>
                <a:cubicBezTo>
                  <a:pt x="172326300" y="27489150"/>
                  <a:pt x="170011725" y="26660475"/>
                  <a:pt x="165506400" y="26203275"/>
                </a:cubicBezTo>
                <a:cubicBezTo>
                  <a:pt x="160877250" y="25727025"/>
                  <a:pt x="154895550" y="25717500"/>
                  <a:pt x="146075400" y="25717500"/>
                </a:cubicBezTo>
                <a:lnTo>
                  <a:pt x="59664600" y="25717500"/>
                </a:lnTo>
                <a:cubicBezTo>
                  <a:pt x="50844450" y="25717500"/>
                  <a:pt x="44862750" y="25727025"/>
                  <a:pt x="40233600" y="26203275"/>
                </a:cubicBezTo>
                <a:cubicBezTo>
                  <a:pt x="35728275" y="26660475"/>
                  <a:pt x="33413700" y="27489150"/>
                  <a:pt x="31803975" y="28517850"/>
                </a:cubicBezTo>
                <a:cubicBezTo>
                  <a:pt x="27936825" y="30994350"/>
                  <a:pt x="24793575" y="34928175"/>
                  <a:pt x="22812375" y="39757350"/>
                </a:cubicBezTo>
                <a:cubicBezTo>
                  <a:pt x="21993225" y="41767125"/>
                  <a:pt x="21326475" y="44662725"/>
                  <a:pt x="20964525" y="50292000"/>
                </a:cubicBezTo>
                <a:cubicBezTo>
                  <a:pt x="20716875" y="54073425"/>
                  <a:pt x="20621625" y="58559700"/>
                  <a:pt x="20593050" y="64293750"/>
                </a:cubicBezTo>
                <a:lnTo>
                  <a:pt x="185146950" y="64293750"/>
                </a:lnTo>
                <a:close/>
                <a:moveTo>
                  <a:pt x="123444000" y="141446250"/>
                </a:moveTo>
                <a:cubicBezTo>
                  <a:pt x="123444000" y="134350125"/>
                  <a:pt x="128054100" y="128587500"/>
                  <a:pt x="133731000" y="128587500"/>
                </a:cubicBezTo>
                <a:lnTo>
                  <a:pt x="154305000" y="128587500"/>
                </a:lnTo>
                <a:cubicBezTo>
                  <a:pt x="159981900" y="128587500"/>
                  <a:pt x="164592000" y="134350125"/>
                  <a:pt x="164592000" y="141446250"/>
                </a:cubicBezTo>
                <a:cubicBezTo>
                  <a:pt x="164592000" y="148542375"/>
                  <a:pt x="159981900" y="154305000"/>
                  <a:pt x="154305000" y="154305000"/>
                </a:cubicBezTo>
                <a:lnTo>
                  <a:pt x="133731000" y="154305000"/>
                </a:lnTo>
                <a:cubicBezTo>
                  <a:pt x="128054100" y="154305000"/>
                  <a:pt x="123444000" y="148542375"/>
                  <a:pt x="123444000" y="1414462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32291327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B06181B0-F8FD-4EAF-88CB-587DACE2D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53D5A3E8-6A1B-424C-B101-37444112B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parent supervises; the child runs the harness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5A4D81F1-0D95-4F01-B486-7947A9FE5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Ink parent owns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Canonical workspace resolution</a:t>
            </a:r>
            <a:r>
              <a:rPr sz="1575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
</a:t>
            </a:r>
            <a:r>
              <a:rPr sz="1575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uv spawn request without a shell</a:t>
            </a:r>
            <a:r>
              <a:rPr sz="1575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
</a:t>
            </a:r>
            <a:r>
              <a:rPr sz="1575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Pipe wiring and bounded diagnostics</a:t>
            </a:r>
            <a:r>
              <a:rPr sz="1575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
</a:t>
            </a:r>
            <a:r>
              <a:rPr sz="1575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Visible failure, termination, and reaping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0058F4A6-F506-4C00-9123-68FBB782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Python child owns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Minimal runtime entry point</a:t>
            </a:r>
            <a:r>
              <a:rPr sz="1575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
</a:t>
            </a:r>
            <a:r>
              <a:rPr sz="1575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Harness behavior after startup</a:t>
            </a:r>
            <a:r>
              <a:rPr sz="1575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
</a:t>
            </a:r>
            <a:r>
              <a:rPr sz="1575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Protocol-only stdout (parsed in CAH-004)</a:t>
            </a:r>
            <a:r>
              <a:rPr sz="1575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
</a:t>
            </a:r>
            <a:r>
              <a:rPr sz="1575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Human diagnostics on stderr</a:t>
            </a:r>
          </a:p>
        </p:txBody>
      </p:sp>
    </p:spTree>
    <p:extLst>
      <p:ext uri="{BB962C8B-B14F-4D97-AF65-F5344CB8AC3E}">
        <p14:creationId xmlns:p14="http://schemas.microsoft.com/office/powerpoint/2010/main" val="10231365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rminal-concept-title">
            <a:extLst xmlns:a="http://schemas.openxmlformats.org/drawingml/2006/main">
              <a:ext uri="{FF2B5EF4-FFF2-40B4-BE49-F238E27FC236}">
                <a16:creationId xmlns:a16="http://schemas.microsoft.com/office/drawing/2014/main" id="{1FBF4066-C969-460B-A393-F5E5B0B0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40142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Three typed streams protect the process boundary</a:t>
            </a:r>
          </a:p>
        </p:txBody>
      </p:sp>
      <p:sp>
        <p:nvSpPr>
          <p:cNvPr id="2" name="terminal-frame">
            <a:extLst xmlns:a="http://schemas.openxmlformats.org/drawingml/2006/main">
              <a:ext uri="{FF2B5EF4-FFF2-40B4-BE49-F238E27FC236}">
                <a16:creationId xmlns:a16="http://schemas.microsoft.com/office/drawing/2014/main" id="{F20DC865-BF96-4705-A4BF-1E6B7D89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762000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19050">
            <a:solidFill>
              <a:srgbClr val="1F2937"/>
            </a:solidFill>
            <a:prstDash val="solid"/>
          </a:ln>
        </p:spPr>
      </p:sp>
      <p:sp>
        <p:nvSpPr>
          <p:cNvPr id="3" name="title-region">
            <a:extLst xmlns:a="http://schemas.openxmlformats.org/drawingml/2006/main">
              <a:ext uri="{FF2B5EF4-FFF2-40B4-BE49-F238E27FC236}">
                <a16:creationId xmlns:a16="http://schemas.microsoft.com/office/drawing/2014/main" id="{412D7A45-C87E-4364-BFAA-5A283204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7162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4" name="conversation-region">
            <a:extLst xmlns:a="http://schemas.openxmlformats.org/drawingml/2006/main">
              <a:ext uri="{FF2B5EF4-FFF2-40B4-BE49-F238E27FC236}">
                <a16:creationId xmlns:a16="http://schemas.microsoft.com/office/drawing/2014/main" id="{41789A68-D5FB-401A-9C67-7C8C6058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71628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5" name="input-region">
            <a:extLst xmlns:a="http://schemas.openxmlformats.org/drawingml/2006/main">
              <a:ext uri="{FF2B5EF4-FFF2-40B4-BE49-F238E27FC236}">
                <a16:creationId xmlns:a16="http://schemas.microsoft.com/office/drawing/2014/main" id="{C27C06DC-5A5D-459C-9428-4E22DE40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9625"/>
            <a:ext cx="71628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6" name="status-region">
            <a:extLst xmlns:a="http://schemas.openxmlformats.org/drawingml/2006/main">
              <a:ext uri="{FF2B5EF4-FFF2-40B4-BE49-F238E27FC236}">
                <a16:creationId xmlns:a16="http://schemas.microsoft.com/office/drawing/2014/main" id="{A80F3C66-1BEE-465B-B5B2-41171DD2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62575"/>
            <a:ext cx="7162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7" name="title-region-copy">
            <a:extLst xmlns:a="http://schemas.openxmlformats.org/drawingml/2006/main">
              <a:ext uri="{FF2B5EF4-FFF2-40B4-BE49-F238E27FC236}">
                <a16:creationId xmlns:a16="http://schemas.microsoft.com/office/drawing/2014/main" id="{4351ED6A-97A4-4E9A-8612-878D8E27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09750"/>
            <a:ext cx="400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6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INK / NODE PARENT</a:t>
            </a:r>
          </a:p>
        </p:txBody>
      </p:sp>
      <p:sp>
        <p:nvSpPr>
          <p:cNvPr id="8" name="conversation-region-copy">
            <a:extLst xmlns:a="http://schemas.openxmlformats.org/drawingml/2006/main">
              <a:ext uri="{FF2B5EF4-FFF2-40B4-BE49-F238E27FC236}">
                <a16:creationId xmlns:a16="http://schemas.microsoft.com/office/drawing/2014/main" id="{512B3766-F9C4-4C21-97DA-FA64767B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09925"/>
            <a:ext cx="4000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650">
                <a:solidFill>
                  <a:srgbClr val="AAB4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AAB4C4"/>
                </a:solidFill>
                <a:latin typeface="Helvetica Neue"/>
                <a:ea typeface="Helvetica Neue"/>
                <a:cs typeface="Helvetica Neue"/>
              </a:rPr>
              <a:t>Python runtime</a:t>
            </a:r>
          </a:p>
        </p:txBody>
      </p:sp>
      <p:sp>
        <p:nvSpPr>
          <p:cNvPr id="9" name="input-region-copy">
            <a:extLst xmlns:a="http://schemas.openxmlformats.org/drawingml/2006/main">
              <a:ext uri="{FF2B5EF4-FFF2-40B4-BE49-F238E27FC236}">
                <a16:creationId xmlns:a16="http://schemas.microsoft.com/office/drawing/2014/main" id="{02F12506-F6B4-484C-AE7E-A0D61301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62500"/>
            <a:ext cx="6477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>
                <a:solidFill>
                  <a:srgbClr val="8CC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8CC8FF"/>
                </a:solidFill>
                <a:latin typeface="Helvetica Neue"/>
                <a:ea typeface="Helvetica Neue"/>
                <a:cs typeface="Helvetica Neue"/>
              </a:rPr>
              <a:t>workspace: one resolved repository root</a:t>
            </a:r>
          </a:p>
        </p:txBody>
      </p:sp>
      <p:sp>
        <p:nvSpPr>
          <p:cNvPr id="10" name="status-region-copy">
            <a:extLst xmlns:a="http://schemas.openxmlformats.org/drawingml/2006/main">
              <a:ext uri="{FF2B5EF4-FFF2-40B4-BE49-F238E27FC236}">
                <a16:creationId xmlns:a16="http://schemas.microsoft.com/office/drawing/2014/main" id="{25FF3B3A-0FF8-4154-BB79-B1D25D36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29250"/>
            <a:ext cx="647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50">
                <a:solidFill>
                  <a:srgbClr val="AAB4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AAB4C4"/>
                </a:solidFill>
                <a:latin typeface="Helvetica Neue"/>
                <a:ea typeface="Helvetica Neue"/>
                <a:cs typeface="Helvetica Neue"/>
              </a:rPr>
              <a:t>Planned · parsing begins in CAH-004 · cleanup stays here</a:t>
            </a:r>
          </a:p>
        </p:txBody>
      </p:sp>
      <p:sp>
        <p:nvSpPr>
          <p:cNvPr id="11" name="title-region-label">
            <a:extLst xmlns:a="http://schemas.openxmlformats.org/drawingml/2006/main">
              <a:ext uri="{FF2B5EF4-FFF2-40B4-BE49-F238E27FC236}">
                <a16:creationId xmlns:a16="http://schemas.microsoft.com/office/drawing/2014/main" id="{97049241-AE85-48A3-8287-90A1B5F7E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57350"/>
            <a:ext cx="2857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35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STDIN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35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Protocol commands to Python</a:t>
            </a:r>
          </a:p>
        </p:txBody>
      </p:sp>
      <p:sp>
        <p:nvSpPr>
          <p:cNvPr id="12" name="conversation-region-label">
            <a:extLst xmlns:a="http://schemas.openxmlformats.org/drawingml/2006/main">
              <a:ext uri="{FF2B5EF4-FFF2-40B4-BE49-F238E27FC236}">
                <a16:creationId xmlns:a16="http://schemas.microsoft.com/office/drawing/2014/main" id="{086AB573-58D4-4574-8FC2-901DF067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24150"/>
            <a:ext cx="28575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35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STDOUT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35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Protocol events to Ink</a:t>
            </a:r>
          </a:p>
        </p:txBody>
      </p:sp>
      <p:sp>
        <p:nvSpPr>
          <p:cNvPr id="13" name="input-region-label">
            <a:extLst xmlns:a="http://schemas.openxmlformats.org/drawingml/2006/main">
              <a:ext uri="{FF2B5EF4-FFF2-40B4-BE49-F238E27FC236}">
                <a16:creationId xmlns:a16="http://schemas.microsoft.com/office/drawing/2014/main" id="{437A2FE7-1ED1-4F2C-A3A9-AF77B153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95800"/>
            <a:ext cx="2857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35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STDERR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35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Bounded human diagnostics</a:t>
            </a:r>
          </a:p>
        </p:txBody>
      </p:sp>
      <p:sp>
        <p:nvSpPr>
          <p:cNvPr id="14" name="status-region-label">
            <a:extLst xmlns:a="http://schemas.openxmlformats.org/drawingml/2006/main">
              <a:ext uri="{FF2B5EF4-FFF2-40B4-BE49-F238E27FC236}">
                <a16:creationId xmlns:a16="http://schemas.microsoft.com/office/drawing/2014/main" id="{FE6C70CE-6A31-482C-B9E0-E5EFF03C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314950"/>
            <a:ext cx="2857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35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WORKSPACE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35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One canonical root per process</a:t>
            </a:r>
          </a:p>
        </p:txBody>
      </p:sp>
      <p:sp>
        <p:nvSpPr>
          <p:cNvPr id="15" name="concept-disclaimer">
            <a:extLst xmlns:a="http://schemas.openxmlformats.org/drawingml/2006/main">
              <a:ext uri="{FF2B5EF4-FFF2-40B4-BE49-F238E27FC236}">
                <a16:creationId xmlns:a16="http://schemas.microsoft.com/office/drawing/2014/main" id="{8A29F2F5-7AC2-47BD-852E-17C69E339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20015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25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PLANNED · PROCESS BOUNDARY</a:t>
            </a:r>
          </a:p>
        </p:txBody>
      </p:sp>
      <p:sp>
        <p:nvSpPr>
          <p:cNvPr id="16" name="page-4">
            <a:extLst xmlns:a="http://schemas.openxmlformats.org/drawingml/2006/main">
              <a:ext uri="{FF2B5EF4-FFF2-40B4-BE49-F238E27FC236}">
                <a16:creationId xmlns:a16="http://schemas.microsoft.com/office/drawing/2014/main" id="{74C4868C-F975-42C9-8D23-C4D51D90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000000"/>
                </a:solidFill>
              </a:defRPr>
            </a:pPr>
            <a:r>
              <a:rPr sz="975">
                <a:solidFill>
                  <a:srgbClr val="00000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6954527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1CF87148-1527-486C-9EC2-8D5B7750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FB7F2D3F-1C90-4294-8E6D-0D6EE646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One cleanup path owns every transition</a:t>
            </a:r>
          </a:p>
        </p:txBody>
      </p:sp>
      <p:cxnSp>
        <p:nvCxnSpPr>
          <p:cNvPr id="21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D261E679-3BFC-4A4B-9414-6BA2DF62C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AD0358DA-4782-4CCF-A3EE-B88AAD36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B5F95FD1-65B5-41C1-A5FB-A7DCF6E6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C3CB7A3D-8733-4EDE-B0CF-3BC9A334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1 · RESOLVE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380F6083-7CA2-4685-93E6-281893883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2 · SPAWN + OBSERVE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C4EDD0E3-314E-47BA-A568-A7EB7D0D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3 · STOP + REAP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BE81C7D8-795E-44B4-9522-B6E698EE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Start without a shell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Spawn uv with explicit arguments, wire all three streams, and observe every exit.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77A41688-2E3D-4E0B-8F03-0967BDC7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Choose one workspace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Resolve the launch directory or --workspace before creating the child request.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D8CCBC63-881F-47FD-A28D-D4A8AB1F0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Terminate and await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 TUI shutdown, terminate the active child, await completion, and reap once.</a:t>
            </a:r>
          </a:p>
        </p:txBody>
      </p:sp>
    </p:spTree>
    <p:extLst>
      <p:ext uri="{BB962C8B-B14F-4D97-AF65-F5344CB8AC3E}">
        <p14:creationId xmlns:p14="http://schemas.microsoft.com/office/powerpoint/2010/main" val="148748843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DAA94FCB-9648-4F33-B779-33358EEB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5CBB2658-C833-4F10-9DF2-5C1C4F12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Failure tests must prove the whole lifetime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4AEE035E-5601-498D-BF31-D53AE851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F9E87121-9A01-434C-B16E-B7184AF8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Child cannot start or exits unexpectedly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93565AD7-9032-46CB-8982-DCF5D098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28600" indent="-228600" algn="l">
              <a:lnSpc>
                <a:spcPct val="110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Use controlled fake executables</a:t>
            </a:r>
          </a:p>
          <a:p xmlns:a="http://schemas.openxmlformats.org/drawingml/2006/main">
            <a:pPr marL="228600" indent="-228600" algn="l">
              <a:lnSpc>
                <a:spcPct val="110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Show bounded, actionable stderr</a:t>
            </a:r>
          </a:p>
          <a:p xmlns:a="http://schemas.openxmlformats.org/drawingml/2006/main">
            <a:pPr marL="228600" indent="-228600" algn="l">
              <a:lnSpc>
                <a:spcPct val="110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Enter a visible failed state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7AD290D3-BE29-4862-90CC-566F0E89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4C35C566-C3B4-4A9F-8D2D-77173477B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TUI exits but Python remains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671F91B4-7686-4FCA-9892-DF62E8BC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28600" indent="-228600" algn="l">
              <a:lnSpc>
                <a:spcPct val="110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Terminate the active child</a:t>
            </a:r>
          </a:p>
          <a:p xmlns:a="http://schemas.openxmlformats.org/drawingml/2006/main">
            <a:pPr marL="228600" indent="-228600" algn="l">
              <a:lnSpc>
                <a:spcPct val="110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Await and reap exactly once</a:t>
            </a:r>
          </a:p>
          <a:p xmlns:a="http://schemas.openxmlformats.org/drawingml/2006/main">
            <a:pPr marL="228600" indent="-228600" algn="l">
              <a:lnSpc>
                <a:spcPct val="110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Prove cleanup with lifecycle fixtures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E19FBC8A-5BFC-4124-97DA-ED54AADC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One design rule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Never confuse EOF, startup failure, or parent-requested shutdown with successful completion.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Required evidence: normal startup, startup failure, unexpected exit, cleanup, and one real model-free boundary check.</a:t>
            </a:r>
          </a:p>
        </p:txBody>
      </p:sp>
    </p:spTree>
    <p:extLst>
      <p:ext uri="{BB962C8B-B14F-4D97-AF65-F5344CB8AC3E}">
        <p14:creationId xmlns:p14="http://schemas.microsoft.com/office/powerpoint/2010/main" val="124556601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-1">
            <a:extLst xmlns:a="http://schemas.openxmlformats.org/drawingml/2006/main">
              <a:ext uri="{FF2B5EF4-FFF2-40B4-BE49-F238E27FC236}">
                <a16:creationId xmlns:a16="http://schemas.microsoft.com/office/drawing/2014/main" id="{70E532F5-16B2-49DC-8D87-447C71DC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supervised child is
a clean boundary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4DF4F746-F02C-4331-A434-9B8B2BEE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800"/>
              </a:spcBef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Pass one workspace</a:t>
            </a:r>
          </a:p>
          <a:p xmlns:a="http://schemas.openxmlformats.org/drawingml/2006/main">
            <a:pPr algn="l">
              <a:lnSpc>
                <a:spcPct val="105000"/>
              </a:lnSpc>
              <a:spcBef>
                <a:spcPts val="800"/>
              </a:spcBef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Keep streams typed</a:t>
            </a:r>
          </a:p>
          <a:p xmlns:a="http://schemas.openxmlformats.org/drawingml/2006/main">
            <a:pPr algn="l">
              <a:lnSpc>
                <a:spcPct val="105000"/>
              </a:lnSpc>
              <a:spcBef>
                <a:spcPts val="800"/>
              </a:spcBef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Reap every exit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4DB0E299-1643-42A4-9DE7-FC673F2DF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1000"/>
              </a:spcBef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PLANNED</a:t>
            </a:r>
          </a:p>
        </p:txBody>
      </p:sp>
    </p:spTree>
    <p:extLst>
      <p:ext uri="{BB962C8B-B14F-4D97-AF65-F5344CB8AC3E}">
        <p14:creationId xmlns:p14="http://schemas.microsoft.com/office/powerpoint/2010/main" val="3850142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2026-07-15T19:48:11.4790000Z</dcterms:created>
  <dcterms:modified xsi:type="dcterms:W3CDTF">2026-07-15T19:48:11.4790000Z</dcterms:modified>
</coreProperties>
</file>