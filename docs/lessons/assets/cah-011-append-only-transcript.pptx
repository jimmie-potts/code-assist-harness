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83007b17494d97" /><Relationship Type="http://schemas.openxmlformats.org/officeDocument/2006/relationships/extended-properties" Target="/docProps/app.xml" Id="R078def957e194475" /><Relationship Type="http://schemas.openxmlformats.org/officeDocument/2006/relationships/officeDocument" Target="/ppt/presentation.xml" Id="Rc7ff00ba3fdc4c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e1c334ff984706"/>
  </p:sldMasterIdLst>
  <p:notesMasterIdLst>
    <p:notesMasterId xmlns:r="http://schemas.openxmlformats.org/officeDocument/2006/relationships" r:id="R3b50872584634bb0"/>
  </p:notesMasterIdLst>
  <p:sldIdLst>
    <p:sldId xmlns:r="http://schemas.openxmlformats.org/officeDocument/2006/relationships" id="256" r:id="R2072a5e13f2f413a"/>
    <p:sldId xmlns:r="http://schemas.openxmlformats.org/officeDocument/2006/relationships" id="257" r:id="R91d25af68894430b"/>
    <p:sldId xmlns:r="http://schemas.openxmlformats.org/officeDocument/2006/relationships" id="258" r:id="Radfa8a4ede35407f"/>
    <p:sldId xmlns:r="http://schemas.openxmlformats.org/officeDocument/2006/relationships" id="259" r:id="R69b217258b274474"/>
    <p:sldId xmlns:r="http://schemas.openxmlformats.org/officeDocument/2006/relationships" id="260" r:id="Rf6ec71fcf3564280"/>
    <p:sldId xmlns:r="http://schemas.openxmlformats.org/officeDocument/2006/relationships" id="261" r:id="R5641bb94bbe740c1"/>
    <p:sldId xmlns:r="http://schemas.openxmlformats.org/officeDocument/2006/relationships" id="262" r:id="Rd5425beeab8145f7"/>
    <p:sldId xmlns:r="http://schemas.openxmlformats.org/officeDocument/2006/relationships" id="263" r:id="R8c58d717a05c48ab"/>
    <p:sldId xmlns:r="http://schemas.openxmlformats.org/officeDocument/2006/relationships" id="264" r:id="Rc30ce71350a84829"/>
    <p:sldId xmlns:r="http://schemas.openxmlformats.org/officeDocument/2006/relationships" id="265" r:id="Rdc18d29a659f4e5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f8eb87202c4c2c" /><Relationship Type="http://schemas.openxmlformats.org/officeDocument/2006/relationships/slideMaster" Target="/ppt/slideMasters/slideMaster1.xml" Id="R79e1c334ff984706" /><Relationship Type="http://schemas.openxmlformats.org/officeDocument/2006/relationships/notesMaster" Target="/ppt/notesMasters/notesMaster1.xml" Id="R3b50872584634bb0" /><Relationship Type="http://schemas.openxmlformats.org/officeDocument/2006/relationships/presProps" Target="/ppt/presProps.xml" Id="R2fa6444576d44fbe" /><Relationship Type="http://schemas.openxmlformats.org/officeDocument/2006/relationships/tableStyles" Target="/ppt/tableStyles.xml" Id="R9cb82744c2e04651" /><Relationship Type="http://schemas.openxmlformats.org/officeDocument/2006/relationships/slide" Target="/ppt/slides/slide1.xml" Id="R2072a5e13f2f413a" /><Relationship Type="http://schemas.openxmlformats.org/officeDocument/2006/relationships/slide" Target="/ppt/slides/slide2.xml" Id="R91d25af68894430b" /><Relationship Type="http://schemas.openxmlformats.org/officeDocument/2006/relationships/slide" Target="/ppt/slides/slide3.xml" Id="Radfa8a4ede35407f" /><Relationship Type="http://schemas.openxmlformats.org/officeDocument/2006/relationships/slide" Target="/ppt/slides/slide4.xml" Id="R69b217258b274474" /><Relationship Type="http://schemas.openxmlformats.org/officeDocument/2006/relationships/slide" Target="/ppt/slides/slide5.xml" Id="Rf6ec71fcf3564280" /><Relationship Type="http://schemas.openxmlformats.org/officeDocument/2006/relationships/slide" Target="/ppt/slides/slide6.xml" Id="R5641bb94bbe740c1" /><Relationship Type="http://schemas.openxmlformats.org/officeDocument/2006/relationships/slide" Target="/ppt/slides/slide7.xml" Id="Rd5425beeab8145f7" /><Relationship Type="http://schemas.openxmlformats.org/officeDocument/2006/relationships/slide" Target="/ppt/slides/slide8.xml" Id="R8c58d717a05c48ab" /><Relationship Type="http://schemas.openxmlformats.org/officeDocument/2006/relationships/slide" Target="/ppt/slides/slide9.xml" Id="Rc30ce71350a84829" /><Relationship Type="http://schemas.openxmlformats.org/officeDocument/2006/relationships/slide" Target="/ppt/slides/slide10.xml" Id="Rdc18d29a659f4e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607c92cf314c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dce44ecb9642ef" /><Relationship Type="http://schemas.openxmlformats.org/officeDocument/2006/relationships/notesMaster" Target="/ppt/notesMasters/notesMaster1.xml" Id="Racc9d1f510394f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38740225b14e4f" /><Relationship Type="http://schemas.openxmlformats.org/officeDocument/2006/relationships/notesMaster" Target="/ppt/notesMasters/notesMaster1.xml" Id="R2e4f5e0e651e48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75be0a5c8345f1" /><Relationship Type="http://schemas.openxmlformats.org/officeDocument/2006/relationships/notesMaster" Target="/ppt/notesMasters/notesMaster1.xml" Id="R30c9a691204c45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a4fbc9fcc540c1" /><Relationship Type="http://schemas.openxmlformats.org/officeDocument/2006/relationships/notesMaster" Target="/ppt/notesMasters/notesMaster1.xml" Id="R2a8f9957b55749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68cad1f8774e58" /><Relationship Type="http://schemas.openxmlformats.org/officeDocument/2006/relationships/notesMaster" Target="/ppt/notesMasters/notesMaster1.xml" Id="R77c4e76ef63942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a708ea0c2543c1" /><Relationship Type="http://schemas.openxmlformats.org/officeDocument/2006/relationships/notesMaster" Target="/ppt/notesMasters/notesMaster1.xml" Id="Rea7346401d0249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8e108afa914084" /><Relationship Type="http://schemas.openxmlformats.org/officeDocument/2006/relationships/notesMaster" Target="/ppt/notesMasters/notesMaster1.xml" Id="Rf9e34da37aeb4a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08983605724175" /><Relationship Type="http://schemas.openxmlformats.org/officeDocument/2006/relationships/notesMaster" Target="/ppt/notesMasters/notesMaster1.xml" Id="R73f1b25926734d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02fbea7c04459d" /><Relationship Type="http://schemas.openxmlformats.org/officeDocument/2006/relationships/notesMaster" Target="/ppt/notesMasters/notesMaster1.xml" Id="R8fcd3c9dc70547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39b4c88bce4be0" /><Relationship Type="http://schemas.openxmlformats.org/officeDocument/2006/relationships/notesMaster" Target="/ppt/notesMasters/notesMaster1.xml" Id="R7cbb11d72e9543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912c680204e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3eef648a59423e" /><Relationship Type="http://schemas.openxmlformats.org/officeDocument/2006/relationships/slideLayout" Target="/ppt/slideLayouts/slideLayout1.xml" Id="R104bf8ba2afc4a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4bf8ba2afc4a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d68b9565042bf" /><Relationship Type="http://schemas.openxmlformats.org/officeDocument/2006/relationships/image" Target="/ppt/media/image.png" Id="R8beecac6b2014e38" /><Relationship Type="http://schemas.openxmlformats.org/officeDocument/2006/relationships/notesSlide" Target="/ppt/notesSlides/notesSlide1.xml" Id="Ra3248a925c0442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5e5ef50554f28" /><Relationship Type="http://schemas.openxmlformats.org/officeDocument/2006/relationships/notesSlide" Target="/ppt/notesSlides/notesSlide2.xml" Id="Rc1d81fd1e3ec4e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bf396fb5f4266" /><Relationship Type="http://schemas.openxmlformats.org/officeDocument/2006/relationships/notesSlide" Target="/ppt/notesSlides/notesSlide3.xml" Id="R32039592d6ff48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716dad7d34b07" /><Relationship Type="http://schemas.openxmlformats.org/officeDocument/2006/relationships/notesSlide" Target="/ppt/notesSlides/notesSlide4.xml" Id="Radf84fd3905048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c03b5be644c89" /><Relationship Type="http://schemas.openxmlformats.org/officeDocument/2006/relationships/notesSlide" Target="/ppt/notesSlides/notesSlide5.xml" Id="Rcdb10cce178143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cbf7387974117" /><Relationship Type="http://schemas.openxmlformats.org/officeDocument/2006/relationships/notesSlide" Target="/ppt/notesSlides/notesSlide6.xml" Id="R9ba7d15d2ed543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48f716b8244c4" /><Relationship Type="http://schemas.openxmlformats.org/officeDocument/2006/relationships/notesSlide" Target="/ppt/notesSlides/notesSlide7.xml" Id="R2de06940a7274a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d4cafe35e4ee8" /><Relationship Type="http://schemas.openxmlformats.org/officeDocument/2006/relationships/notesSlide" Target="/ppt/notesSlides/notesSlide8.xml" Id="Recc5cbd119174c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c3242f86e4e01" /><Relationship Type="http://schemas.openxmlformats.org/officeDocument/2006/relationships/notesSlide" Target="/ppt/notesSlides/notesSlide9.xml" Id="R7cf1626d5c684f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e098e37514f3a" /><Relationship Type="http://schemas.openxmlformats.org/officeDocument/2006/relationships/notesSlide" Target="/ppt/notesSlides/notesSlide10.xml" Id="R78d7fe0740474b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ecac6b2014e3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72575-2175-4E96-B7A4-93029A1F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D0F2"/>
                </a:solidFill>
              </a:defRPr>
            </a:pPr>
            <a:r>
              <a:rPr sz="1200" b="1">
                <a:solidFill>
                  <a:srgbClr val="25D0F2"/>
                </a:solidFill>
              </a:rPr>
              <a:t>CAH-011 • VISUAL LESSON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CA6CD-7435-48BE-9BC4-A72F44B8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4953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BFF"/>
                </a:solidFill>
              </a:defRPr>
            </a:pPr>
            <a:r>
              <a:rPr sz="4350" b="1">
                <a:solidFill>
                  <a:srgbClr val="F7FBFF"/>
                </a:solidFill>
              </a:rPr>
              <a:t>Keep the evidence.</a:t>
            </a:r>
          </a:p>
          <a:p xmlns:a="http://schemas.openxmlformats.org/drawingml/2006/main">
            <a:pPr algn="l">
              <a:defRPr sz="4350" b="1">
                <a:solidFill>
                  <a:srgbClr val="F7FBFF"/>
                </a:solidFill>
              </a:defRPr>
            </a:pPr>
            <a:r>
              <a:rPr sz="4350" b="1">
                <a:solidFill>
                  <a:srgbClr val="F7FBFF"/>
                </a:solidFill>
              </a:rPr>
              <a:t>Lose the secrets.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5F1C6-31D0-4091-B7CA-176D0B11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333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E8F4"/>
                </a:solidFill>
              </a:defRPr>
            </a:pPr>
            <a:r>
              <a:rPr sz="1800" b="0">
                <a:solidFill>
                  <a:srgbClr val="D7E8F4"/>
                </a:solidFill>
              </a:rPr>
              <a:t>A privacy-first flight recorder for trusted session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6D447-A78F-413D-8C7E-7A4067FE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143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C1305-CAA4-4DB4-B90B-4B55CD9E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1F"/>
                </a:solidFill>
              </a:defRPr>
            </a:pPr>
            <a:r>
              <a:rPr sz="1050" b="1">
                <a:solidFill>
                  <a:srgbClr val="07121F"/>
                </a:solidFill>
              </a:rPr>
              <a:t>APPEND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5C4E8-5A50-42FE-B341-822D213E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29150"/>
            <a:ext cx="1219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DFC96-4454-428D-9F14-387877B5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9582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1F"/>
                </a:solidFill>
              </a:defRPr>
            </a:pPr>
            <a:r>
              <a:rPr sz="1050" b="1">
                <a:solidFill>
                  <a:srgbClr val="07121F"/>
                </a:solidFill>
              </a:rPr>
              <a:t>REDACT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3052B-DCF4-4E65-A6A5-8C4327D8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29150"/>
            <a:ext cx="1219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E5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7905A-A2F9-41A9-B8FE-B42A97F6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9582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1F"/>
                </a:solidFill>
              </a:defRPr>
            </a:pPr>
            <a:r>
              <a:rPr sz="1050" b="1">
                <a:solidFill>
                  <a:srgbClr val="07121F"/>
                </a:solidFill>
              </a:rPr>
              <a:t>REPLAY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6D443-5170-41A8-A411-4D2CC2D2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CFF"/>
                </a:solidFill>
              </a:defRPr>
            </a:pPr>
            <a:r>
              <a:rPr sz="1350" b="1">
                <a:solidFill>
                  <a:srgbClr val="89ECFF"/>
                </a:solidFill>
              </a:rPr>
              <a:t>A flight recorder, not a time machine.</a:t>
            </a:r>
          </a:p>
        </p:txBody>
      </p:sp>
    </p:spTree>
    <p:extLst>
      <p:ext uri="{BB962C8B-B14F-4D97-AF65-F5344CB8AC3E}">
        <p14:creationId xmlns:p14="http://schemas.microsoft.com/office/powerpoint/2010/main" val="942735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F54B13-2E34-47AE-BDF7-5CC48ADA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0F2"/>
                </a:solidFill>
              </a:defRPr>
            </a:pPr>
            <a:r>
              <a:rPr sz="1125" b="1">
                <a:solidFill>
                  <a:srgbClr val="25D0F2"/>
                </a:solidFill>
              </a:rPr>
              <a:t>01 • THE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637CB-98DE-4A69-B972-C5C89FE4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BFF"/>
                </a:solidFill>
              </a:defRPr>
            </a:pPr>
            <a:r>
              <a:rPr sz="2925" b="1">
                <a:solidFill>
                  <a:srgbClr val="F7FBFF"/>
                </a:solidFill>
              </a:rPr>
              <a:t>State disappears. The tape survives.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05995-5673-4D21-B88D-0F877B15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8F4"/>
                </a:solidFill>
              </a:defRPr>
            </a:pPr>
            <a:r>
              <a:rPr sz="1425" b="0">
                <a:solidFill>
                  <a:srgbClr val="D7E8F4"/>
                </a:solidFill>
              </a:rPr>
              <a:t>A useful record preserves accepted facts without pretending it can restore removed content.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88DD9-60AC-49BC-AECB-6F2ED0D2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44665-691E-4F2E-B900-B71F1ECA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8FA9BC"/>
                </a:solidFill>
              </a:defRPr>
            </a:pPr>
            <a:r>
              <a:rPr sz="3900" b="1">
                <a:solidFill>
                  <a:srgbClr val="8FA9BC"/>
                </a:solidFill>
              </a:rPr>
              <a:t>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512A6-6257-44D0-9127-F87B17A8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FA9BC"/>
                </a:solidFill>
              </a:defRPr>
            </a:pPr>
            <a:r>
              <a:rPr sz="1500" b="0">
                <a:solidFill>
                  <a:srgbClr val="8FA9BC"/>
                </a:solidFill>
              </a:rPr>
              <a:t>task → delta → delta → 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25FC2-05E5-4595-8FB0-221B157D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21907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89F7A-6292-4C20-9B22-9688D534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5F"/>
                </a:solidFill>
              </a:defRPr>
            </a:pPr>
            <a:r>
              <a:rPr sz="1350" b="1">
                <a:solidFill>
                  <a:srgbClr val="FF6B5F"/>
                </a:solidFill>
              </a:rPr>
              <a:t>process exits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86087-6144-40CA-9741-C7A577F5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1470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5D0F2"/>
                </a:solidFill>
              </a:defRPr>
            </a:pPr>
            <a:r>
              <a:rPr sz="4050" b="1">
                <a:solidFill>
                  <a:srgbClr val="25D0F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D93A1-800B-46C1-A7DC-D7BFD7EC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24100"/>
            <a:ext cx="5429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213B"/>
          </a:solidFill>
          <a:ln xmlns:a="http://schemas.openxmlformats.org/drawingml/2006/main" w="9525">
            <a:solidFill>
              <a:srgbClr val="25D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15338-E362-4793-BC89-7927B4D5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479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BFF"/>
                </a:solidFill>
              </a:defRPr>
            </a:pPr>
            <a:r>
              <a:rPr sz="2100" b="1">
                <a:solidFill>
                  <a:srgbClr val="F7FBFF"/>
                </a:solidFill>
              </a:rPr>
              <a:t>JSONL flight recorder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3770D-4621-4E44-B096-809FEA2C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95650"/>
            <a:ext cx="4191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9ECFF"/>
                </a:solidFill>
              </a:defRPr>
            </a:pPr>
            <a:r>
              <a:rPr sz="1575" b="0">
                <a:solidFill>
                  <a:srgbClr val="89ECFF"/>
                </a:solidFill>
              </a:rPr>
              <a:t>01  task.submitted</a:t>
            </a:r>
          </a:p>
          <a:p xmlns:a="http://schemas.openxmlformats.org/drawingml/2006/main">
            <a:pPr algn="l">
              <a:defRPr sz="1575" b="0">
                <a:solidFill>
                  <a:srgbClr val="89ECFF"/>
                </a:solidFill>
              </a:defRPr>
            </a:pPr>
            <a:r>
              <a:rPr sz="1575" b="0">
                <a:solidFill>
                  <a:srgbClr val="89ECFF"/>
                </a:solidFill>
              </a:rPr>
              <a:t>02  session.started</a:t>
            </a:r>
          </a:p>
          <a:p xmlns:a="http://schemas.openxmlformats.org/drawingml/2006/main">
            <a:pPr algn="l">
              <a:defRPr sz="1575" b="0">
                <a:solidFill>
                  <a:srgbClr val="89ECFF"/>
                </a:solidFill>
              </a:defRPr>
            </a:pPr>
            <a:r>
              <a:rPr sz="1575" b="0">
                <a:solidFill>
                  <a:srgbClr val="89ECFF"/>
                </a:solidFill>
              </a:rPr>
              <a:t>03  assistant.delta</a:t>
            </a:r>
          </a:p>
          <a:p xmlns:a="http://schemas.openxmlformats.org/drawingml/2006/main">
            <a:pPr algn="l">
              <a:defRPr sz="1575" b="0">
                <a:solidFill>
                  <a:srgbClr val="89ECFF"/>
                </a:solidFill>
              </a:defRPr>
            </a:pPr>
            <a:r>
              <a:rPr sz="1575" b="0">
                <a:solidFill>
                  <a:srgbClr val="89ECFF"/>
                </a:solidFill>
              </a:rPr>
              <a:t>04  assistant.delta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DDCC8-D991-4D4C-8497-96A3B7A0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958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24A"/>
                </a:solidFill>
              </a:defRPr>
            </a:pPr>
            <a:r>
              <a:rPr sz="1275" b="1">
                <a:solidFill>
                  <a:srgbClr val="FFB24A"/>
                </a:solidFill>
              </a:rPr>
              <a:t>Incomplete is honest: complete = false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62324-5F01-4860-BB6C-5503D983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A9BC"/>
                </a:solidFill>
              </a:defRPr>
            </a:pPr>
            <a:r>
              <a:rPr sz="825" b="1">
                <a:solidFill>
                  <a:srgbClr val="8FA9BC"/>
                </a:solidFill>
              </a:rPr>
              <a:t>CAH-011 • APPEND-ONLY TRANSCRIPT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26108-9761-4D3F-9BB7-5246E1C4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D0F2"/>
                </a:solidFill>
              </a:defRPr>
            </a:pPr>
            <a:r>
              <a:rPr sz="975" b="1">
                <a:solidFill>
                  <a:srgbClr val="25D0F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383596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692D59-16B7-4714-9419-DC058400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0F2"/>
                </a:solidFill>
              </a:defRPr>
            </a:pPr>
            <a:r>
              <a:rPr sz="1125" b="1">
                <a:solidFill>
                  <a:srgbClr val="25D0F2"/>
                </a:solidFill>
              </a:rPr>
              <a:t>02 •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08F2C-D99B-45BA-AEBE-D1D6481A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BFF"/>
                </a:solidFill>
              </a:defRPr>
            </a:pPr>
            <a:r>
              <a:rPr sz="2925" b="1">
                <a:solidFill>
                  <a:srgbClr val="F7FBFF"/>
                </a:solidFill>
              </a:rPr>
              <a:t>The reducer stays in the pilot seat.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71111-36B2-47D4-AE24-6A1018CB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8F4"/>
                </a:solidFill>
              </a:defRPr>
            </a:pPr>
            <a:r>
              <a:rPr sz="1425" b="0">
                <a:solidFill>
                  <a:srgbClr val="D7E8F4"/>
                </a:solidFill>
              </a:rPr>
              <a:t>Persistence observes only after a trusted update is accepted; it never decides the lifecycle.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F0D09-5038-4752-8F67-39F2FF18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42792-3FFE-477D-B9AD-7A02B5BB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7E8F4"/>
                </a:solidFill>
              </a:defRPr>
            </a:pPr>
            <a:r>
              <a:rPr sz="1500" b="1">
                <a:solidFill>
                  <a:srgbClr val="D7E8F4"/>
                </a:solidFill>
              </a:rPr>
              <a:t>trusted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0F428-0573-47A9-9622-7F4EC3F3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8194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25D0F2"/>
                </a:solidFill>
              </a:defRPr>
            </a:pPr>
            <a:r>
              <a:rPr sz="3000" b="0">
                <a:solidFill>
                  <a:srgbClr val="25D0F2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603EC-20C6-4FDB-8B41-BBB0689C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28875"/>
            <a:ext cx="2857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5D0F2"/>
          </a:solidFill>
          <a:ln xmlns:a="http://schemas.openxmlformats.org/drawingml/2006/main" w="9525">
            <a:solidFill>
              <a:srgbClr val="25D0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CAF22-924C-4C00-B166-A95673CB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336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7121F"/>
                </a:solidFill>
              </a:defRPr>
            </a:pPr>
            <a:r>
              <a:rPr sz="2325" b="1">
                <a:solidFill>
                  <a:srgbClr val="07121F"/>
                </a:solidFill>
              </a:rPr>
              <a:t>REDUCER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D4D27-FB00-4C0F-8935-84C0957C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670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7121F"/>
                </a:solidFill>
              </a:defRPr>
            </a:pPr>
            <a:r>
              <a:rPr sz="1350" b="0">
                <a:solidFill>
                  <a:srgbClr val="07121F"/>
                </a:solidFill>
              </a:rPr>
              <a:t>accepts or rejects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997FB-1063-4940-81F0-ED84E810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194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25D0F2"/>
                </a:solidFill>
              </a:defRPr>
            </a:pPr>
            <a:r>
              <a:rPr sz="3000" b="0">
                <a:solidFill>
                  <a:srgbClr val="25D0F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3B010-704F-4D43-99B8-C4475B16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428875"/>
            <a:ext cx="31432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13B"/>
          </a:solidFill>
          <a:ln xmlns:a="http://schemas.openxmlformats.org/drawingml/2006/main" w="9525">
            <a:solidFill>
              <a:srgbClr val="65E5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E09B1-5DA2-4093-A2D2-2F9826E5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33675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5E59A"/>
                </a:solidFill>
              </a:defRPr>
            </a:pPr>
            <a:r>
              <a:rPr sz="2175" b="1">
                <a:solidFill>
                  <a:srgbClr val="65E59A"/>
                </a:solidFill>
              </a:rPr>
              <a:t>TRANSCRIPT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60292-665E-4AEA-82EA-454B68FA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6707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E8F4"/>
                </a:solidFill>
              </a:defRPr>
            </a:pPr>
            <a:r>
              <a:rPr sz="1350" b="0">
                <a:solidFill>
                  <a:srgbClr val="D7E8F4"/>
                </a:solidFill>
              </a:rPr>
              <a:t>safe projection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F70E7-C5BF-49E0-AE74-8778362E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14850"/>
            <a:ext cx="6896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4101F"/>
          </a:solidFill>
          <a:ln xmlns:a="http://schemas.openxmlformats.org/drawingml/2006/main" w="9525">
            <a:solidFill>
              <a:srgbClr val="12335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3A69C-8384-47B0-9D6E-B7AAF874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14850"/>
            <a:ext cx="68961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E5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6B3D5-2A8E-48E8-97B4-8BEFCBE2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643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8F4"/>
                </a:solidFill>
              </a:defRPr>
            </a:pPr>
            <a:r>
              <a:rPr sz="1200" b="0">
                <a:solidFill>
                  <a:srgbClr val="D7E8F4"/>
                </a:solidFill>
              </a:rPr>
              <a:t>self._lifecycle_state = reduction.state</a:t>
            </a:r>
          </a:p>
          <a:p xmlns:a="http://schemas.openxmlformats.org/drawingml/2006/main">
            <a:pPr algn="l">
              <a:defRPr sz="1200" b="0">
                <a:solidFill>
                  <a:srgbClr val="D7E8F4"/>
                </a:solidFill>
              </a:defRPr>
            </a:pPr>
            <a:r>
              <a:rPr sz="1200" b="0">
                <a:solidFill>
                  <a:srgbClr val="D7E8F4"/>
                </a:solidFill>
              </a:rPr>
              <a:t>await self._notify_lifecycle(update)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C88D3-7083-48DB-87C2-58AC9A02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74357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CFF"/>
                </a:solidFill>
              </a:defRPr>
            </a:pPr>
            <a:r>
              <a:rPr sz="1350" b="1">
                <a:solidFill>
                  <a:srgbClr val="89ECFF"/>
                </a:solidFill>
              </a:rPr>
              <a:t>Observer after acceptance = invalid wire input never becomes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3D041-DF33-4E38-BAF6-545BBEAD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A9BC"/>
                </a:solidFill>
              </a:defRPr>
            </a:pPr>
            <a:r>
              <a:rPr sz="825" b="1">
                <a:solidFill>
                  <a:srgbClr val="8FA9BC"/>
                </a:solidFill>
              </a:rPr>
              <a:t>CAH-011 • APPEND-ONLY TRANSCRIPT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7CC83-818B-4A3F-B055-5E2956CC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D0F2"/>
                </a:solidFill>
              </a:defRPr>
            </a:pPr>
            <a:r>
              <a:rPr sz="975" b="1">
                <a:solidFill>
                  <a:srgbClr val="25D0F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368595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5C4FCC-EBA0-47C8-A448-CD5BD364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0F2"/>
                </a:solidFill>
              </a:defRPr>
            </a:pPr>
            <a:r>
              <a:rPr sz="1125" b="1">
                <a:solidFill>
                  <a:srgbClr val="25D0F2"/>
                </a:solidFill>
              </a:rPr>
              <a:t>03 • 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9CA33-1BD9-4F75-AB71-75E35F3F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BFF"/>
                </a:solidFill>
              </a:defRPr>
            </a:pPr>
            <a:r>
              <a:rPr sz="2925" b="1">
                <a:solidFill>
                  <a:srgbClr val="F7FBFF"/>
                </a:solidFill>
              </a:rPr>
              <a:t>Two clocks make the story honest.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2A241-1197-417D-AB82-48932845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8F4"/>
                </a:solidFill>
              </a:defRPr>
            </a:pPr>
            <a:r>
              <a:rPr sz="1425" b="0">
                <a:solidFill>
                  <a:srgbClr val="D7E8F4"/>
                </a:solidFill>
              </a:rPr>
              <a:t>Record order spans every trusted input. Event sequence remains the protocol’s session clock.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25E78-EA20-41B4-8E2E-559B15D4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832AD-0DAE-4C03-93DB-E9D97493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D0F2"/>
                </a:solidFill>
              </a:defRPr>
            </a:pPr>
            <a:r>
              <a:rPr sz="1350" b="1">
                <a:solidFill>
                  <a:srgbClr val="25D0F2"/>
                </a:solidFill>
              </a:rPr>
              <a:t>physical tape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E7E78-758D-420F-9FE9-D624F3E2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0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121F"/>
                </a:solidFill>
              </a:defRPr>
            </a:pPr>
            <a:r>
              <a:rPr sz="2400" b="1">
                <a:solidFill>
                  <a:srgbClr val="07121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6C505-C71F-4B9A-BDF9-C109779C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146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</a:defRPr>
            </a:pPr>
            <a:r>
              <a:rPr sz="1650" b="1">
                <a:solidFill>
                  <a:srgbClr val="F7FBFF"/>
                </a:solidFill>
              </a:rPr>
              <a:t>task.submitted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02DDF-5A77-49F2-B7DE-3B6808F9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E59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121F"/>
                </a:solidFill>
              </a:defRPr>
            </a:pPr>
            <a:r>
              <a:rPr sz="2400" b="1">
                <a:solidFill>
                  <a:srgbClr val="07121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A50AD-1B11-4F0F-A15E-CB411B85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100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</a:defRPr>
            </a:pPr>
            <a:r>
              <a:rPr sz="1650" b="1">
                <a:solidFill>
                  <a:srgbClr val="F7FBFF"/>
                </a:solidFill>
              </a:rPr>
              <a:t>session.started  • sequence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0C79C-CF15-4653-9D18-F1B7AB9D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E59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121F"/>
                </a:solidFill>
              </a:defRPr>
            </a:pPr>
            <a:r>
              <a:rPr sz="2400" b="1">
                <a:solidFill>
                  <a:srgbClr val="07121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A6104-DF7A-4227-96B7-57CAA23E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0537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</a:defRPr>
            </a:pPr>
            <a:r>
              <a:rPr sz="1650" b="1">
                <a:solidFill>
                  <a:srgbClr val="F7FBFF"/>
                </a:solidFill>
              </a:rPr>
              <a:t>assistant.delta  • sequence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8FDC8-3A95-4DEF-93A3-AD9D95B3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476250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04101F"/>
          </a:solidFill>
          <a:ln xmlns:a="http://schemas.openxmlformats.org/drawingml/2006/main" w="9525">
            <a:solidFill>
              <a:srgbClr val="12335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87438-426A-4652-AA36-4372A581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4762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07E36-0445-4F20-856D-0EF51433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33650"/>
            <a:ext cx="43053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8F4"/>
                </a:solidFill>
              </a:defRPr>
            </a:pPr>
            <a:r>
              <a:rPr sz="1200" b="0">
                <a:solidFill>
                  <a:srgbClr val="D7E8F4"/>
                </a:solidFill>
              </a:rPr>
              <a:t>{</a:t>
            </a:r>
          </a:p>
          <a:p xmlns:a="http://schemas.openxmlformats.org/drawingml/2006/main">
            <a:pPr algn="l">
              <a:defRPr sz="1200" b="0">
                <a:solidFill>
                  <a:srgbClr val="D7E8F4"/>
                </a:solidFill>
              </a:defRPr>
            </a:pPr>
            <a:r>
              <a:rPr sz="1200" b="0">
                <a:solidFill>
                  <a:srgbClr val="D7E8F4"/>
                </a:solidFill>
              </a:rPr>
              <a:t>  "record_order": 3,</a:t>
            </a:r>
          </a:p>
          <a:p xmlns:a="http://schemas.openxmlformats.org/drawingml/2006/main">
            <a:pPr algn="l">
              <a:defRPr sz="1200" b="0">
                <a:solidFill>
                  <a:srgbClr val="D7E8F4"/>
                </a:solidFill>
              </a:defRPr>
            </a:pPr>
            <a:r>
              <a:rPr sz="1200" b="0">
                <a:solidFill>
                  <a:srgbClr val="D7E8F4"/>
                </a:solidFill>
              </a:rPr>
              <a:t>  "kind": "session_event",</a:t>
            </a:r>
          </a:p>
          <a:p xmlns:a="http://schemas.openxmlformats.org/drawingml/2006/main">
            <a:pPr algn="l">
              <a:defRPr sz="1200" b="0">
                <a:solidFill>
                  <a:srgbClr val="D7E8F4"/>
                </a:solidFill>
              </a:defRPr>
            </a:pPr>
            <a:r>
              <a:rPr sz="1200" b="0">
                <a:solidFill>
                  <a:srgbClr val="D7E8F4"/>
                </a:solidFill>
              </a:rPr>
              <a:t>  "workspace_id": "ws1_…",</a:t>
            </a:r>
          </a:p>
          <a:p xmlns:a="http://schemas.openxmlformats.org/drawingml/2006/main">
            <a:pPr algn="l">
              <a:defRPr sz="1200" b="0">
                <a:solidFill>
                  <a:srgbClr val="D7E8F4"/>
                </a:solidFill>
              </a:defRPr>
            </a:pPr>
            <a:r>
              <a:rPr sz="1200" b="0">
                <a:solidFill>
                  <a:srgbClr val="D7E8F4"/>
                </a:solidFill>
              </a:rPr>
              <a:t>  "session_id": "ses_mock_1",</a:t>
            </a:r>
          </a:p>
          <a:p xmlns:a="http://schemas.openxmlformats.org/drawingml/2006/main">
            <a:pPr algn="l">
              <a:defRPr sz="1200" b="0">
                <a:solidFill>
                  <a:srgbClr val="D7E8F4"/>
                </a:solidFill>
              </a:defRPr>
            </a:pPr>
            <a:r>
              <a:rPr sz="1200" b="0">
                <a:solidFill>
                  <a:srgbClr val="D7E8F4"/>
                </a:solidFill>
              </a:rPr>
              <a:t>  "input": {</a:t>
            </a:r>
          </a:p>
          <a:p xmlns:a="http://schemas.openxmlformats.org/drawingml/2006/main">
            <a:pPr algn="l">
              <a:defRPr sz="1200" b="0">
                <a:solidFill>
                  <a:srgbClr val="D7E8F4"/>
                </a:solidFill>
              </a:defRPr>
            </a:pPr>
            <a:r>
              <a:rPr sz="1200" b="0">
                <a:solidFill>
                  <a:srgbClr val="D7E8F4"/>
                </a:solidFill>
              </a:rPr>
              <a:t>    "type": "assistant.delta",</a:t>
            </a:r>
          </a:p>
          <a:p xmlns:a="http://schemas.openxmlformats.org/drawingml/2006/main">
            <a:pPr algn="l">
              <a:defRPr sz="1200" b="0">
                <a:solidFill>
                  <a:srgbClr val="D7E8F4"/>
                </a:solidFill>
              </a:defRPr>
            </a:pPr>
            <a:r>
              <a:rPr sz="1200" b="0">
                <a:solidFill>
                  <a:srgbClr val="D7E8F4"/>
                </a:solidFill>
              </a:rPr>
              <a:t>    "sequence": 2</a:t>
            </a:r>
          </a:p>
          <a:p xmlns:a="http://schemas.openxmlformats.org/drawingml/2006/main">
            <a:pPr algn="l">
              <a:defRPr sz="1200" b="0">
                <a:solidFill>
                  <a:srgbClr val="D7E8F4"/>
                </a:solidFill>
              </a:defRPr>
            </a:pPr>
            <a:r>
              <a:rPr sz="1200" b="0">
                <a:solidFill>
                  <a:srgbClr val="D7E8F4"/>
                </a:solidFill>
              </a:rPr>
              <a:t>  }</a:t>
            </a:r>
          </a:p>
          <a:p xmlns:a="http://schemas.openxmlformats.org/drawingml/2006/main">
            <a:pPr algn="l">
              <a:defRPr sz="1200" b="0">
                <a:solidFill>
                  <a:srgbClr val="D7E8F4"/>
                </a:solidFill>
              </a:defRPr>
            </a:pPr>
            <a:r>
              <a:rPr sz="1200" b="0">
                <a:solidFill>
                  <a:srgbClr val="D7E8F4"/>
                </a:solidFill>
              </a:rP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46345-B1F4-446A-BB6E-5E5AD92C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867400"/>
            <a:ext cx="3333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2EE6B-EF6A-421C-B290-B18639FE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9340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1F"/>
                </a:solidFill>
              </a:defRPr>
            </a:pPr>
            <a:r>
              <a:rPr sz="1050" b="1">
                <a:solidFill>
                  <a:srgbClr val="07121F"/>
                </a:solidFill>
              </a:rPr>
              <a:t>record_order ≠ 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B8F28-48B9-4D68-9D95-E70A07E4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A9BC"/>
                </a:solidFill>
              </a:defRPr>
            </a:pPr>
            <a:r>
              <a:rPr sz="825" b="1">
                <a:solidFill>
                  <a:srgbClr val="8FA9BC"/>
                </a:solidFill>
              </a:rPr>
              <a:t>CAH-011 • APPEND-ONLY TRANSCRIPT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89F568-4557-40F8-B3BA-8CE3B3DC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D0F2"/>
                </a:solidFill>
              </a:defRPr>
            </a:pPr>
            <a:r>
              <a:rPr sz="975" b="1">
                <a:solidFill>
                  <a:srgbClr val="25D0F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715699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BA4820-A72D-4BCA-A223-A166FAB0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0F2"/>
                </a:solidFill>
              </a:defRPr>
            </a:pPr>
            <a:r>
              <a:rPr sz="1125" b="1">
                <a:solidFill>
                  <a:srgbClr val="25D0F2"/>
                </a:solidFill>
              </a:rPr>
              <a:t>04 • PRIVACY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31C71-7B30-47CC-90D2-89E0C29E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BFF"/>
                </a:solidFill>
              </a:defRPr>
            </a:pPr>
            <a:r>
              <a:rPr sz="2925" b="1">
                <a:solidFill>
                  <a:srgbClr val="F7FBFF"/>
                </a:solidFill>
              </a:rPr>
              <a:t>The stored truth is deliberately smaller.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48E38-762E-431C-9914-50D65973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8F4"/>
                </a:solidFill>
              </a:defRPr>
            </a:pPr>
            <a:r>
              <a:rPr sz="1425" b="0">
                <a:solidFill>
                  <a:srgbClr val="D7E8F4"/>
                </a:solidFill>
              </a:rPr>
              <a:t>Redaction and byte bounds happen before persistence—not when someone reads the file later.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B140C-DDE6-4CE0-8D02-478A7F61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CC22B-E752-4042-8416-1189C6B7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213B"/>
          </a:solidFill>
          <a:ln xmlns:a="http://schemas.openxmlformats.org/drawingml/2006/main" w="9525">
            <a:solidFill>
              <a:srgbClr val="FF6B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AD6FB-DB90-4B9B-8D25-199F2F34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raw streamed delta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05D12-E60B-4A02-83A0-898A078B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6B5F"/>
                </a:solidFill>
              </a:defRPr>
            </a:pPr>
            <a:r>
              <a:rPr sz="1275" b="0">
                <a:solidFill>
                  <a:srgbClr val="FF6B5F"/>
                </a:solidFill>
              </a:rPr>
              <a:t>sk-FAKE…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11E9A-3B77-47BF-B947-27F8F087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76525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25D0F2"/>
                </a:solidFill>
              </a:defRPr>
            </a:pPr>
            <a:r>
              <a:rPr sz="3000" b="0">
                <a:solidFill>
                  <a:srgbClr val="25D0F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1C555-F2EB-43D4-81A9-45CC43D9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333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B24A"/>
          </a:solidFill>
          <a:ln xmlns:a="http://schemas.openxmlformats.org/drawingml/2006/main" w="9525">
            <a:solidFill>
              <a:srgbClr val="FFB2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5B2D7-9A03-463E-A74E-4AE947DA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05075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21F"/>
                </a:solidFill>
              </a:defRPr>
            </a:pPr>
            <a:r>
              <a:rPr sz="1800" b="1">
                <a:solidFill>
                  <a:srgbClr val="07121F"/>
                </a:solidFill>
              </a:rPr>
              <a:t>STATEFUL PRIVACY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94CCD-25E7-4122-92D2-B14DDCA6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7657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121F"/>
                </a:solidFill>
              </a:defRPr>
            </a:pPr>
            <a:r>
              <a:rPr sz="1275" b="0">
                <a:solidFill>
                  <a:srgbClr val="07121F"/>
                </a:solidFill>
              </a:rPr>
              <a:t>lookbehind • redact • bound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2B0B5-D897-4C96-BDEC-6BA290BA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76525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25D0F2"/>
                </a:solidFill>
              </a:defRPr>
            </a:pPr>
            <a:r>
              <a:rPr sz="3000" b="0">
                <a:solidFill>
                  <a:srgbClr val="25D0F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BE8BC-95A1-405F-BE03-1B3D551E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213B"/>
          </a:solidFill>
          <a:ln xmlns:a="http://schemas.openxmlformats.org/drawingml/2006/main" w="9525">
            <a:solidFill>
              <a:srgbClr val="65E5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5F672-C7D4-41A6-9D71-00819ECB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stored-safe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26790-DA33-48E6-BC8A-41601F55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5752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E59A"/>
                </a:solidFill>
              </a:defRPr>
            </a:pPr>
            <a:r>
              <a:rPr sz="1275" b="0">
                <a:solidFill>
                  <a:srgbClr val="65E59A"/>
                </a:solidFill>
              </a:rPr>
              <a:t>[REDACTED]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A4094-6D72-46E3-B716-408B0C9B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00525"/>
            <a:ext cx="9258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4101F"/>
          </a:solidFill>
          <a:ln xmlns:a="http://schemas.openxmlformats.org/drawingml/2006/main" w="9525">
            <a:solidFill>
              <a:srgbClr val="12335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30CEC-8376-455B-91B2-3AB5530C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00525"/>
            <a:ext cx="9258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C8067-E87D-4C2C-B009-A5DB40A0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29125"/>
            <a:ext cx="8801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8F4"/>
                </a:solidFill>
              </a:defRPr>
            </a:pPr>
            <a:r>
              <a:rPr sz="1200" b="0">
                <a:solidFill>
                  <a:srgbClr val="D7E8F4"/>
                </a:solidFill>
              </a:rPr>
              <a:t>safe_delta = self._redact_stream_fragment(text)</a:t>
            </a:r>
          </a:p>
          <a:p xmlns:a="http://schemas.openxmlformats.org/drawingml/2006/main">
            <a:pPr algn="l">
              <a:defRPr sz="1200" b="0">
                <a:solidFill>
                  <a:srgbClr val="D7E8F4"/>
                </a:solidFill>
              </a:defRPr>
            </a:pPr>
            <a:r>
              <a:rPr sz="1200" b="0">
                <a:solidFill>
                  <a:srgbClr val="D7E8F4"/>
                </a:solidFill>
              </a:rPr>
              <a:t>safe_delta = self._bounded_assistant_fragment(safe_delta)</a:t>
            </a:r>
          </a:p>
          <a:p xmlns:a="http://schemas.openxmlformats.org/drawingml/2006/main">
            <a:pPr algn="l">
              <a:defRPr sz="1200" b="0">
                <a:solidFill>
                  <a:srgbClr val="D7E8F4"/>
                </a:solidFill>
              </a:defRPr>
            </a:pPr>
            <a:r>
              <a:rPr sz="1200" b="0">
                <a:solidFill>
                  <a:srgbClr val="D7E8F4"/>
                </a:solidFill>
              </a:rPr>
              <a:t>self.safe_assistant_text += safe_delta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946711-26B8-43AB-A38B-46C5A725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724525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89ECFF"/>
                </a:solidFill>
              </a:defRPr>
            </a:pPr>
            <a:r>
              <a:rPr sz="1725" b="1">
                <a:solidFill>
                  <a:srgbClr val="89ECFF"/>
                </a:solidFill>
              </a:rPr>
              <a:t>Completion = joined stored-safe deltas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4CC244-2FBB-4DFE-9017-F3C00312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A9BC"/>
                </a:solidFill>
              </a:defRPr>
            </a:pPr>
            <a:r>
              <a:rPr sz="825" b="1">
                <a:solidFill>
                  <a:srgbClr val="8FA9BC"/>
                </a:solidFill>
              </a:rPr>
              <a:t>CAH-011 • APPEND-ONLY TRANSCRIPT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6F8D4B-F09C-4753-AD17-92E5167D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D0F2"/>
                </a:solidFill>
              </a:defRPr>
            </a:pPr>
            <a:r>
              <a:rPr sz="975" b="1">
                <a:solidFill>
                  <a:srgbClr val="25D0F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894669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73C749-F55F-4022-8EB5-AE8C62D3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0F2"/>
                </a:solidFill>
              </a:defRPr>
            </a:pPr>
            <a:r>
              <a:rPr sz="1125" b="1">
                <a:solidFill>
                  <a:srgbClr val="25D0F2"/>
                </a:solidFill>
              </a:rPr>
              <a:t>05 • DURABILITY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9CAF0-3381-4C62-B823-F8F7163F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BFF"/>
                </a:solidFill>
              </a:defRPr>
            </a:pPr>
            <a:r>
              <a:rPr sz="2925" b="1">
                <a:solidFill>
                  <a:srgbClr val="F7FBFF"/>
                </a:solidFill>
              </a:rPr>
              <a:t>Record order commits after fsync returns.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E4CA4-A8D2-4E5B-860C-87827B19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8F4"/>
                </a:solidFill>
              </a:defRPr>
            </a:pPr>
            <a:r>
              <a:rPr sz="1425" b="0">
                <a:solidFill>
                  <a:srgbClr val="D7E8F4"/>
                </a:solidFill>
              </a:rPr>
              <a:t>Simple and observable: write one bounded line, flush it, then advance the safe projection.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D54A5-5CE2-4D88-95C5-8AFAA8A7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E21FD-D452-4F11-AEEC-4EDE5137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71825"/>
            <a:ext cx="1619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85DBE-150E-4A90-B9C5-B9024521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9906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0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7121F"/>
                </a:solidFill>
              </a:defRPr>
            </a:pPr>
            <a:r>
              <a:rPr sz="3150" b="1">
                <a:solidFill>
                  <a:srgbClr val="07121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D2B2E-A26E-41A3-B4DF-FD880CAB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encode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32AC5-A7CE-4FBE-AE1D-373EBBBE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71825"/>
            <a:ext cx="1619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09531-E96C-44B4-A19F-3705D949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76525"/>
            <a:ext cx="9906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9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7121F"/>
                </a:solidFill>
              </a:defRPr>
            </a:pPr>
            <a:r>
              <a:rPr sz="3150" b="1">
                <a:solidFill>
                  <a:srgbClr val="07121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F3E2B-B880-4AE1-B436-E14BB560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433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append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01190-D6A4-4BDC-9C82-974C4BBF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71825"/>
            <a:ext cx="1619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9A1DD-C62C-4B3E-9B32-13587ABD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76525"/>
            <a:ext cx="9906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2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7121F"/>
                </a:solidFill>
              </a:defRPr>
            </a:pPr>
            <a:r>
              <a:rPr sz="3150" b="1">
                <a:solidFill>
                  <a:srgbClr val="07121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DB3BD-9D99-4CE6-BEB5-099F8746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433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fsync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1E1F1-C725-48D5-B992-26596398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76525"/>
            <a:ext cx="9906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E59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7121F"/>
                </a:solidFill>
              </a:defRPr>
            </a:pPr>
            <a:r>
              <a:rPr sz="3150" b="1">
                <a:solidFill>
                  <a:srgbClr val="07121F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7DA86-9C53-49A4-BA25-78B6C1EC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433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commit order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02E5F-0EDA-4C94-B0FD-4A1297C5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81550"/>
            <a:ext cx="7524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4101F"/>
          </a:solidFill>
          <a:ln xmlns:a="http://schemas.openxmlformats.org/drawingml/2006/main" w="9525">
            <a:solidFill>
              <a:srgbClr val="12335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4350B-5716-4EFF-994E-AFEBE8C6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81550"/>
            <a:ext cx="75247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80436-6D61-4888-93BE-85C0BA8D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010150"/>
            <a:ext cx="7067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8F4"/>
                </a:solidFill>
              </a:defRPr>
            </a:pPr>
            <a:r>
              <a:rPr sz="1200" b="0">
                <a:solidFill>
                  <a:srgbClr val="D7E8F4"/>
                </a:solidFill>
              </a:rPr>
              <a:t>self._append_and_flush(line)</a:t>
            </a:r>
          </a:p>
          <a:p xmlns:a="http://schemas.openxmlformats.org/drawingml/2006/main">
            <a:pPr algn="l">
              <a:defRPr sz="1200" b="0">
                <a:solidFill>
                  <a:srgbClr val="D7E8F4"/>
                </a:solidFill>
              </a:defRPr>
            </a:pPr>
            <a:r>
              <a:rPr sz="1200" b="0">
                <a:solidFill>
                  <a:srgbClr val="D7E8F4"/>
                </a:solidFill>
              </a:rPr>
              <a:t>self._state = reduction.state</a:t>
            </a:r>
          </a:p>
          <a:p xmlns:a="http://schemas.openxmlformats.org/drawingml/2006/main">
            <a:pPr algn="l">
              <a:defRPr sz="1200" b="0">
                <a:solidFill>
                  <a:srgbClr val="D7E8F4"/>
                </a:solidFill>
              </a:defRPr>
            </a:pPr>
            <a:r>
              <a:rPr sz="1200" b="0">
                <a:solidFill>
                  <a:srgbClr val="D7E8F4"/>
                </a:solidFill>
              </a:rPr>
              <a:t>self._next_record_order +=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DA8C70-9D91-4F2D-8057-65322728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0198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8FA9BC"/>
                </a:solidFill>
              </a:defRPr>
            </a:pPr>
            <a:r>
              <a:rPr sz="1275" b="0">
                <a:solidFill>
                  <a:srgbClr val="8FA9BC"/>
                </a:solidFill>
              </a:rPr>
              <a:t>Bounded, synchronous I/O keeps the rule clear—but a slow disk can delay cancellation.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2E7BE0-3BBA-45E2-88D8-6F8525F5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A9BC"/>
                </a:solidFill>
              </a:defRPr>
            </a:pPr>
            <a:r>
              <a:rPr sz="825" b="1">
                <a:solidFill>
                  <a:srgbClr val="8FA9BC"/>
                </a:solidFill>
              </a:rPr>
              <a:t>CAH-011 • APPEND-ONLY TRANSCRIPT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14ABE9-35F8-462B-A5E8-C968BCCF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D0F2"/>
                </a:solidFill>
              </a:defRPr>
            </a:pPr>
            <a:r>
              <a:rPr sz="975" b="1">
                <a:solidFill>
                  <a:srgbClr val="25D0F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05406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BE9885-FDEB-4C1C-B961-67C79219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0F2"/>
                </a:solidFill>
              </a:defRPr>
            </a:pPr>
            <a:r>
              <a:rPr sz="1125" b="1">
                <a:solidFill>
                  <a:srgbClr val="25D0F2"/>
                </a:solidFill>
              </a:rPr>
              <a:t>06 •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E3B9A-6984-4B8D-91B3-7C89D269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BFF"/>
                </a:solidFill>
              </a:defRPr>
            </a:pPr>
            <a:r>
              <a:rPr sz="2925" b="1">
                <a:solidFill>
                  <a:srgbClr val="F7FBFF"/>
                </a:solidFill>
              </a:rPr>
              <a:t>Pull the plug: keep a prefix, never invent an ending.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6F295-D8D3-42BE-8C7D-237BFB4F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8F4"/>
                </a:solidFill>
              </a:defRPr>
            </a:pPr>
            <a:r>
              <a:rPr sz="1425" b="0">
                <a:solidFill>
                  <a:srgbClr val="D7E8F4"/>
                </a:solidFill>
              </a:rPr>
              <a:t>A controlled termination proves previously awaited records remain valid JSONL.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362BD-A21D-42B3-BA10-87CF9B00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578A6-A387-44D5-88EA-BA579800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66675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04101F"/>
          </a:solidFill>
          <a:ln xmlns:a="http://schemas.openxmlformats.org/drawingml/2006/main" w="9525">
            <a:solidFill>
              <a:srgbClr val="1233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AF157-1EDC-4ACA-8B8B-EE411CA0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D0F2"/>
                </a:solidFill>
              </a:defRPr>
            </a:pPr>
            <a:r>
              <a:rPr sz="1275" b="1">
                <a:solidFill>
                  <a:srgbClr val="25D0F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41C66-EB21-4CBE-A85E-9F91B99A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47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8F4"/>
                </a:solidFill>
              </a:defRPr>
            </a:pPr>
            <a:r>
              <a:rPr sz="1425" b="0">
                <a:solidFill>
                  <a:srgbClr val="D7E8F4"/>
                </a:solidFill>
              </a:rPr>
              <a:t>task.submitted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E4DC0-0991-4416-97B5-CD989868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E59A"/>
                </a:solidFill>
              </a:defRPr>
            </a:pPr>
            <a:r>
              <a:rPr sz="1200" b="1">
                <a:solidFill>
                  <a:srgbClr val="65E59A"/>
                </a:solidFill>
              </a:rPr>
              <a:t>✓ fsynced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D5DEB-E3D5-4B2C-A6B6-41038213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E59A"/>
                </a:solidFill>
              </a:defRPr>
            </a:pPr>
            <a:r>
              <a:rPr sz="1275" b="1">
                <a:solidFill>
                  <a:srgbClr val="65E59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F72FB-885A-4F1A-B7BA-EB98F1B9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00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8F4"/>
                </a:solidFill>
              </a:defRPr>
            </a:pPr>
            <a:r>
              <a:rPr sz="1425" b="0">
                <a:solidFill>
                  <a:srgbClr val="D7E8F4"/>
                </a:solidFill>
              </a:rPr>
              <a:t>session.started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25FB9-A7DB-403D-AD1A-877D0985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00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E59A"/>
                </a:solidFill>
              </a:defRPr>
            </a:pPr>
            <a:r>
              <a:rPr sz="1200" b="1">
                <a:solidFill>
                  <a:srgbClr val="65E59A"/>
                </a:solidFill>
              </a:rPr>
              <a:t>✓ fsynced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1E062-80D3-406F-A2A5-460074EA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E59A"/>
                </a:solidFill>
              </a:defRPr>
            </a:pPr>
            <a:r>
              <a:rPr sz="1275" b="1">
                <a:solidFill>
                  <a:srgbClr val="65E59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0364A-4895-488D-B20A-5978E4FD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52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8F4"/>
                </a:solidFill>
              </a:defRPr>
            </a:pPr>
            <a:r>
              <a:rPr sz="1425" b="0">
                <a:solidFill>
                  <a:srgbClr val="D7E8F4"/>
                </a:solidFill>
              </a:rPr>
              <a:t>assistant.delta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65E04-5BD2-45CB-8E1B-9FBE9342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528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E59A"/>
                </a:solidFill>
              </a:defRPr>
            </a:pPr>
            <a:r>
              <a:rPr sz="1200" b="1">
                <a:solidFill>
                  <a:srgbClr val="65E59A"/>
                </a:solidFill>
              </a:rPr>
              <a:t>✓ fsynced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10027-2C40-41ED-8820-5A32CADA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E59A"/>
                </a:solidFill>
              </a:defRPr>
            </a:pPr>
            <a:r>
              <a:rPr sz="1275" b="1">
                <a:solidFill>
                  <a:srgbClr val="65E59A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FF2A2-88AD-4CC2-BE73-00B03DB4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05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8F4"/>
                </a:solidFill>
              </a:defRPr>
            </a:pPr>
            <a:r>
              <a:rPr sz="1425" b="0">
                <a:solidFill>
                  <a:srgbClr val="D7E8F4"/>
                </a:solidFill>
              </a:rPr>
              <a:t>assistant.delta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788A8B-625E-402C-BA70-ACAF0E3C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05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E59A"/>
                </a:solidFill>
              </a:defRPr>
            </a:pPr>
            <a:r>
              <a:rPr sz="1200" b="1">
                <a:solidFill>
                  <a:srgbClr val="65E59A"/>
                </a:solidFill>
              </a:rPr>
              <a:t>✓ fsynced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C616B2-B663-4E0C-B555-7DF38E66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6667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153E3-B81C-4139-A7F5-A72C3CB9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955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6B5F"/>
                </a:solidFill>
              </a:defRPr>
            </a:pPr>
            <a:r>
              <a:rPr sz="2100" b="1">
                <a:solidFill>
                  <a:srgbClr val="FF6B5F"/>
                </a:solidFill>
              </a:rPr>
              <a:t>⚡ process terminated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3D1C05-A139-4A96-AC08-E77B6FD5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718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8FA9BC"/>
                </a:solidFill>
              </a:defRPr>
            </a:pPr>
            <a:r>
              <a:rPr sz="1425" b="0">
                <a:solidFill>
                  <a:srgbClr val="8FA9BC"/>
                </a:solidFill>
              </a:rPr>
              <a:t>replay.complete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81E77-3873-40F0-A7F4-B7E05EA3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B24A"/>
                </a:solidFill>
              </a:defRPr>
            </a:pPr>
            <a:r>
              <a:rPr sz="4050" b="1">
                <a:solidFill>
                  <a:srgbClr val="FFB24A"/>
                </a:solidFill>
              </a:rPr>
              <a:t>false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13356-5190-4D53-B4E5-079B0972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196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9ECFF"/>
                </a:solidFill>
              </a:defRPr>
            </a:pPr>
            <a:r>
              <a:rPr sz="1500" b="1">
                <a:solidFill>
                  <a:srgbClr val="89ECFF"/>
                </a:solidFill>
              </a:rPr>
              <a:t>Inspectable ≠ resumable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6DE53-34E4-4AC4-9AE5-781B2931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05475"/>
            <a:ext cx="880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E8F4"/>
                </a:solidFill>
              </a:defRPr>
            </a:pPr>
            <a:r>
              <a:rPr sz="1350" b="0">
                <a:solidFill>
                  <a:srgbClr val="D7E8F4"/>
                </a:solidFill>
              </a:rPr>
              <a:t>The newest visible event may be ahead of the durable prefix; the next event is the fsync barrier.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9A070E-04CF-496E-B550-0648644E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A9BC"/>
                </a:solidFill>
              </a:defRPr>
            </a:pPr>
            <a:r>
              <a:rPr sz="825" b="1">
                <a:solidFill>
                  <a:srgbClr val="8FA9BC"/>
                </a:solidFill>
              </a:rPr>
              <a:t>CAH-011 • APPEND-ONLY TRANSCRIPT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BD6406-7E86-4FB4-88C4-97BCE58A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D0F2"/>
                </a:solidFill>
              </a:defRPr>
            </a:pPr>
            <a:r>
              <a:rPr sz="975" b="1">
                <a:solidFill>
                  <a:srgbClr val="25D0F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004593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5482B4-F36A-420F-B0A9-553A4106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0F2"/>
                </a:solidFill>
              </a:defRPr>
            </a:pPr>
            <a:r>
              <a:rPr sz="1125" b="1">
                <a:solidFill>
                  <a:srgbClr val="25D0F2"/>
                </a:solidFill>
              </a:rPr>
              <a:t>07 • REPLAY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8A86F-D9F2-429C-AFCA-D6643FDE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BFF"/>
                </a:solidFill>
              </a:defRPr>
            </a:pPr>
            <a:r>
              <a:rPr sz="2925" b="1">
                <a:solidFill>
                  <a:srgbClr val="F7FBFF"/>
                </a:solidFill>
              </a:rPr>
              <a:t>Validate first. Fold second. Execute never.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A0DB2-A9BC-4BF9-8972-063235B0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8F4"/>
                </a:solidFill>
              </a:defRPr>
            </a:pPr>
            <a:r>
              <a:rPr sz="1425" b="0">
                <a:solidFill>
                  <a:srgbClr val="D7E8F4"/>
                </a:solidFill>
              </a:rPr>
              <a:t>Replay is a reducer proof over stored-safe facts—not a retry engine.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707E8-1A3E-4A56-99CD-19C76C6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42F47-78B1-48BF-B320-7300E5CB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0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21F"/>
                </a:solidFill>
              </a:defRPr>
            </a:pPr>
            <a:r>
              <a:rPr sz="1800" b="1">
                <a:solidFill>
                  <a:srgbClr val="07121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B713C-83E5-46BC-B029-679983BF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145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LF + UTF-8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AB680-7269-40F7-8582-CDC1F60C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43200"/>
            <a:ext cx="476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41545-2BAC-485F-AC93-F8EEE2C3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9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21F"/>
                </a:solidFill>
              </a:defRPr>
            </a:pPr>
            <a:r>
              <a:rPr sz="1800" b="1">
                <a:solidFill>
                  <a:srgbClr val="07121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A6087-2E76-440D-9529-3CEC5417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384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strict 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90D34-53FC-4747-9770-F626EBC9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467100"/>
            <a:ext cx="476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8ADCD-15F7-42C3-B417-F9FE910D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2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21F"/>
                </a:solidFill>
              </a:defRPr>
            </a:pPr>
            <a:r>
              <a:rPr sz="1800" b="1">
                <a:solidFill>
                  <a:srgbClr val="07121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F8CA8-9CC4-472B-AE24-B75E226A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623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record 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C3882-7646-4E1F-A6E1-42C4E3B2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191000"/>
            <a:ext cx="476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0CD78-69B4-4CAD-B510-71653947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2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21F"/>
                </a:solidFill>
              </a:defRPr>
            </a:pPr>
            <a:r>
              <a:rPr sz="1800" b="1">
                <a:solidFill>
                  <a:srgbClr val="07121F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1A403-21E6-4C0D-A13E-E824D331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862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workspace + session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105EF-6D83-4C95-8315-49C5E4B2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914900"/>
            <a:ext cx="476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DA0A9-571D-45EA-B595-92B1E189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E59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21F"/>
                </a:solidFill>
              </a:defRPr>
            </a:pPr>
            <a:r>
              <a:rPr sz="1800" b="1">
                <a:solidFill>
                  <a:srgbClr val="07121F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D5492-3426-4D04-A4CB-18B6F18B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101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reducer invariant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A618D9-3400-4B57-86DA-BD5495D9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76625"/>
            <a:ext cx="781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5D0F2"/>
                </a:solidFill>
              </a:defRPr>
            </a:pPr>
            <a:r>
              <a:rPr sz="3600" b="1">
                <a:solidFill>
                  <a:srgbClr val="25D0F2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8729D4-7FA0-4D4A-9204-6D692AEE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4857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213B"/>
          </a:solidFill>
          <a:ln xmlns:a="http://schemas.openxmlformats.org/drawingml/2006/main" w="9525">
            <a:solidFill>
              <a:srgbClr val="65E59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0F79C-5F5F-44D6-A75A-D71AA5AB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5E59A"/>
                </a:solidFill>
              </a:defRPr>
            </a:pPr>
            <a:r>
              <a:rPr sz="2100" b="1">
                <a:solidFill>
                  <a:srgbClr val="65E59A"/>
                </a:solidFill>
              </a:rPr>
              <a:t>SAFE REDUCER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7A191A-C884-41B9-94A0-C0867A36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8F4"/>
                </a:solidFill>
              </a:defRPr>
            </a:pPr>
            <a:r>
              <a:rPr sz="1575" b="0">
                <a:solidFill>
                  <a:srgbClr val="D7E8F4"/>
                </a:solidFill>
              </a:rPr>
              <a:t>status: completed</a:t>
            </a:r>
          </a:p>
          <a:p xmlns:a="http://schemas.openxmlformats.org/drawingml/2006/main">
            <a:pPr algn="l">
              <a:defRPr sz="1575" b="0">
                <a:solidFill>
                  <a:srgbClr val="D7E8F4"/>
                </a:solidFill>
              </a:defRPr>
            </a:pPr>
            <a:r>
              <a:rPr sz="1575" b="0">
                <a:solidFill>
                  <a:srgbClr val="D7E8F4"/>
                </a:solidFill>
              </a:rPr>
              <a:t>assistant_text: stored projection</a:t>
            </a:r>
          </a:p>
          <a:p xmlns:a="http://schemas.openxmlformats.org/drawingml/2006/main">
            <a:pPr algn="l">
              <a:defRPr sz="1575" b="0">
                <a:solidFill>
                  <a:srgbClr val="D7E8F4"/>
                </a:solidFill>
              </a:defRPr>
            </a:pPr>
            <a:r>
              <a:rPr sz="1575" b="0">
                <a:solidFill>
                  <a:srgbClr val="D7E8F4"/>
                </a:solidFill>
              </a:rPr>
              <a:t>complete: true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423772-FA12-4A08-AACA-7A9FCF5F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2000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279E68-3F5E-4EB5-B8AF-A6E1C426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673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</a:defRPr>
            </a:pPr>
            <a:r>
              <a:rPr sz="1050" b="1">
                <a:solidFill>
                  <a:srgbClr val="F7FBFF"/>
                </a:solidFill>
              </a:rPr>
              <a:t>NO PROVIDER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66CEE9-13C2-4510-A15E-B8BD9414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00675"/>
            <a:ext cx="1714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15899C-27D7-4F60-A24C-8ED413C9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6735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</a:defRPr>
            </a:pPr>
            <a:r>
              <a:rPr sz="1050" b="1">
                <a:solidFill>
                  <a:srgbClr val="F7FBFF"/>
                </a:solidFill>
              </a:rPr>
              <a:t>NO TOOL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F891AD-5977-4F97-905A-DC985299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A9BC"/>
                </a:solidFill>
              </a:defRPr>
            </a:pPr>
            <a:r>
              <a:rPr sz="825" b="1">
                <a:solidFill>
                  <a:srgbClr val="8FA9BC"/>
                </a:solidFill>
              </a:rPr>
              <a:t>CAH-011 • APPEND-ONLY TRANSCRIPT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3FE871-2631-43F3-B7C5-264B7500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D0F2"/>
                </a:solidFill>
              </a:defRPr>
            </a:pPr>
            <a:r>
              <a:rPr sz="975" b="1">
                <a:solidFill>
                  <a:srgbClr val="25D0F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70954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ED4B0D-211A-4482-8FE9-BD6470D4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0F2"/>
                </a:solidFill>
              </a:defRPr>
            </a:pPr>
            <a:r>
              <a:rPr sz="1125" b="1">
                <a:solidFill>
                  <a:srgbClr val="25D0F2"/>
                </a:solidFill>
              </a:rPr>
              <a:t>08 • USER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30C31-84B2-40BA-BE88-E11B52E6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BFF"/>
                </a:solidFill>
              </a:defRPr>
            </a:pPr>
            <a:r>
              <a:rPr sz="2925" b="1">
                <a:solidFill>
                  <a:srgbClr val="F7FBFF"/>
                </a:solidFill>
              </a:rPr>
              <a:t>One warning appears. The turn still finishes.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0463D-69AA-4314-B404-962BBA17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8F4"/>
                </a:solidFill>
              </a:defRPr>
            </a:pPr>
            <a:r>
              <a:rPr sz="1425" b="0">
                <a:solidFill>
                  <a:srgbClr val="D7E8F4"/>
                </a:solidFill>
              </a:rPr>
              <a:t>Recording failure is visible and durable in UI state, but it cannot become session truth.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6EBE6-20FC-430D-8F8A-D700CEBA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7185A-DDA1-49F0-A930-946D0927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69532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020A13"/>
          </a:solidFill>
          <a:ln xmlns:a="http://schemas.openxmlformats.org/drawingml/2006/main" w="9525">
            <a:solidFill>
              <a:srgbClr val="1233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15518-CE2C-41E0-BEEE-1BB5F736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A9BC"/>
                </a:solidFill>
              </a:defRPr>
            </a:pPr>
            <a:r>
              <a:rPr sz="1200" b="1">
                <a:solidFill>
                  <a:srgbClr val="8FA9BC"/>
                </a:solidFill>
              </a:rPr>
              <a:t>code-assist-harness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0EB8D-7BDC-4AB5-8AAC-FD3856C2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BFF"/>
                </a:solidFill>
              </a:defRPr>
            </a:pPr>
            <a:r>
              <a:rPr sz="1500" b="0">
                <a:solidFill>
                  <a:srgbClr val="F7FBFF"/>
                </a:solidFill>
              </a:rPr>
              <a:t>&gt; Keep working after the recorder fails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3EA48-F0C8-4E19-A8A2-4D1203D4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9ECFF"/>
                </a:solidFill>
              </a:defRPr>
            </a:pPr>
            <a:r>
              <a:rPr sz="1350" b="0">
                <a:solidFill>
                  <a:srgbClr val="89ECFF"/>
                </a:solidFill>
              </a:rPr>
              <a:t>Mock response: the task crossed the process boundary…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61EB2-AD27-45F2-B309-E692352B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57675"/>
            <a:ext cx="5905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05642-B1DE-4227-9206-D2D52675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24A"/>
                </a:solidFill>
              </a:defRPr>
            </a:pPr>
            <a:r>
              <a:rPr sz="1350" b="1">
                <a:solidFill>
                  <a:srgbClr val="FFB24A"/>
                </a:solidFill>
              </a:rPr>
              <a:t>Recording warning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B7D2A-EE7A-4681-8B42-17A1A9DE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8F4"/>
                </a:solidFill>
              </a:defRPr>
            </a:pPr>
            <a:r>
              <a:rPr sz="1200" b="0">
                <a:solidFill>
                  <a:srgbClr val="D7E8F4"/>
                </a:solidFill>
              </a:rPr>
              <a:t>Session recording is unavailable; session work will continue.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33ED2-760F-4BC1-A4DD-2FA4726A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076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65E59A"/>
                </a:solidFill>
              </a:defRPr>
            </a:pPr>
            <a:r>
              <a:rPr sz="6600" b="1">
                <a:solidFill>
                  <a:srgbClr val="65E59A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7EDB6-8BCF-4998-8DCE-F08C08FC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5765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BFF"/>
                </a:solidFill>
              </a:defRPr>
            </a:pPr>
            <a:r>
              <a:rPr sz="1650" b="1">
                <a:solidFill>
                  <a:srgbClr val="F7FBFF"/>
                </a:solidFill>
              </a:rPr>
              <a:t>session.completed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EF6FB-B84C-414D-A15E-03885867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577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89ECFF"/>
                </a:solidFill>
              </a:defRPr>
            </a:pPr>
            <a:r>
              <a:rPr sz="1425" b="0">
                <a:solidFill>
                  <a:srgbClr val="89ECFF"/>
                </a:solidFill>
              </a:rPr>
              <a:t>later tasks remain available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E336B-EABA-4089-8B48-9E704912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848350"/>
            <a:ext cx="613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B24A"/>
                </a:solidFill>
              </a:defRPr>
            </a:pPr>
            <a:r>
              <a:rPr sz="1425" b="1">
                <a:solidFill>
                  <a:srgbClr val="FFB24A"/>
                </a:solidFill>
              </a:rPr>
              <a:t>The warning is not recursively recorded.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95A17-A93E-4B05-BD9E-B3BF13EA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A9BC"/>
                </a:solidFill>
              </a:defRPr>
            </a:pPr>
            <a:r>
              <a:rPr sz="825" b="1">
                <a:solidFill>
                  <a:srgbClr val="8FA9BC"/>
                </a:solidFill>
              </a:rPr>
              <a:t>CAH-011 • APPEND-ONLY TRANSCRIPT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83CC9-EC48-46DE-ACF4-BB011723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D0F2"/>
                </a:solidFill>
              </a:defRPr>
            </a:pPr>
            <a:r>
              <a:rPr sz="975" b="1">
                <a:solidFill>
                  <a:srgbClr val="25D0F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259356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E49436-8752-4D09-9847-26170A5D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0F2"/>
                </a:solidFill>
              </a:defRPr>
            </a:pPr>
            <a:r>
              <a:rPr sz="1125" b="1">
                <a:solidFill>
                  <a:srgbClr val="25D0F2"/>
                </a:solidFill>
              </a:rPr>
              <a:t>09 • GRADUATION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A4E13-CD8D-4EF8-BAF7-31EBA0C9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BFF"/>
                </a:solidFill>
              </a:defRPr>
            </a:pPr>
            <a:r>
              <a:rPr sz="2925" b="1">
                <a:solidFill>
                  <a:srgbClr val="F7FBFF"/>
                </a:solidFill>
              </a:rPr>
              <a:t>Start with a recorder. Earn the vault.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0E701-15FC-43D5-AAB9-F9326473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8F4"/>
                </a:solidFill>
              </a:defRPr>
            </a:pPr>
            <a:r>
              <a:rPr sz="1425" b="0">
                <a:solidFill>
                  <a:srgbClr val="D7E8F4"/>
                </a:solidFill>
              </a:rPr>
              <a:t>Local JSONL is enough to learn; production governance should arrive only with measured need.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CDB38-3250-4F25-95DA-2833A3E4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57B5F-D445-4679-93CE-05C96678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D0F2"/>
                </a:solidFill>
              </a:defRPr>
            </a:pPr>
            <a:r>
              <a:rPr sz="1350" b="1">
                <a:solidFill>
                  <a:srgbClr val="25D0F2"/>
                </a:solidFill>
              </a:rPr>
              <a:t>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8308A-4B1F-48A0-9226-A7938C0A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BFF"/>
                </a:solidFill>
              </a:defRPr>
            </a:pPr>
            <a:r>
              <a:rPr sz="2400" b="1">
                <a:solidFill>
                  <a:srgbClr val="F7FBFF"/>
                </a:solidFill>
              </a:rPr>
              <a:t>Local flight recorder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2BC2A-E9D2-46C2-AEFF-0956677A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4191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8F4"/>
                </a:solidFill>
              </a:defRPr>
            </a:pPr>
            <a:r>
              <a:rPr sz="1575" b="0">
                <a:solidFill>
                  <a:srgbClr val="D7E8F4"/>
                </a:solidFill>
              </a:rPr>
              <a:t>• 0600 / 0700 local permissions</a:t>
            </a:r>
          </a:p>
          <a:p xmlns:a="http://schemas.openxmlformats.org/drawingml/2006/main">
            <a:pPr algn="l">
              <a:defRPr sz="1575" b="0">
                <a:solidFill>
                  <a:srgbClr val="D7E8F4"/>
                </a:solidFill>
              </a:defRPr>
            </a:pPr>
            <a:r>
              <a:rPr sz="1575" b="0">
                <a:solidFill>
                  <a:srgbClr val="D7E8F4"/>
                </a:solidFill>
              </a:rPr>
              <a:t>• heuristic redaction + bounds</a:t>
            </a:r>
          </a:p>
          <a:p xmlns:a="http://schemas.openxmlformats.org/drawingml/2006/main">
            <a:pPr algn="l">
              <a:defRPr sz="1575" b="0">
                <a:solidFill>
                  <a:srgbClr val="D7E8F4"/>
                </a:solidFill>
              </a:defRPr>
            </a:pPr>
            <a:r>
              <a:rPr sz="1575" b="0">
                <a:solidFill>
                  <a:srgbClr val="D7E8F4"/>
                </a:solidFill>
              </a:rPr>
              <a:t>• per-record fsync</a:t>
            </a:r>
          </a:p>
          <a:p xmlns:a="http://schemas.openxmlformats.org/drawingml/2006/main">
            <a:pPr algn="l">
              <a:defRPr sz="1575" b="0">
                <a:solidFill>
                  <a:srgbClr val="D7E8F4"/>
                </a:solidFill>
              </a:defRPr>
            </a:pPr>
            <a:r>
              <a:rPr sz="1575" b="0">
                <a:solidFill>
                  <a:srgbClr val="D7E8F4"/>
                </a:solidFill>
              </a:rPr>
              <a:t>• strict reducer replay</a:t>
            </a:r>
          </a:p>
          <a:p xmlns:a="http://schemas.openxmlformats.org/drawingml/2006/main">
            <a:pPr algn="l">
              <a:defRPr sz="1575" b="0">
                <a:solidFill>
                  <a:srgbClr val="D7E8F4"/>
                </a:solidFill>
              </a:defRPr>
            </a:pPr>
            <a:r>
              <a:rPr sz="1575" b="0">
                <a:solidFill>
                  <a:srgbClr val="D7E8F4"/>
                </a:solidFill>
              </a:rPr>
              <a:t>• manual retention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7EC62-B518-40C8-BB16-F88743D9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5242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B24A"/>
                </a:solidFill>
              </a:defRPr>
            </a:pPr>
            <a:r>
              <a:rPr sz="3900" b="1">
                <a:solidFill>
                  <a:srgbClr val="FFB24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5C333-ABA0-4AB5-8BF9-D2BF0468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955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24A"/>
                </a:solidFill>
              </a:defRPr>
            </a:pPr>
            <a:r>
              <a:rPr sz="1350" b="1">
                <a:solidFill>
                  <a:srgbClr val="FFB24A"/>
                </a:solidFill>
              </a:rPr>
              <a:t>WHEN SIGNALS DEMAND 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33838-47E6-43A1-AF4E-3628C061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9082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BFF"/>
                </a:solidFill>
              </a:defRPr>
            </a:pPr>
            <a:r>
              <a:rPr sz="2400" b="1">
                <a:solidFill>
                  <a:srgbClr val="F7FBFF"/>
                </a:solidFill>
              </a:rPr>
              <a:t>Governed evidence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EADBE-8EB7-4420-BF89-4EDEF313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4476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8F4"/>
                </a:solidFill>
              </a:defRPr>
            </a:pPr>
            <a:r>
              <a:rPr sz="1575" b="0">
                <a:solidFill>
                  <a:srgbClr val="D7E8F4"/>
                </a:solidFill>
              </a:rPr>
              <a:t>• tenant access controls</a:t>
            </a:r>
          </a:p>
          <a:p xmlns:a="http://schemas.openxmlformats.org/drawingml/2006/main">
            <a:pPr algn="l">
              <a:defRPr sz="1575" b="0">
                <a:solidFill>
                  <a:srgbClr val="D7E8F4"/>
                </a:solidFill>
              </a:defRPr>
            </a:pPr>
            <a:r>
              <a:rPr sz="1575" b="0">
                <a:solidFill>
                  <a:srgbClr val="D7E8F4"/>
                </a:solidFill>
              </a:rPr>
              <a:t>• encryption + key rotation</a:t>
            </a:r>
          </a:p>
          <a:p xmlns:a="http://schemas.openxmlformats.org/drawingml/2006/main">
            <a:pPr algn="l">
              <a:defRPr sz="1575" b="0">
                <a:solidFill>
                  <a:srgbClr val="D7E8F4"/>
                </a:solidFill>
              </a:defRPr>
            </a:pPr>
            <a:r>
              <a:rPr sz="1575" b="0">
                <a:solidFill>
                  <a:srgbClr val="D7E8F4"/>
                </a:solidFill>
              </a:rPr>
              <a:t>• immutable retention / legal hold</a:t>
            </a:r>
          </a:p>
          <a:p xmlns:a="http://schemas.openxmlformats.org/drawingml/2006/main">
            <a:pPr algn="l">
              <a:defRPr sz="1575" b="0">
                <a:solidFill>
                  <a:srgbClr val="D7E8F4"/>
                </a:solidFill>
              </a:defRPr>
            </a:pPr>
            <a:r>
              <a:rPr sz="1575" b="0">
                <a:solidFill>
                  <a:srgbClr val="D7E8F4"/>
                </a:solidFill>
              </a:rPr>
              <a:t>• integrity proofs + recovery targets</a:t>
            </a:r>
          </a:p>
          <a:p xmlns:a="http://schemas.openxmlformats.org/drawingml/2006/main">
            <a:pPr algn="l">
              <a:defRPr sz="1575" b="0">
                <a:solidFill>
                  <a:srgbClr val="D7E8F4"/>
                </a:solidFill>
              </a:defRPr>
            </a:pPr>
            <a:r>
              <a:rPr sz="1575" b="0">
                <a:solidFill>
                  <a:srgbClr val="D7E8F4"/>
                </a:solidFill>
              </a:rPr>
              <a:t>• central alerts and runbooks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6D42F-48BF-4F4D-B82A-42C078FF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382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6A8E3-C63C-4248-AD1C-5CBF5628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72150"/>
            <a:ext cx="946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5E59A"/>
                </a:solidFill>
              </a:defRPr>
            </a:pPr>
            <a:r>
              <a:rPr sz="1650" b="1">
                <a:solidFill>
                  <a:srgbClr val="65E59A"/>
                </a:solidFill>
              </a:rPr>
              <a:t>Reducer owns truth  •  redact before bytes  •  replay never repeats effects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39EFD-43D4-486F-8826-1A1B64A2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A9BC"/>
                </a:solidFill>
              </a:defRPr>
            </a:pPr>
            <a:r>
              <a:rPr sz="825" b="1">
                <a:solidFill>
                  <a:srgbClr val="8FA9BC"/>
                </a:solidFill>
              </a:rPr>
              <a:t>CAH-011 • A FLIGHT RECORDER, NOT A TIME MACHINE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5312A-0C15-409B-B6C3-1A29B289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D0F2"/>
                </a:solidFill>
              </a:defRPr>
            </a:pPr>
            <a:r>
              <a:rPr sz="975" b="1">
                <a:solidFill>
                  <a:srgbClr val="25D0F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342131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2026-07-31T01:00:43.1380000Z</dcterms:created>
  <dcterms:modified xsi:type="dcterms:W3CDTF">2026-07-31T01:00:43.1380000Z</dcterms:modified>
</coreProperties>
</file>