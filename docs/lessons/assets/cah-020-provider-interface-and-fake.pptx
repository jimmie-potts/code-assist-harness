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6daea9e3604be8" /><Relationship Type="http://schemas.openxmlformats.org/officeDocument/2006/relationships/extended-properties" Target="/docProps/app.xml" Id="Rfe6e7c1d13bb4722" /><Relationship Type="http://schemas.openxmlformats.org/officeDocument/2006/relationships/officeDocument" Target="/ppt/presentation.xml" Id="R1272e0ecb60847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b12930befe4480"/>
  </p:sldMasterIdLst>
  <p:notesMasterIdLst>
    <p:notesMasterId xmlns:r="http://schemas.openxmlformats.org/officeDocument/2006/relationships" r:id="Rf896f6907a4c4c82"/>
  </p:notesMasterIdLst>
  <p:sldIdLst>
    <p:sldId xmlns:r="http://schemas.openxmlformats.org/officeDocument/2006/relationships" id="256" r:id="Re9712f693eb6458a"/>
    <p:sldId xmlns:r="http://schemas.openxmlformats.org/officeDocument/2006/relationships" id="257" r:id="R0648e0bce8724d1f"/>
    <p:sldId xmlns:r="http://schemas.openxmlformats.org/officeDocument/2006/relationships" id="258" r:id="R02f79374932a4a62"/>
    <p:sldId xmlns:r="http://schemas.openxmlformats.org/officeDocument/2006/relationships" id="259" r:id="R145d5ed1d6a14851"/>
    <p:sldId xmlns:r="http://schemas.openxmlformats.org/officeDocument/2006/relationships" id="260" r:id="Rc8d7e9ae600349ea"/>
    <p:sldId xmlns:r="http://schemas.openxmlformats.org/officeDocument/2006/relationships" id="261" r:id="R23b7310d98cc4908"/>
    <p:sldId xmlns:r="http://schemas.openxmlformats.org/officeDocument/2006/relationships" id="262" r:id="R0620183530034c79"/>
    <p:sldId xmlns:r="http://schemas.openxmlformats.org/officeDocument/2006/relationships" id="263" r:id="R5fa342251f494341"/>
    <p:sldId xmlns:r="http://schemas.openxmlformats.org/officeDocument/2006/relationships" id="264" r:id="R272b54c828354912"/>
    <p:sldId xmlns:r="http://schemas.openxmlformats.org/officeDocument/2006/relationships" id="265" r:id="R9d0a5b37356b4f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a727930d70430c" /><Relationship Type="http://schemas.openxmlformats.org/officeDocument/2006/relationships/slideMaster" Target="/ppt/slideMasters/slideMaster1.xml" Id="R74b12930befe4480" /><Relationship Type="http://schemas.openxmlformats.org/officeDocument/2006/relationships/notesMaster" Target="/ppt/notesMasters/notesMaster1.xml" Id="Rf896f6907a4c4c82" /><Relationship Type="http://schemas.openxmlformats.org/officeDocument/2006/relationships/presProps" Target="/ppt/presProps.xml" Id="R0cdea3f9dc3846a2" /><Relationship Type="http://schemas.openxmlformats.org/officeDocument/2006/relationships/tableStyles" Target="/ppt/tableStyles.xml" Id="Rbcb328702b7b4083" /><Relationship Type="http://schemas.openxmlformats.org/officeDocument/2006/relationships/slide" Target="/ppt/slides/slide1.xml" Id="Re9712f693eb6458a" /><Relationship Type="http://schemas.openxmlformats.org/officeDocument/2006/relationships/slide" Target="/ppt/slides/slide2.xml" Id="R0648e0bce8724d1f" /><Relationship Type="http://schemas.openxmlformats.org/officeDocument/2006/relationships/slide" Target="/ppt/slides/slide3.xml" Id="R02f79374932a4a62" /><Relationship Type="http://schemas.openxmlformats.org/officeDocument/2006/relationships/slide" Target="/ppt/slides/slide4.xml" Id="R145d5ed1d6a14851" /><Relationship Type="http://schemas.openxmlformats.org/officeDocument/2006/relationships/slide" Target="/ppt/slides/slide5.xml" Id="Rc8d7e9ae600349ea" /><Relationship Type="http://schemas.openxmlformats.org/officeDocument/2006/relationships/slide" Target="/ppt/slides/slide6.xml" Id="R23b7310d98cc4908" /><Relationship Type="http://schemas.openxmlformats.org/officeDocument/2006/relationships/slide" Target="/ppt/slides/slide7.xml" Id="R0620183530034c79" /><Relationship Type="http://schemas.openxmlformats.org/officeDocument/2006/relationships/slide" Target="/ppt/slides/slide8.xml" Id="R5fa342251f494341" /><Relationship Type="http://schemas.openxmlformats.org/officeDocument/2006/relationships/slide" Target="/ppt/slides/slide9.xml" Id="R272b54c828354912" /><Relationship Type="http://schemas.openxmlformats.org/officeDocument/2006/relationships/slide" Target="/ppt/slides/slide10.xml" Id="R9d0a5b37356b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a37d54f2ee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9ffefc9d714e08" /><Relationship Type="http://schemas.openxmlformats.org/officeDocument/2006/relationships/notesMaster" Target="/ppt/notesMasters/notesMaster1.xml" Id="R9b4dac7404cf46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3d1271cdd444b" /><Relationship Type="http://schemas.openxmlformats.org/officeDocument/2006/relationships/notesMaster" Target="/ppt/notesMasters/notesMaster1.xml" Id="R0d8eed807d07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538521ba18441b" /><Relationship Type="http://schemas.openxmlformats.org/officeDocument/2006/relationships/notesMaster" Target="/ppt/notesMasters/notesMaster1.xml" Id="R3f70fb03878d4b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a986f271740d1" /><Relationship Type="http://schemas.openxmlformats.org/officeDocument/2006/relationships/notesMaster" Target="/ppt/notesMasters/notesMaster1.xml" Id="Raaed6c03ae5c41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411e6ccf64f78" /><Relationship Type="http://schemas.openxmlformats.org/officeDocument/2006/relationships/notesMaster" Target="/ppt/notesMasters/notesMaster1.xml" Id="Rdccc01a45bfe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a7dd3dfd4c46b9" /><Relationship Type="http://schemas.openxmlformats.org/officeDocument/2006/relationships/notesMaster" Target="/ppt/notesMasters/notesMaster1.xml" Id="R9e86fedf00c145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65f8f7d1c241a1" /><Relationship Type="http://schemas.openxmlformats.org/officeDocument/2006/relationships/notesMaster" Target="/ppt/notesMasters/notesMaster1.xml" Id="Rb588b4904b1a4f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2e75e5f73c4d07" /><Relationship Type="http://schemas.openxmlformats.org/officeDocument/2006/relationships/notesMaster" Target="/ppt/notesMasters/notesMaster1.xml" Id="R3d1dcf0ad89d45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9f278b95934122" /><Relationship Type="http://schemas.openxmlformats.org/officeDocument/2006/relationships/notesMaster" Target="/ppt/notesMasters/notesMaster1.xml" Id="R27c58d45531443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2a159af3ec4513" /><Relationship Type="http://schemas.openxmlformats.org/officeDocument/2006/relationships/notesMaster" Target="/ppt/notesMasters/notesMaster1.xml" Id="Rc48fed96e71948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8badaf78244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0f39d3ff44310" /><Relationship Type="http://schemas.openxmlformats.org/officeDocument/2006/relationships/slideLayout" Target="/ppt/slideLayouts/slideLayout1.xml" Id="Rb2213f8f994d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213f8f994d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f15a670164c6a" /><Relationship Type="http://schemas.openxmlformats.org/officeDocument/2006/relationships/image" Target="/ppt/media/image.png" Id="Rd44216a85ab44ae2" /><Relationship Type="http://schemas.openxmlformats.org/officeDocument/2006/relationships/notesSlide" Target="/ppt/notesSlides/notesSlide1.xml" Id="R9c1c56e98a77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1b3efca4e4030" /><Relationship Type="http://schemas.openxmlformats.org/officeDocument/2006/relationships/notesSlide" Target="/ppt/notesSlides/notesSlide2.xml" Id="R5e8a6d1031eb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1370a63674d0f" /><Relationship Type="http://schemas.openxmlformats.org/officeDocument/2006/relationships/notesSlide" Target="/ppt/notesSlides/notesSlide3.xml" Id="R2ab31d1c2f9142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5a189eea848a9" /><Relationship Type="http://schemas.openxmlformats.org/officeDocument/2006/relationships/notesSlide" Target="/ppt/notesSlides/notesSlide4.xml" Id="R9fd072ee88264d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14b33e6294e87" /><Relationship Type="http://schemas.openxmlformats.org/officeDocument/2006/relationships/notesSlide" Target="/ppt/notesSlides/notesSlide5.xml" Id="R77d72683613f46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cc3d9509a4b00" /><Relationship Type="http://schemas.openxmlformats.org/officeDocument/2006/relationships/notesSlide" Target="/ppt/notesSlides/notesSlide6.xml" Id="R3d8e3b1619694c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b7663434a4e4f" /><Relationship Type="http://schemas.openxmlformats.org/officeDocument/2006/relationships/notesSlide" Target="/ppt/notesSlides/notesSlide7.xml" Id="Rd63c76b92b174c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867da69ec43d4" /><Relationship Type="http://schemas.openxmlformats.org/officeDocument/2006/relationships/notesSlide" Target="/ppt/notesSlides/notesSlide8.xml" Id="Ra8fcdb30df544f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41cbd8ea54fa7" /><Relationship Type="http://schemas.openxmlformats.org/officeDocument/2006/relationships/notesSlide" Target="/ppt/notesSlides/notesSlide9.xml" Id="R2e758a2930f745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222523fbc4c35" /><Relationship Type="http://schemas.openxmlformats.org/officeDocument/2006/relationships/notesSlide" Target="/ppt/notesSlides/notesSlide10.xml" Id="R51b55da2d0ae4c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216a85ab44ae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30FD8-9BAD-4B6F-8733-D3E1D7C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D6E5"/>
                </a:solidFill>
              </a:defRPr>
            </a:pPr>
            <a:r>
              <a:rPr sz="1200" b="1">
                <a:solidFill>
                  <a:srgbClr val="24D6E5"/>
                </a:solidFill>
              </a:rPr>
              <a:t>CAH-020 • VISUAL LESSON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25EEE-60ED-4BB1-8AA7-EFB269A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 stable socket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for model streams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55B36-7096-48A2-B6AF-40B3BF13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7E8"/>
                </a:solidFill>
              </a:defRPr>
            </a:pPr>
            <a:r>
              <a:rPr sz="1725" b="0">
                <a:solidFill>
                  <a:srgbClr val="FFF7E8"/>
                </a:solidFill>
              </a:rPr>
              <a:t>Provider-neutral contracts • deterministic fake • explicit cleanup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52764-E834-49FA-8E75-F080FAEB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66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008FB-13C2-484B-9DD7-0660F11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F"/>
                </a:solidFill>
              </a:defRPr>
            </a:pPr>
            <a:r>
              <a:rPr sz="1050" b="1">
                <a:solidFill>
                  <a:srgbClr val="07162F"/>
                </a:solidFill>
              </a:rPr>
              <a:t>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88AE1-6225-4B2A-B1EF-759ED09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3390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66FEE-F158-4428-9AE8-1CD851D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00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F"/>
                </a:solidFill>
              </a:defRPr>
            </a:pPr>
            <a:r>
              <a:rPr sz="1050" b="1">
                <a:solidFill>
                  <a:srgbClr val="07162F"/>
                </a:solidFill>
              </a:rPr>
              <a:t>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2240A-4353-4758-BB5E-5C3EB219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5085A-FF1F-4275-8340-889DDEC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00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CANCEL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2F1D1-9B8C-4B2C-8E45-21E4B09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CECF3"/>
                </a:solidFill>
              </a:defRPr>
            </a:pPr>
            <a:r>
              <a:rPr sz="1350" b="1">
                <a:solidFill>
                  <a:srgbClr val="8CECF3"/>
                </a:solidFill>
              </a:rPr>
              <a:t>The harness owns meaning. Adapters own syntax.</a:t>
            </a:r>
          </a:p>
        </p:txBody>
      </p:sp>
    </p:spTree>
    <p:extLst>
      <p:ext uri="{BB962C8B-B14F-4D97-AF65-F5344CB8AC3E}">
        <p14:creationId xmlns:p14="http://schemas.microsoft.com/office/powerpoint/2010/main" val="1770495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EA0F6-72BE-429A-AF99-FE78D194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01 • JUNIOR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0C7EE-9890-42E4-85CE-5241E00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port is the promise; the adapter translates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2F712-8AAC-4295-8D09-75C4EA4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Think wall socket, not vendor SDK: core code depends on one stable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8F425-FEAB-4A47-A01F-09B8904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71259-998D-40DB-B87D-B91B59BB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DB3C8"/>
                </a:solidFill>
              </a:defRPr>
            </a:pPr>
            <a:r>
              <a:rPr sz="1350" b="1">
                <a:solidFill>
                  <a:srgbClr val="9DB3C8"/>
                </a:solidFill>
              </a:rPr>
              <a:t>HARNESS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49B0F-7FBD-4D26-977C-67B9E82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2286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24D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443BC-4E04-4CFC-993A-E39D5108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agent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1D87D-9602-437D-84C0-7FE46967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4D6E5"/>
                </a:solidFill>
              </a:defRPr>
            </a:pPr>
            <a:r>
              <a:rPr sz="3450" b="1">
                <a:solidFill>
                  <a:srgbClr val="24D6E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D3792-3B7F-42BC-B66C-E45F58B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9082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9525">
            <a:solidFill>
              <a:srgbClr val="24D6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A3311-1045-457D-857A-464A2D2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62F"/>
                </a:solidFill>
              </a:defRPr>
            </a:pPr>
            <a:r>
              <a:rPr sz="2025" b="1">
                <a:solidFill>
                  <a:srgbClr val="07162F"/>
                </a:solidFill>
              </a:rPr>
              <a:t>PROVIDER 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FC405-DD9D-4B93-86FB-7F7696C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86175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62F"/>
                </a:solidFill>
              </a:defRPr>
            </a:pPr>
            <a:r>
              <a:rPr sz="1500" b="0">
                <a:solidFill>
                  <a:srgbClr val="07162F"/>
                </a:solidFill>
              </a:rPr>
              <a:t>request</a:t>
            </a:r>
          </a:p>
          <a:p xmlns:a="http://schemas.openxmlformats.org/drawingml/2006/main">
            <a:pPr algn="ctr">
              <a:defRPr sz="1500" b="0">
                <a:solidFill>
                  <a:srgbClr val="07162F"/>
                </a:solidFill>
              </a:defRPr>
            </a:pPr>
            <a:r>
              <a:rPr sz="1500" b="0">
                <a:solidFill>
                  <a:srgbClr val="07162F"/>
                </a:solidFill>
              </a:rPr>
              <a:t>stream events</a:t>
            </a:r>
          </a:p>
          <a:p xmlns:a="http://schemas.openxmlformats.org/drawingml/2006/main">
            <a:pPr algn="ctr">
              <a:defRPr sz="1500" b="0">
                <a:solidFill>
                  <a:srgbClr val="07162F"/>
                </a:solidFill>
              </a:defRPr>
            </a:pPr>
            <a:r>
              <a:rPr sz="1500" b="0">
                <a:solidFill>
                  <a:srgbClr val="07162F"/>
                </a:solidFill>
              </a:rPr>
              <a:t>cancel +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B33E2-BCF3-468B-BEA4-6DF936C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4D6E5"/>
                </a:solidFill>
              </a:defRPr>
            </a:pPr>
            <a:r>
              <a:rPr sz="3450" b="1">
                <a:solidFill>
                  <a:srgbClr val="24D6E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2C418-52C6-4D9E-A70F-F6894993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667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33AA4-5D95-4E6B-B49B-BFE7D3F0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384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62F"/>
                </a:solidFill>
              </a:defRPr>
            </a:pPr>
            <a:r>
              <a:rPr sz="1875" b="1">
                <a:solidFill>
                  <a:srgbClr val="07162F"/>
                </a:solidFill>
              </a:rPr>
              <a:t>FakeProvider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E54D5-FFC8-4AC3-AF07-7D51914D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667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FF77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C8583-95B5-4039-816D-31D7AD43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148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OpenAI adapter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53D9F-80DE-485A-9B7C-EB62FAF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E59A"/>
                </a:solidFill>
              </a:defRPr>
            </a:pPr>
            <a:r>
              <a:rPr sz="1125" b="1">
                <a:solidFill>
                  <a:srgbClr val="65E59A"/>
                </a:solidFill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4AFAD-2FBF-4597-A4DB-1184097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625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75F"/>
                </a:solidFill>
              </a:defRPr>
            </a:pPr>
            <a:r>
              <a:rPr sz="1125" b="1">
                <a:solidFill>
                  <a:srgbClr val="FF775F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05FE2-6B02-4CAE-A592-C10E72AA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816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ECF3"/>
                </a:solidFill>
              </a:defRPr>
            </a:pPr>
            <a:r>
              <a:rPr sz="1500" b="1">
                <a:solidFill>
                  <a:srgbClr val="8CECF3"/>
                </a:solidFill>
              </a:rPr>
              <a:t>Protocol here means a Python structural interface—not a network protocol.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2477A-A85C-451D-B9BC-ED4D1EB3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D5AA2-ED44-4353-BD4D-9FB21A15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2749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0607D-B0CD-4889-A1E2-3E4DC46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02 • EXPLICIT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43F44-5EF1-4F2C-93FB-07D85A4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Streams arrive one observation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4BA45-7A08-4A62-A2FD-63E49A88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Six harness-owned variants replace unstructured vendor dictionaries.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02857-7625-44FA-A91C-AAAEF0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5000B-BCD5-4E4D-952E-D7ED7E4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24D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C9FDE-A8CA-4741-90D8-8CB7B2E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B3024-135E-4BEE-84AF-8B6B2012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text.delta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D936B-ADE4-4620-BC12-7392ADF9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24175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F6522-61E7-4AAB-8F1A-95DD8380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8"/>
                </a:solidFill>
              </a:defRPr>
            </a:pPr>
            <a:r>
              <a:rPr sz="1275" b="0">
                <a:solidFill>
                  <a:srgbClr val="9DB3C8"/>
                </a:solidFill>
              </a:rPr>
              <a:t>hel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AB45B-756C-492E-955F-F25BB447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33625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8CEC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5C2D4-BFAE-4253-AC08-CFEB9B0F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384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EC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460D2-7E00-4CFE-B024-BE840C35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241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text.completed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A8393-65AD-47F1-95BC-F7EDFB9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24175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260C6-2857-4DEF-8882-761445CF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8"/>
                </a:solidFill>
              </a:defRPr>
            </a:pPr>
            <a:r>
              <a:rPr sz="1275" b="0">
                <a:solidFill>
                  <a:srgbClr val="9DB3C8"/>
                </a:solidFill>
              </a:rPr>
              <a:t>hello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96E52-2375-4037-90BE-F4CA6057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34664-D584-4909-A2B3-2C281EF2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384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BE25C-9577-450B-924F-92A4F136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41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tool.call_requested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C42EB-2EA8-42B9-A472-A143625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24175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CF4A1-376B-4766-B573-425A8CF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8"/>
                </a:solidFill>
              </a:defRPr>
            </a:pPr>
            <a:r>
              <a:rPr sz="1275" b="0">
                <a:solidFill>
                  <a:srgbClr val="9DB3C8"/>
                </a:solidFill>
              </a:rPr>
              <a:t>{broken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E0EFA-F4DD-42CA-96BE-A5A7F54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65E5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B75EE-4B75-4D6D-9A44-FFDED1C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E6E71-E660-4CAE-A36C-742A4002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338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usage.reported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783A0-752C-4874-87C1-1BBDCAD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2F444-D2D8-486B-AAD2-D6027471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67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8"/>
                </a:solidFill>
              </a:defRPr>
            </a:pPr>
            <a:r>
              <a:rPr sz="1275" b="0">
                <a:solidFill>
                  <a:srgbClr val="9DB3C8"/>
                </a:solidFill>
              </a:rPr>
              <a:t>19 / 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DF6DC-BA38-4F1E-AAFE-91D11383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43325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0C8C0-2F0F-4AF9-B454-AE8666CA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48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F17F8-0254-42FF-BA5F-C2004EC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338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62F"/>
                </a:solidFill>
              </a:defRPr>
            </a:pPr>
            <a:r>
              <a:rPr sz="1275" b="1">
                <a:solidFill>
                  <a:srgbClr val="07162F"/>
                </a:solidFill>
              </a:rPr>
              <a:t>response.completed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ECF0C2-23C3-4066-A24A-D63008BC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33875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67E06-805D-45A5-8543-CF285565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467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62F"/>
                </a:solidFill>
              </a:defRPr>
            </a:pPr>
            <a:r>
              <a:rPr sz="1275" b="0">
                <a:solidFill>
                  <a:srgbClr val="07162F"/>
                </a:solidFill>
              </a:rPr>
              <a:t>normal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4801D-EAF0-466E-A60E-62ECFEF8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43325"/>
            <a:ext cx="327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FF77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93770-8C9D-4A87-BECA-6AD0F90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5D27F-5AAE-4308-9444-26820C72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338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response.failed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953E16-B575-4037-9667-1BAEDF2C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33875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8FFED-B9C7-4500-9F1C-72A28F6F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67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8"/>
                </a:solidFill>
              </a:defRPr>
            </a:pPr>
            <a:r>
              <a:rPr sz="1275" b="0">
                <a:solidFill>
                  <a:srgbClr val="9DB3C8"/>
                </a:solidFill>
              </a:rPr>
              <a:t>safe code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17450-C30B-4807-817A-86B8D0F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CECF3"/>
                </a:solidFill>
              </a:defRPr>
            </a:pPr>
            <a:r>
              <a:rPr sz="1650" b="1">
                <a:solidFill>
                  <a:srgbClr val="8CECF3"/>
                </a:solidFill>
              </a:rPr>
              <a:t>completed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116608-44CE-482D-8532-B1AC7703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625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775F"/>
                </a:solidFill>
              </a:defRPr>
            </a:pPr>
            <a:r>
              <a:rPr sz="2850" b="1">
                <a:solidFill>
                  <a:srgbClr val="FF775F"/>
                </a:solidFill>
              </a:rPr>
              <a:t>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70988F-9DB9-45DD-BBAE-52303D8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863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operation 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2432C-E500-4978-8FA7-B9F1A37C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48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D166"/>
                </a:solidFill>
              </a:defRPr>
            </a:pPr>
            <a:r>
              <a:rPr sz="1425" b="0">
                <a:solidFill>
                  <a:srgbClr val="FFD166"/>
                </a:solidFill>
              </a:rPr>
              <a:t>Tool arguments stay serialized. Malformed JSON is representable—but never executed here.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36A481-824A-4546-910E-DB29BD2B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FFCA27-72FB-4EF0-9F2E-42ECA0E4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393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33C49-8A02-4CF8-BB32-83D3FD1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03 • ASYNC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7FE9A-D22D-4ED6-AF91-8A46E121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Async iteration lets the terminal keep breathing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C1237-C604-4B24-8ECB-07D7422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Awaiting the next provider event pauses one task, not the whole event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41BAE-359E-42C7-ABBC-97F4919A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9AD6E-B383-420B-B8A6-E165117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93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89C8A-CDE8-4454-A88E-7492B6DB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857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3C593-1876-4F47-8AC0-F502B396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44386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7E8"/>
                </a:solidFill>
              </a:defRPr>
            </a:pPr>
            <a:r>
              <a:rPr sz="1500" b="0">
                <a:solidFill>
                  <a:srgbClr val="FFF7E8"/>
                </a:solidFill>
              </a:rPr>
              <a:t>events = operation.events()</a:t>
            </a:r>
          </a:p>
          <a:p xmlns:a="http://schemas.openxmlformats.org/drawingml/2006/main">
            <a:pPr algn="l">
              <a:defRPr sz="1500" b="0">
                <a:solidFill>
                  <a:srgbClr val="FFF7E8"/>
                </a:solidFill>
              </a:defRPr>
            </a:pPr>
            <a:r>
              <a:rPr sz="1500" b="0">
                <a:solidFill>
                  <a:srgbClr val="FFF7E8"/>
                </a:solidFill>
              </a:rPr>
              <a:t>first = await anext(events)</a:t>
            </a:r>
          </a:p>
          <a:p xmlns:a="http://schemas.openxmlformats.org/drawingml/2006/main">
            <a:pPr algn="l">
              <a:defRPr sz="1500" b="0">
                <a:solidFill>
                  <a:srgbClr val="FFF7E8"/>
                </a:solidFill>
              </a:defRPr>
            </a:pPr>
            <a:r>
              <a:rPr sz="1500" b="0">
                <a:solidFill>
                  <a:srgbClr val="FFF7E8"/>
                </a:solidFill>
              </a:rPr>
              <a:t>second = await anext(events)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7E8"/>
                </a:solidFill>
              </a:defRPr>
            </a:pPr>
            <a:r>
              <a:rPr sz="1500" b="0">
                <a:solidFill>
                  <a:srgbClr val="FFF7E8"/>
                </a:solidFill>
              </a:rPr>
              <a:t>async for event in events:</a:t>
            </a:r>
          </a:p>
          <a:p xmlns:a="http://schemas.openxmlformats.org/drawingml/2006/main">
            <a:pPr algn="l">
              <a:defRPr sz="1500" b="0">
                <a:solidFill>
                  <a:srgbClr val="FFF7E8"/>
                </a:solidFill>
              </a:defRPr>
            </a:pPr>
            <a:r>
              <a:rPr sz="1500" b="0">
                <a:solidFill>
                  <a:srgbClr val="FFF7E8"/>
                </a:solidFill>
              </a:rPr>
              <a:t>    handle(event)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4C5F7-15B8-4841-B073-804F87F3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66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DB3C8"/>
                </a:solidFill>
              </a:defRPr>
            </a:pPr>
            <a:r>
              <a:rPr sz="1650" b="1">
                <a:solidFill>
                  <a:srgbClr val="9DB3C8"/>
                </a:solidFill>
              </a:rPr>
              <a:t>EVENT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EFFB2-E165-4E19-9CE9-65CFEB55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14650"/>
            <a:ext cx="4286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9525">
            <a:solidFill>
              <a:srgbClr val="24D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A80E3-0BBB-40A7-8021-66A64EBC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62F"/>
                </a:solidFill>
              </a:defRPr>
            </a:pPr>
            <a:r>
              <a:rPr sz="1650" b="1">
                <a:solidFill>
                  <a:srgbClr val="07162F"/>
                </a:solidFill>
              </a:rPr>
              <a:t>provider task awaits anext(…)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37F36-A652-4822-AFAA-1178A5E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05275"/>
            <a:ext cx="4286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E1BAA-EC33-4242-A2A5-93F4DA8B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terminal task can read Escape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1D914-A150-40C5-90D5-AB3EAA06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95700"/>
            <a:ext cx="57150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FBE8D-58B8-42C5-94A7-0BEC38DB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775F"/>
                </a:solidFill>
              </a:defRPr>
            </a:pPr>
            <a:r>
              <a:rPr sz="1575" b="1">
                <a:solidFill>
                  <a:srgbClr val="FF775F"/>
                </a:solidFill>
              </a:rPr>
              <a:t>Common trap: await is cooperative pause—not “freeze the program.”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19171-2C7F-4215-AF62-4BC0FDC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9A0A1-6282-4FBC-8491-600A43BA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0764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3FAFC7-785D-49AB-A54B-19F78F50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04 • PROGRAMMABLE FAKE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F84D6-BBBF-4BA2-AD26-6174597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This fake is a script with teeth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C3749-9D77-4CD3-828F-F8FF5E0F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It checks what the loop asked for—and whether the loop finished consuming the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6C16A-63B0-4B87-90B1-81685437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14BA0-201F-4770-87BC-CCB6E3A5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480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DB3C8"/>
                </a:solidFill>
              </a:defRPr>
            </a:pPr>
            <a:r>
              <a:rPr sz="3450" b="1">
                <a:solidFill>
                  <a:srgbClr val="9DB3C8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53AFB-99AD-4373-85C7-4C62C44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A704C-B9DC-4CEF-8F52-715F805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D6E5"/>
                </a:solidFill>
              </a:defRPr>
            </a:pPr>
            <a:r>
              <a:rPr sz="1650" b="1">
                <a:solidFill>
                  <a:srgbClr val="24D6E5"/>
                </a:solidFill>
              </a:rPr>
              <a:t>EXPECT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96FD0-53B5-4157-8662-B7AF5A3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exact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A8A7D-0422-4D55-8715-9C126865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480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DB3C8"/>
                </a:solidFill>
              </a:defRPr>
            </a:pPr>
            <a:r>
              <a:rPr sz="3450" b="1">
                <a:solidFill>
                  <a:srgbClr val="9DB3C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480C8-4CF7-49B3-9E4C-0E19E23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EC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BE949-A557-4757-8813-B340534C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90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CECF3"/>
                </a:solidFill>
              </a:defRPr>
            </a:pPr>
            <a:r>
              <a:rPr sz="1650" b="1">
                <a:solidFill>
                  <a:srgbClr val="8CECF3"/>
                </a:solidFill>
              </a:rPr>
              <a:t>EMIT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D362F-DB80-4F83-858C-856B129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57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first delta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E9E74-EAEA-4839-A062-A6B046E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480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DB3C8"/>
                </a:solidFill>
              </a:defRPr>
            </a:pPr>
            <a:r>
              <a:rPr sz="3450" b="1">
                <a:solidFill>
                  <a:srgbClr val="9DB3C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11C6F-A172-460C-87BC-AA4ACB39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DC4F5-00D2-4832-B477-FFE425A0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90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PAUSE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8F8A9-5D11-4E71-BED0-053CD6F0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57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cancellation 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E6A17-4D57-4456-9512-49419D4A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480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DB3C8"/>
                </a:solidFill>
              </a:defRPr>
            </a:pPr>
            <a:r>
              <a:rPr sz="3450" b="1">
                <a:solidFill>
                  <a:srgbClr val="9DB3C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B426E-8565-416C-A086-46F15DCB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F037F-CFD3-4A93-BCD3-E00464C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90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75F"/>
                </a:solidFill>
              </a:defRPr>
            </a:pPr>
            <a:r>
              <a:rPr sz="1650" b="1">
                <a:solidFill>
                  <a:srgbClr val="FF775F"/>
                </a:solidFill>
              </a:rPr>
              <a:t>CANCEL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1684B-D833-4BB4-8F68-9685B5E9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57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CB0CD-22CF-46EF-A856-B05DBB3D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62F"/>
                </a:solidFill>
              </a:defRPr>
            </a:pPr>
            <a:r>
              <a:rPr sz="1725" b="1">
                <a:solidFill>
                  <a:srgbClr val="07162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06235-2AF2-4EF0-9C49-82BC8C7B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390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5E59A"/>
                </a:solidFill>
              </a:defRPr>
            </a:pPr>
            <a:r>
              <a:rPr sz="1650" b="1">
                <a:solidFill>
                  <a:srgbClr val="65E59A"/>
                </a:solidFill>
              </a:rP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661BD-3B9F-4CAE-B60F-C97101F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857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all consumed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5F176-E455-4DE5-9414-D229606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7429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93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D0BE1-3B4C-4EB1-8257-D41D492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7429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86E24-8D0B-479D-A5E9-94B184F2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00575"/>
            <a:ext cx="701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FakeProviderExchange(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    expected_request=request,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    steps=(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        FakeProviderEmit(ProviderTextDelta("first")),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        FakeProviderWaitForCancellation("between-deltas"),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        FakeProviderEmit(ProviderTextDelta("must-not-appear")),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    ),</a:t>
            </a:r>
          </a:p>
          <a:p xmlns:a="http://schemas.openxmlformats.org/drawingml/2006/main">
            <a:pPr algn="l">
              <a:defRPr sz="1200" b="0">
                <a:solidFill>
                  <a:srgbClr val="FFF7E8"/>
                </a:solidFill>
              </a:defRPr>
            </a:pPr>
            <a:r>
              <a:rPr sz="1200" b="0">
                <a:solidFill>
                  <a:srgbClr val="FFF7E8"/>
                </a:solidFill>
              </a:rPr>
              <a:t>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409D07-C269-4D15-B5EA-DE9CCD70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33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775F"/>
                </a:solidFill>
              </a:defRPr>
            </a:pPr>
            <a:r>
              <a:rPr sz="2175" b="1">
                <a:solidFill>
                  <a:srgbClr val="FF775F"/>
                </a:solidFill>
              </a:rPr>
              <a:t>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3A730-D41B-4113-B207-DDB0DE6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33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775F"/>
                </a:solidFill>
              </a:defRPr>
            </a:pPr>
            <a:r>
              <a:rPr sz="2175" b="1">
                <a:solidFill>
                  <a:srgbClr val="FF775F"/>
                </a:solidFill>
              </a:rPr>
              <a:t>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EB3C4-A9EA-42B0-A07C-10FBB78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43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775F"/>
                </a:solidFill>
              </a:defRPr>
            </a:pPr>
            <a:r>
              <a:rPr sz="2175" b="1">
                <a:solidFill>
                  <a:srgbClr val="FF775F"/>
                </a:solidFill>
              </a:rPr>
              <a:t>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B4D62-5F3B-4F24-8787-BE68FEAF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B1B37-7823-4FFF-A4D1-54D4C731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8085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EEBC2-3065-4A52-9BE0-07B65792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05 • CLEANUP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5112C-02E0-422F-98C0-4241C688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Cancellation is cleanup, not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D381E-5D89-4525-B7AC-1D4524B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The caller owns intent; the provider owns stopping its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ACB13-4043-4B1E-B754-E447A63A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344DA-CF0E-498A-BF7F-5E74673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75F"/>
                </a:solidFill>
              </a:defRPr>
            </a:pPr>
            <a:r>
              <a:rPr sz="1500" b="1">
                <a:solidFill>
                  <a:srgbClr val="FF775F"/>
                </a:solidFill>
              </a:rPr>
              <a:t>PROVIDER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29B89-E385-4345-95F9-0C879EA5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FF77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9B00F-526C-4E97-8E63-F05C6F8F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765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7E8"/>
                </a:solidFill>
              </a:defRPr>
            </a:pPr>
            <a:r>
              <a:rPr sz="1500" b="1">
                <a:solidFill>
                  <a:srgbClr val="FFF7E8"/>
                </a:solidFill>
              </a:rPr>
              <a:t>ProviderFailed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D9139-DAC6-4D7C-95CC-4DDCE4F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33337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162F"/>
          </a:solidFill>
          <a:ln xmlns:a="http://schemas.openxmlformats.org/drawingml/2006/main" w="9525">
            <a:solidFill>
              <a:srgbClr val="FF77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A4820-F42D-46D7-A4E2-D806DCF3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04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ProviderFailure</a:t>
            </a:r>
          </a:p>
          <a:p xmlns:a="http://schemas.openxmlformats.org/drawingml/2006/main">
            <a:pPr algn="ctr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code • safe message • retryable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55A38-80A0-4770-B872-D9872BB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622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D6E5"/>
                </a:solidFill>
              </a:defRPr>
            </a:pPr>
            <a:r>
              <a:rPr sz="1500" b="1">
                <a:solidFill>
                  <a:srgbClr val="24D6E5"/>
                </a:solidFill>
              </a:rPr>
              <a:t>CALLER CANCELLATION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07E23-5F0D-4BD4-A5C9-1E0BB14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14650"/>
            <a:ext cx="40957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9525">
            <a:solidFill>
              <a:srgbClr val="24D6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4F5C5-00E5-400F-8539-386FF375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7660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62F"/>
                </a:solidFill>
              </a:defRPr>
            </a:pPr>
            <a:r>
              <a:rPr sz="1500" b="1">
                <a:solidFill>
                  <a:srgbClr val="07162F"/>
                </a:solidFill>
              </a:rPr>
              <a:t>await operation.cancel()</a:t>
            </a:r>
          </a:p>
          <a:p xmlns:a="http://schemas.openxmlformats.org/drawingml/2006/main">
            <a:pPr algn="ctr">
              <a:defRPr sz="1500" b="1">
                <a:solidFill>
                  <a:srgbClr val="07162F"/>
                </a:solidFill>
              </a:defRPr>
            </a:pPr>
            <a:r>
              <a:rPr sz="1500" b="1">
                <a:solidFill>
                  <a:srgbClr val="07162F"/>
                </a:solidFill>
              </a:rPr>
              <a:t>→ stream closed</a:t>
            </a:r>
          </a:p>
          <a:p xmlns:a="http://schemas.openxmlformats.org/drawingml/2006/main">
            <a:pPr algn="ctr">
              <a:defRPr sz="1500" b="1">
                <a:solidFill>
                  <a:srgbClr val="07162F"/>
                </a:solidFill>
              </a:defRPr>
            </a:pPr>
            <a:r>
              <a:rPr sz="1500" b="1">
                <a:solidFill>
                  <a:srgbClr val="07162F"/>
                </a:solidFill>
              </a:rPr>
              <a:t>→ cleanup 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6A150-2AEA-4B4E-AEC0-27E67A1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91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D166"/>
                </a:solidFill>
              </a:defRPr>
            </a:pPr>
            <a:r>
              <a:rPr sz="3900" b="1">
                <a:solidFill>
                  <a:srgbClr val="FFD166"/>
                </a:solidFill>
              </a:rPr>
              <a:t>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D6CB5-5F30-477A-8410-8CEAADF8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93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D8BB7-F876-4972-B476-6D29BD1F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E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276C7-21D9-4F01-915C-1FD2BB4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81575"/>
            <a:ext cx="7391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Once cancel() returns: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• the iterator is closed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• provider resources are released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• no later event may be yielded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wait_closed() observes closure; it does not request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C462D-AE87-4904-AC31-9215A911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480DE-4D1C-4DE1-873F-EE974481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4055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42B38-5763-4658-8A30-257195C0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06 • RACE-FREE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8ED7F-04BE-42FC-8C57-F80F8338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No sleep. No race. The test chooses the moment.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D5326-2FA7-424C-B6EC-68FA5416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A named checkpoint makes “between deltas” an exact state, not a timing guess.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109F-47E7-4293-B426-011A02A1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C778A-B4BC-49D3-8261-37F40AAD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D6E5"/>
                </a:solidFill>
              </a:defRPr>
            </a:pPr>
            <a:r>
              <a:rPr sz="1500" b="1">
                <a:solidFill>
                  <a:srgbClr val="24D6E5"/>
                </a:solidFill>
              </a:rPr>
              <a:t>delta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FC4C-7D8C-4EBB-986B-78AC0FE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2238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3396F-5E5D-4A02-916C-E42E5D5E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23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DB3C8"/>
                </a:solidFill>
              </a:defRPr>
            </a:pPr>
            <a:r>
              <a:rPr sz="1125" b="0">
                <a:solidFill>
                  <a:srgbClr val="9DB3C8"/>
                </a:solidFill>
              </a:rPr>
              <a:t>accepted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7B5A8-0F21-43DD-B3FF-49B48A18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A6782-171A-4448-BA3B-F5B63102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432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D166"/>
                </a:solidFill>
              </a:defRPr>
            </a:pPr>
            <a:r>
              <a:rPr sz="3300" b="1">
                <a:solidFill>
                  <a:srgbClr val="FFD166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4F317-AD5A-4FDA-B171-2A0907B9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90875"/>
            <a:ext cx="1952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3AA25-9E80-49B2-99DB-C5B4B82E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75F"/>
                </a:solidFill>
              </a:defRPr>
            </a:pPr>
            <a:r>
              <a:rPr sz="1500" b="1">
                <a:solidFill>
                  <a:srgbClr val="FF775F"/>
                </a:solidFill>
              </a:rPr>
              <a:t>cancel()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1D737-6385-4165-B96E-8A6F3A3D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775F"/>
                </a:solidFill>
              </a:defRPr>
            </a:pPr>
            <a:r>
              <a:rPr sz="2925" b="1">
                <a:solidFill>
                  <a:srgbClr val="FF775F"/>
                </a:solidFill>
              </a:rPr>
              <a:t>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C37D8-176D-4762-9489-09B6E2D7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DB3C8"/>
                </a:solidFill>
              </a:defRPr>
            </a:pPr>
            <a:r>
              <a:rPr sz="1500" b="1">
                <a:solidFill>
                  <a:srgbClr val="9DB3C8"/>
                </a:solidFill>
              </a:rPr>
              <a:t>delta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96A3D-7646-4DF5-A3EB-2112FDE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90875"/>
            <a:ext cx="2190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5C450-DA47-4753-A878-16B4040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623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75F"/>
                </a:solidFill>
              </a:defRPr>
            </a:pPr>
            <a:r>
              <a:rPr sz="1125" b="1">
                <a:solidFill>
                  <a:srgbClr val="FF775F"/>
                </a:solidFill>
              </a:rPr>
              <a:t>suppressed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96DA2-7389-498E-8177-326B8E5D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7175"/>
            <a:ext cx="87630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93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38008-B42C-4F29-8892-67F8D2B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7175"/>
            <a:ext cx="876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17966-9559-46DE-8AFE-A346A436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83439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assert await anext(events) == ProviderTextDelta("first")</a:t>
            </a:r>
          </a:p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pending = asyncio.create_task(anext(events))</a:t>
            </a:r>
          </a:p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await operation.wait_for_checkpoint("between-deltas")</a:t>
            </a:r>
          </a:p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assert await operation.cancel() == "cancelled"</a:t>
            </a:r>
          </a:p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with pytest.raises(StopAsyncIteration):</a:t>
            </a:r>
          </a:p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    await pending</a:t>
            </a:r>
          </a:p>
          <a:p xmlns:a="http://schemas.openxmlformats.org/drawingml/2006/main">
            <a:pPr algn="l">
              <a:defRPr sz="1350" b="0">
                <a:solidFill>
                  <a:srgbClr val="FFF7E8"/>
                </a:solidFill>
              </a:defRPr>
            </a:pPr>
            <a:r>
              <a:rPr sz="1350" b="0">
                <a:solidFill>
                  <a:srgbClr val="FFF7E8"/>
                </a:solidFill>
              </a:rPr>
              <a:t>fake.assert_complete()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BBF17-FAB8-4A0F-994B-8203C4A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8388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CECF3"/>
                </a:solidFill>
              </a:defRPr>
            </a:pPr>
            <a:r>
              <a:rPr sz="1125" b="1">
                <a:solidFill>
                  <a:srgbClr val="8CECF3"/>
                </a:solidFill>
              </a:rPr>
              <a:t>No stopwatch required.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8F66A-DAC4-49B9-9845-8362A136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42CCA-7274-4BF4-885A-4683E92F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1963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88389A-0859-45E4-9C17-393F53A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07 • FAIL LOUDLY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E992A-75F6-44D0-89FD-2468FC7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Strictness makes quiet bugs 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EF80-8D41-4BF5-B62D-EDE2333C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A partial script never earns a green test by accident.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94FEC-9BF2-4B01-A331-256E36AF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36534-E7F1-4A72-A11F-1061D617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775F"/>
                </a:solidFill>
              </a:defRPr>
            </a:pPr>
            <a:r>
              <a:rPr sz="4350" b="1">
                <a:solidFill>
                  <a:srgbClr val="FF775F"/>
                </a:solidFill>
              </a:rPr>
              <a:t>MISMATCH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A7C6B-A667-4ACB-8944-F1D6504C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7E8"/>
                </a:solidFill>
              </a:defRPr>
            </a:pPr>
            <a:r>
              <a:rPr sz="1650" b="0">
                <a:solidFill>
                  <a:srgbClr val="FFF7E8"/>
                </a:solidFill>
              </a:rPr>
              <a:t>request 1 differed at</a:t>
            </a:r>
          </a:p>
          <a:p xmlns:a="http://schemas.openxmlformats.org/drawingml/2006/main">
            <a:pPr algn="l">
              <a:defRPr sz="1650" b="0">
                <a:solidFill>
                  <a:srgbClr val="FFF7E8"/>
                </a:solidFill>
              </a:defRPr>
            </a:pPr>
            <a:r>
              <a:rPr sz="1650" b="0">
                <a:solidFill>
                  <a:srgbClr val="FFF7E8"/>
                </a:solidFill>
              </a:rPr>
              <a:t>conversation[0].content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9FE1D-434C-41D4-A65C-EC24A40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CECF3"/>
                </a:solidFill>
              </a:defRPr>
            </a:pPr>
            <a:r>
              <a:rPr sz="1425" b="1">
                <a:solidFill>
                  <a:srgbClr val="8CECF3"/>
                </a:solidFill>
              </a:rPr>
              <a:t>Field path only.</a:t>
            </a:r>
          </a:p>
          <a:p xmlns:a="http://schemas.openxmlformats.org/drawingml/2006/main">
            <a:pPr algn="l">
              <a:defRPr sz="1425" b="1">
                <a:solidFill>
                  <a:srgbClr val="8CECF3"/>
                </a:solidFill>
              </a:defRPr>
            </a:pPr>
            <a:r>
              <a:rPr sz="1425" b="1">
                <a:solidFill>
                  <a:srgbClr val="8CECF3"/>
                </a:solidFill>
              </a:rPr>
              <a:t>No task text. No token. No payload dump.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B799B-B7C0-4CCE-A092-86D6B50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5334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04101F"/>
          </a:solidFill>
          <a:ln xmlns:a="http://schemas.openxmlformats.org/drawingml/2006/main" w="9525">
            <a:solidFill>
              <a:srgbClr val="193C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D1FBA-291C-427E-8913-E8CCC174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5334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3C1A3-B1CC-4AAE-A222-7886239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49149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for operation in self._operations: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  failure = operation.verification_failure()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  if failure is not None: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      raise FakeProviderMismatch(failure)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if self._next_exchange_index &lt; len(self._exchanges):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  raise FakeProviderMismatch(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      "expected request was never started"</a:t>
            </a:r>
          </a:p>
          <a:p xmlns:a="http://schemas.openxmlformats.org/drawingml/2006/main">
            <a:pPr algn="l">
              <a:defRPr sz="1275" b="0">
                <a:solidFill>
                  <a:srgbClr val="FFF7E8"/>
                </a:solidFill>
              </a:defRPr>
            </a:pPr>
            <a:r>
              <a:rPr sz="1275" b="0">
                <a:solidFill>
                  <a:srgbClr val="FFF7E8"/>
                </a:solidFill>
              </a:rPr>
              <a:t>    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3BF78-B6B4-4EAF-ACA5-96D5FB8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2190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CACF8-B82D-4024-9A4B-F872EC0D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05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EXTRA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4136B-EC07-4D44-B776-91C21EEE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1BDF9-35CD-4EEF-91FF-3E4DEAF1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054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F"/>
                </a:solidFill>
              </a:defRPr>
            </a:pPr>
            <a:r>
              <a:rPr sz="1050" b="1">
                <a:solidFill>
                  <a:srgbClr val="07162F"/>
                </a:solidFill>
              </a:rPr>
              <a:t>OMITTED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B104F-85E1-4A77-BA7D-45F74D02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38800"/>
            <a:ext cx="2724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631E5-5FD4-4611-B87E-48AA3B2F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7054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62F"/>
                </a:solidFill>
              </a:defRPr>
            </a:pPr>
            <a:r>
              <a:rPr sz="1050" b="1">
                <a:solidFill>
                  <a:srgbClr val="07162F"/>
                </a:solidFill>
              </a:rPr>
              <a:t>UNCONSUMED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B9A50-7D47-4138-9C1B-8005BCC2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DF16C-3CC5-4BD5-B810-587E7971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3263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89140A-6547-42F4-BD8E-94D1384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08 •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CC6A-0BF7-4110-A723-771C4F5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boundary is shipped; the model turn is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1AEC4-AAF8-4645-B104-EF799B5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CAH-020 installs the socket. CAH-021 will plug it into the runtime.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69C20-F462-45DA-AD97-2D85810C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A5971-F597-4D32-972D-4DD53392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E59A"/>
                </a:solidFill>
              </a:defRPr>
            </a:pPr>
            <a:r>
              <a:rPr sz="1650" b="1">
                <a:solidFill>
                  <a:srgbClr val="65E59A"/>
                </a:solidFill>
              </a:rPr>
              <a:t>SOCKET INSTALLED 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10AB4-2502-4E34-98DD-9705A5F0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CAH-020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79821-07C8-42E1-810F-B8497F8F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7E8"/>
                </a:solidFill>
              </a:defRPr>
            </a:pPr>
            <a:r>
              <a:rPr sz="1575" b="0">
                <a:solidFill>
                  <a:srgbClr val="FFF7E8"/>
                </a:solidFill>
              </a:rPr>
              <a:t>• frozen request + event values</a:t>
            </a:r>
          </a:p>
          <a:p xmlns:a="http://schemas.openxmlformats.org/drawingml/2006/main">
            <a:pPr algn="l">
              <a:defRPr sz="1575" b="0">
                <a:solidFill>
                  <a:srgbClr val="FFF7E8"/>
                </a:solidFill>
              </a:defRPr>
            </a:pPr>
            <a:r>
              <a:rPr sz="1575" b="0">
                <a:solidFill>
                  <a:srgbClr val="FFF7E8"/>
                </a:solidFill>
              </a:rPr>
              <a:t>• Provider / ProviderOperation port</a:t>
            </a:r>
          </a:p>
          <a:p xmlns:a="http://schemas.openxmlformats.org/drawingml/2006/main">
            <a:pPr algn="l">
              <a:defRPr sz="1575" b="0">
                <a:solidFill>
                  <a:srgbClr val="FFF7E8"/>
                </a:solidFill>
              </a:defRPr>
            </a:pPr>
            <a:r>
              <a:rPr sz="1575" b="0">
                <a:solidFill>
                  <a:srgbClr val="FFF7E8"/>
                </a:solidFill>
              </a:rPr>
              <a:t>• programmable strict fake</a:t>
            </a:r>
          </a:p>
          <a:p xmlns:a="http://schemas.openxmlformats.org/drawingml/2006/main">
            <a:pPr algn="l">
              <a:defRPr sz="1575" b="0">
                <a:solidFill>
                  <a:srgbClr val="FFF7E8"/>
                </a:solidFill>
              </a:defRPr>
            </a:pPr>
            <a:r>
              <a:rPr sz="1575" b="0">
                <a:solidFill>
                  <a:srgbClr val="FFF7E8"/>
                </a:solidFill>
              </a:rPr>
              <a:t>• deterministic delay + cancellation</a:t>
            </a:r>
          </a:p>
          <a:p xmlns:a="http://schemas.openxmlformats.org/drawingml/2006/main">
            <a:pPr algn="l">
              <a:defRPr sz="1575" b="0">
                <a:solidFill>
                  <a:srgbClr val="FFF7E8"/>
                </a:solidFill>
              </a:defRPr>
            </a:pPr>
            <a:r>
              <a:rPr sz="1575" b="0">
                <a:solidFill>
                  <a:srgbClr val="FFF7E8"/>
                </a:solidFill>
              </a:rPr>
              <a:t>• no SDK, API key, or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8A562-F2E9-4A31-9F25-D1FC2148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486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D166"/>
                </a:solidFill>
              </a:defRPr>
            </a:pPr>
            <a:r>
              <a:rPr sz="3450" b="1">
                <a:solidFill>
                  <a:srgbClr val="FFD16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FBE07-82C9-440B-AC77-3053C30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E2A4D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9947D-D6B5-4461-A0BF-18327E0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336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NEXT: CAH-021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0A782-5C92-4391-948F-A75EFE86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Complete one model 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3E6AC-DC00-42A9-94ED-1E818F72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291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DB3C8"/>
                </a:solidFill>
              </a:defRPr>
            </a:pPr>
            <a:r>
              <a:rPr sz="1500" b="0">
                <a:solidFill>
                  <a:srgbClr val="9DB3C8"/>
                </a:solidFill>
              </a:rPr>
              <a:t>map provider events</a:t>
            </a:r>
          </a:p>
          <a:p xmlns:a="http://schemas.openxmlformats.org/drawingml/2006/main">
            <a:pPr algn="ctr">
              <a:defRPr sz="1500" b="0">
                <a:solidFill>
                  <a:srgbClr val="9DB3C8"/>
                </a:solidFill>
              </a:defRPr>
            </a:pPr>
            <a:r>
              <a:rPr sz="1500" b="0">
                <a:solidFill>
                  <a:srgbClr val="9DB3C8"/>
                </a:solidFill>
              </a:rPr>
              <a:t>→ ordered session events</a:t>
            </a:r>
          </a:p>
          <a:p xmlns:a="http://schemas.openxmlformats.org/drawingml/2006/main">
            <a:pPr algn="ctr">
              <a:defRPr sz="1500" b="0">
                <a:solidFill>
                  <a:srgbClr val="9DB3C8"/>
                </a:solidFill>
              </a:defRPr>
            </a:pPr>
            <a:r>
              <a:rPr sz="1500" b="0">
                <a:solidFill>
                  <a:srgbClr val="9DB3C8"/>
                </a:solidFill>
              </a:rPr>
              <a:t>→ transcript + terminal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9DB3C8"/>
                </a:solidFill>
              </a:defRPr>
            </a:pPr>
            <a:r>
              <a:rPr sz="1500" b="0">
                <a:solidFill>
                  <a:srgbClr val="9DB3C8"/>
                </a:solidFill>
              </a:rPr>
              <a:t>add the OpenAI adapter</a:t>
            </a:r>
          </a:p>
          <a:p xmlns:a="http://schemas.openxmlformats.org/drawingml/2006/main">
            <a:pPr algn="ctr">
              <a:defRPr sz="1500" b="0">
                <a:solidFill>
                  <a:srgbClr val="9DB3C8"/>
                </a:solidFill>
              </a:defRPr>
            </a:pPr>
            <a:r>
              <a:rPr sz="1500" b="0">
                <a:solidFill>
                  <a:srgbClr val="9DB3C8"/>
                </a:solidFill>
              </a:rPr>
              <a:t>behind the same 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E940B-81B0-4596-A1C9-8E405CA6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531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75F"/>
                </a:solidFill>
              </a:defRPr>
            </a:pPr>
            <a:r>
              <a:rPr sz="1350" b="1">
                <a:solidFill>
                  <a:srgbClr val="FF775F"/>
                </a:solidFill>
              </a:rPr>
              <a:t>Current TUI still uses MockSession.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AEF7D-882B-4B06-9A7C-323A63BB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PROVIDER INTERFACE + FAKE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41942-E1C8-419C-946A-0AE6916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1385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0C5E31-A1FC-475F-AF7B-34A83289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D6E5"/>
                </a:solidFill>
              </a:defRPr>
            </a:pPr>
            <a:r>
              <a:rPr sz="1125" b="1">
                <a:solidFill>
                  <a:srgbClr val="24D6E5"/>
                </a:solidFill>
              </a:rPr>
              <a:t>09 • APPLY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8FC21-0268-466F-891B-2F00A67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socket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21A7D-F311-43F1-B3AB-6E847B04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DB3C8"/>
                </a:solidFill>
              </a:defRPr>
            </a:pPr>
            <a:r>
              <a:rPr sz="1425" b="0">
                <a:solidFill>
                  <a:srgbClr val="9DB3C8"/>
                </a:solidFill>
              </a:rPr>
              <a:t>A narrow boundary is easier to teach, test, replace, and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AEE22-9CC0-46D1-915E-E60B4A4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3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87482-6EE8-42F8-9DD7-CC5C3935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6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62F"/>
                </a:solidFill>
              </a:defRPr>
            </a:pPr>
            <a:r>
              <a:rPr sz="2550" b="1">
                <a:solidFill>
                  <a:srgbClr val="07162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15E07-230D-4615-89CD-15EB6EAB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384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Own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52FE3-BC56-4BF7-996D-47D6DDC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05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3C8"/>
                </a:solidFill>
              </a:defRPr>
            </a:pPr>
            <a:r>
              <a:rPr sz="1350" b="0">
                <a:solidFill>
                  <a:srgbClr val="9DB3C8"/>
                </a:solidFill>
              </a:rPr>
              <a:t>Requests and events describe harness concepts.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D6638-A111-4157-9FA7-64DDAFA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62F"/>
                </a:solidFill>
              </a:defRPr>
            </a:pPr>
            <a:r>
              <a:rPr sz="2550" b="1">
                <a:solidFill>
                  <a:srgbClr val="07162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7512F-7974-41A0-8A67-37B0FF59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338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Control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F41E0-3EF3-458C-9814-875B5A69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005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3C8"/>
                </a:solidFill>
              </a:defRPr>
            </a:pPr>
            <a:r>
              <a:rPr sz="1350" b="0">
                <a:solidFill>
                  <a:srgbClr val="9DB3C8"/>
                </a:solidFill>
              </a:rPr>
              <a:t>Named gates beat wall-clock sleeps.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478D1-F102-464A-847E-B80971C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7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D87F0-6A4C-4254-80CE-60D059CA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292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Verify the stop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C45EA-9CDD-4572-A502-F8B4ABF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95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3C8"/>
                </a:solidFill>
              </a:defRPr>
            </a:pPr>
            <a:r>
              <a:rPr sz="1350" b="0">
                <a:solidFill>
                  <a:srgbClr val="9DB3C8"/>
                </a:solidFill>
              </a:rPr>
              <a:t>A green prefix is not a complete interaction.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7D2F0-7190-4228-9E10-C3234E38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4767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F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76813-D3DB-498F-BF42-AA4D7236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75F"/>
                </a:solidFill>
              </a:defRPr>
            </a:pPr>
            <a:r>
              <a:rPr sz="1425" b="1">
                <a:solidFill>
                  <a:srgbClr val="FF775F"/>
                </a:solidFill>
              </a:rPr>
              <a:t>YOUR 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38550-6BEB-4DF9-AFF5-21F1F198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352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62F"/>
                </a:solidFill>
              </a:defRPr>
            </a:pPr>
            <a:r>
              <a:rPr sz="2250" b="1">
                <a:solidFill>
                  <a:srgbClr val="07162F"/>
                </a:solidFill>
              </a:rPr>
              <a:t>Script one delta,</a:t>
            </a:r>
          </a:p>
          <a:p xmlns:a="http://schemas.openxmlformats.org/drawingml/2006/main">
            <a:pPr algn="ctr">
              <a:defRPr sz="2250" b="1">
                <a:solidFill>
                  <a:srgbClr val="07162F"/>
                </a:solidFill>
              </a:defRPr>
            </a:pPr>
            <a:r>
              <a:rPr sz="2250" b="1">
                <a:solidFill>
                  <a:srgbClr val="07162F"/>
                </a:solidFill>
              </a:rPr>
              <a:t>then cancel before the second.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09EA9-A69F-43BE-818D-F6C6665E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387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62F"/>
                </a:solidFill>
              </a:defRPr>
            </a:pPr>
            <a:r>
              <a:rPr sz="1500" b="0">
                <a:solidFill>
                  <a:srgbClr val="07162F"/>
                </a:solidFill>
              </a:rPr>
              <a:t>Can your test prove that no later event escaped?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63221-B4AA-425F-BF9B-6BF11BF8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3C8"/>
                </a:solidFill>
              </a:defRPr>
            </a:pPr>
            <a:r>
              <a:rPr sz="825" b="1">
                <a:solidFill>
                  <a:srgbClr val="9DB3C8"/>
                </a:solidFill>
              </a:rPr>
              <a:t>CAH-020 • THE HARNESS OWNS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AD867-DE8A-47D6-9CC3-208332E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389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D6E5"/>
                </a:solidFill>
              </a:defRPr>
            </a:pPr>
            <a:r>
              <a:rPr sz="975" b="1">
                <a:solidFill>
                  <a:srgbClr val="24D6E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1278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2026-07-31T15:22:17.3070000Z</dcterms:created>
  <dcterms:modified xsi:type="dcterms:W3CDTF">2026-07-31T15:22:17.3070000Z</dcterms:modified>
</coreProperties>
</file>