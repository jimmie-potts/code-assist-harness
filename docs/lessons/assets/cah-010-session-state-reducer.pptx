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df7a9be9fe4608" /><Relationship Type="http://schemas.openxmlformats.org/officeDocument/2006/relationships/extended-properties" Target="/docProps/app.xml" Id="R1417fa4c8352463d" /><Relationship Type="http://schemas.openxmlformats.org/officeDocument/2006/relationships/officeDocument" Target="/ppt/presentation.xml" Id="Re9ba586c01ec40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3d3e489ee942f5"/>
  </p:sldMasterIdLst>
  <p:notesMasterIdLst>
    <p:notesMasterId xmlns:r="http://schemas.openxmlformats.org/officeDocument/2006/relationships" r:id="Rb8f77e55b3544b08"/>
  </p:notesMasterIdLst>
  <p:sldIdLst>
    <p:sldId xmlns:r="http://schemas.openxmlformats.org/officeDocument/2006/relationships" id="256" r:id="R0cee9de915104f44"/>
    <p:sldId xmlns:r="http://schemas.openxmlformats.org/officeDocument/2006/relationships" id="257" r:id="R30df7a1168534cc1"/>
    <p:sldId xmlns:r="http://schemas.openxmlformats.org/officeDocument/2006/relationships" id="258" r:id="R5175db92655f45c6"/>
    <p:sldId xmlns:r="http://schemas.openxmlformats.org/officeDocument/2006/relationships" id="259" r:id="Rb710e82aac6f49a3"/>
    <p:sldId xmlns:r="http://schemas.openxmlformats.org/officeDocument/2006/relationships" id="260" r:id="R51cb86e28fbf4acc"/>
    <p:sldId xmlns:r="http://schemas.openxmlformats.org/officeDocument/2006/relationships" id="261" r:id="Rc612aab7213944dd"/>
    <p:sldId xmlns:r="http://schemas.openxmlformats.org/officeDocument/2006/relationships" id="262" r:id="Rd12218dad60c427d"/>
    <p:sldId xmlns:r="http://schemas.openxmlformats.org/officeDocument/2006/relationships" id="263" r:id="Rb88b8938045a4585"/>
    <p:sldId xmlns:r="http://schemas.openxmlformats.org/officeDocument/2006/relationships" id="264" r:id="R1faa76e66a5142bc"/>
    <p:sldId xmlns:r="http://schemas.openxmlformats.org/officeDocument/2006/relationships" id="265" r:id="Ra7da93b948014e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ef80adbb4740b7" /><Relationship Type="http://schemas.openxmlformats.org/officeDocument/2006/relationships/slideMaster" Target="/ppt/slideMasters/slideMaster1.xml" Id="Rce3d3e489ee942f5" /><Relationship Type="http://schemas.openxmlformats.org/officeDocument/2006/relationships/notesMaster" Target="/ppt/notesMasters/notesMaster1.xml" Id="Rb8f77e55b3544b08" /><Relationship Type="http://schemas.openxmlformats.org/officeDocument/2006/relationships/presProps" Target="/ppt/presProps.xml" Id="Re09020a13a34456d" /><Relationship Type="http://schemas.openxmlformats.org/officeDocument/2006/relationships/tableStyles" Target="/ppt/tableStyles.xml" Id="Raaa79ef047bc46a3" /><Relationship Type="http://schemas.openxmlformats.org/officeDocument/2006/relationships/slide" Target="/ppt/slides/slide1.xml" Id="R0cee9de915104f44" /><Relationship Type="http://schemas.openxmlformats.org/officeDocument/2006/relationships/slide" Target="/ppt/slides/slide2.xml" Id="R30df7a1168534cc1" /><Relationship Type="http://schemas.openxmlformats.org/officeDocument/2006/relationships/slide" Target="/ppt/slides/slide3.xml" Id="R5175db92655f45c6" /><Relationship Type="http://schemas.openxmlformats.org/officeDocument/2006/relationships/slide" Target="/ppt/slides/slide4.xml" Id="Rb710e82aac6f49a3" /><Relationship Type="http://schemas.openxmlformats.org/officeDocument/2006/relationships/slide" Target="/ppt/slides/slide5.xml" Id="R51cb86e28fbf4acc" /><Relationship Type="http://schemas.openxmlformats.org/officeDocument/2006/relationships/slide" Target="/ppt/slides/slide6.xml" Id="Rc612aab7213944dd" /><Relationship Type="http://schemas.openxmlformats.org/officeDocument/2006/relationships/slide" Target="/ppt/slides/slide7.xml" Id="Rd12218dad60c427d" /><Relationship Type="http://schemas.openxmlformats.org/officeDocument/2006/relationships/slide" Target="/ppt/slides/slide8.xml" Id="Rb88b8938045a4585" /><Relationship Type="http://schemas.openxmlformats.org/officeDocument/2006/relationships/slide" Target="/ppt/slides/slide9.xml" Id="R1faa76e66a5142bc" /><Relationship Type="http://schemas.openxmlformats.org/officeDocument/2006/relationships/slide" Target="/ppt/slides/slide10.xml" Id="Ra7da93b948014e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2a86062708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a042b8978460c" /><Relationship Type="http://schemas.openxmlformats.org/officeDocument/2006/relationships/notesMaster" Target="/ppt/notesMasters/notesMaster1.xml" Id="R6745c6503715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cdc94e3e034f20" /><Relationship Type="http://schemas.openxmlformats.org/officeDocument/2006/relationships/notesMaster" Target="/ppt/notesMasters/notesMaster1.xml" Id="Rc25ba20c17bc45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25d8695e0549ac" /><Relationship Type="http://schemas.openxmlformats.org/officeDocument/2006/relationships/notesMaster" Target="/ppt/notesMasters/notesMaster1.xml" Id="R813e2b3c267647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bfa6b0d6da48cc" /><Relationship Type="http://schemas.openxmlformats.org/officeDocument/2006/relationships/notesMaster" Target="/ppt/notesMasters/notesMaster1.xml" Id="Rfecf321722fa4a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85e6abe9ee487e" /><Relationship Type="http://schemas.openxmlformats.org/officeDocument/2006/relationships/notesMaster" Target="/ppt/notesMasters/notesMaster1.xml" Id="Rba3117c7bc6148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36d6a5c524bc9" /><Relationship Type="http://schemas.openxmlformats.org/officeDocument/2006/relationships/notesMaster" Target="/ppt/notesMasters/notesMaster1.xml" Id="R92af6d510e5c40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f2c435f8254b5a" /><Relationship Type="http://schemas.openxmlformats.org/officeDocument/2006/relationships/notesMaster" Target="/ppt/notesMasters/notesMaster1.xml" Id="R75d3fbd2a62d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a3307a25704e2e" /><Relationship Type="http://schemas.openxmlformats.org/officeDocument/2006/relationships/notesMaster" Target="/ppt/notesMasters/notesMaster1.xml" Id="Rf3fdf14e67444a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ee50a7397f4b6f" /><Relationship Type="http://schemas.openxmlformats.org/officeDocument/2006/relationships/notesMaster" Target="/ppt/notesMasters/notesMaster1.xml" Id="R70fb4510479546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b4ebd5aa0d480e" /><Relationship Type="http://schemas.openxmlformats.org/officeDocument/2006/relationships/notesMaster" Target="/ppt/notesMasters/notesMaster1.xml" Id="Rdf590c1556174f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2d3c30975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d067b9627e4174" /><Relationship Type="http://schemas.openxmlformats.org/officeDocument/2006/relationships/slideLayout" Target="/ppt/slideLayouts/slideLayout1.xml" Id="R41f192a386fc41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f192a386fc41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d10463730427b" /><Relationship Type="http://schemas.openxmlformats.org/officeDocument/2006/relationships/image" Target="/ppt/media/image.png" Id="R59a976ac7bf940ff" /><Relationship Type="http://schemas.openxmlformats.org/officeDocument/2006/relationships/notesSlide" Target="/ppt/notesSlides/notesSlide1.xml" Id="Rd003fe4994204b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0fc93d0124c1f" /><Relationship Type="http://schemas.openxmlformats.org/officeDocument/2006/relationships/notesSlide" Target="/ppt/notesSlides/notesSlide2.xml" Id="R42d96cee16004c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9844cee854716" /><Relationship Type="http://schemas.openxmlformats.org/officeDocument/2006/relationships/notesSlide" Target="/ppt/notesSlides/notesSlide3.xml" Id="R67bf81d9a3c942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14b0add444590" /><Relationship Type="http://schemas.openxmlformats.org/officeDocument/2006/relationships/notesSlide" Target="/ppt/notesSlides/notesSlide4.xml" Id="R010cc16b8e074d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25dba20394b53" /><Relationship Type="http://schemas.openxmlformats.org/officeDocument/2006/relationships/notesSlide" Target="/ppt/notesSlides/notesSlide5.xml" Id="Ref24bbb9baf3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cbd7d24a14b5f" /><Relationship Type="http://schemas.openxmlformats.org/officeDocument/2006/relationships/notesSlide" Target="/ppt/notesSlides/notesSlide6.xml" Id="Rf2a44c71003f40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989cbe87e498e" /><Relationship Type="http://schemas.openxmlformats.org/officeDocument/2006/relationships/notesSlide" Target="/ppt/notesSlides/notesSlide7.xml" Id="R2bf419564fb341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b7b30de894af0" /><Relationship Type="http://schemas.openxmlformats.org/officeDocument/2006/relationships/notesSlide" Target="/ppt/notesSlides/notesSlide8.xml" Id="R4d46bcec521e48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79a43d7ba4ed5" /><Relationship Type="http://schemas.openxmlformats.org/officeDocument/2006/relationships/notesSlide" Target="/ppt/notesSlides/notesSlide9.xml" Id="R284ad66c23074f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ac65d758b4651" /><Relationship Type="http://schemas.openxmlformats.org/officeDocument/2006/relationships/notesSlide" Target="/ppt/notesSlides/notesSlide10.xml" Id="R566eb52c0de544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976ac7bf940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shade">
            <a:extLst xmlns:a="http://schemas.openxmlformats.org/drawingml/2006/main">
              <a:ext uri="{FF2B5EF4-FFF2-40B4-BE49-F238E27FC236}">
                <a16:creationId xmlns:a16="http://schemas.microsoft.com/office/drawing/2014/main" id="{4F39534C-BB07-4C03-BC46-B50B00AA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34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6C886A3-C132-4E1A-8E4B-4A7872F0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3D0A171-8022-4CE6-9BBA-B581FA4E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85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t>CAH-010  •  VERIFIED VISUAL LESSON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7B058EB-30F0-4FDE-BB68-173ACFC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4572000" cy="1962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Every event
needs the right track.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33273E-B984-4B38-896D-4E32C7F6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2672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5F4"/>
                </a:solidFill>
                <a:latin typeface="Aptos"/>
                <a:ea typeface="Aptos"/>
                <a:cs typeface="Aptos"/>
              </a:defRPr>
            </a:pPr>
            <a:r>
              <a:t>Pure reducers, shared fixtures, and an absorbing terminal state machine—implemented twice, specified once.</a:t>
            </a:r>
          </a:p>
        </p:txBody>
      </p:sp>
      <p:sp>
        <p:nvSpPr>
          <p:cNvPr id="7" name="cover-chip">
            <a:extLst xmlns:a="http://schemas.openxmlformats.org/drawingml/2006/main">
              <a:ext uri="{FF2B5EF4-FFF2-40B4-BE49-F238E27FC236}">
                <a16:creationId xmlns:a16="http://schemas.microsoft.com/office/drawing/2014/main" id="{FD99601B-235B-4E28-9E62-96216B85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8" name="cover-chip-text">
            <a:extLst xmlns:a="http://schemas.openxmlformats.org/drawingml/2006/main">
              <a:ext uri="{FF2B5EF4-FFF2-40B4-BE49-F238E27FC236}">
                <a16:creationId xmlns:a16="http://schemas.microsoft.com/office/drawing/2014/main" id="{13B3EBFA-8DA4-428A-8A64-9D5EF7AE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81575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D166"/>
                </a:solidFill>
                <a:latin typeface="Consolas"/>
                <a:ea typeface="Consolas"/>
                <a:cs typeface="Consolas"/>
              </a:defRPr>
            </a:pPr>
            <a:r>
              <a:t>state + input  →  result</a:t>
            </a:r>
          </a:p>
        </p:txBody>
      </p:sp>
      <p:sp>
        <p:nvSpPr>
          <p:cNvPr id="9" name="cover-fun">
            <a:extLst xmlns:a="http://schemas.openxmlformats.org/drawingml/2006/main">
              <a:ext uri="{FF2B5EF4-FFF2-40B4-BE49-F238E27FC236}">
                <a16:creationId xmlns:a16="http://schemas.microsoft.com/office/drawing/2014/main" id="{8FCB4DF2-7750-4395-81C9-CBCA6DC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No mystery switches. No surprise stations.</a:t>
            </a:r>
          </a:p>
        </p:txBody>
      </p:sp>
      <p:sp>
        <p:nvSpPr>
          <p:cNvPr id="10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CA2B8EE-E8EF-43FB-8D47-553067DD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674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M1 CONVERSATIONAL CORE</a:t>
            </a:r>
          </a:p>
        </p:txBody>
      </p:sp>
    </p:spTree>
    <p:extLst>
      <p:ext uri="{BB962C8B-B14F-4D97-AF65-F5344CB8AC3E}">
        <p14:creationId xmlns:p14="http://schemas.microsoft.com/office/powerpoint/2010/main" val="1497467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6A87F23A-56AD-4C0E-8462-1B7F3DF2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CAH-010  /  SESSION STATE REDUCER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6DC2AEF-18EC-4F2D-84C4-D4B3C1BF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Without one contract, ‘running’ develops several personalities</a:t>
            </a:r>
          </a:p>
        </p:txBody>
      </p:sp>
      <p:cxnSp>
        <p:nvCxnSpPr>
          <p:cNvPr id="25" name="rule-2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</a:ln>
        </p:spPr>
      </p:cxnSp>
      <p:sp>
        <p:nvSpPr>
          <p:cNvPr id="4" name="number-2">
            <a:extLst xmlns:a="http://schemas.openxmlformats.org/drawingml/2006/main">
              <a:ext uri="{FF2B5EF4-FFF2-40B4-BE49-F238E27FC236}">
                <a16:creationId xmlns:a16="http://schemas.microsoft.com/office/drawing/2014/main" id="{FE7CB8AB-B514-482C-8095-187B3710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5" name="split-card-0">
            <a:extLst xmlns:a="http://schemas.openxmlformats.org/drawingml/2006/main">
              <a:ext uri="{FF2B5EF4-FFF2-40B4-BE49-F238E27FC236}">
                <a16:creationId xmlns:a16="http://schemas.microsoft.com/office/drawing/2014/main" id="{0CFEC34C-5850-46D0-9EED-1FBDA6D8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4003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B82F6"/>
            </a:solidFill>
            <a:prstDash val="solid"/>
          </a:ln>
        </p:spPr>
      </p:sp>
      <p:sp>
        <p:nvSpPr>
          <p:cNvPr id="6" name="split-title-0">
            <a:extLst xmlns:a="http://schemas.openxmlformats.org/drawingml/2006/main">
              <a:ext uri="{FF2B5EF4-FFF2-40B4-BE49-F238E27FC236}">
                <a16:creationId xmlns:a16="http://schemas.microsoft.com/office/drawing/2014/main" id="{FE8FB66F-AC97-4124-97C2-8402DA53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PYTHON</a:t>
            </a:r>
          </a:p>
        </p:txBody>
      </p:sp>
      <p:sp>
        <p:nvSpPr>
          <p:cNvPr id="7" name="split-body-0">
            <a:extLst xmlns:a="http://schemas.openxmlformats.org/drawingml/2006/main">
              <a:ext uri="{FF2B5EF4-FFF2-40B4-BE49-F238E27FC236}">
                <a16:creationId xmlns:a16="http://schemas.microsoft.com/office/drawing/2014/main" id="{86F71E60-41A1-454B-BD40-C87A311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981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work is active</a:t>
            </a:r>
          </a:p>
        </p:txBody>
      </p:sp>
      <p:sp>
        <p:nvSpPr>
          <p:cNvPr id="8" name="split-not-0">
            <a:extLst xmlns:a="http://schemas.openxmlformats.org/drawingml/2006/main">
              <a:ext uri="{FF2B5EF4-FFF2-40B4-BE49-F238E27FC236}">
                <a16:creationId xmlns:a16="http://schemas.microsoft.com/office/drawing/2014/main" id="{F0C978C3-BA1C-4EFC-89EF-FDCEE0F4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304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≠</a:t>
            </a:r>
          </a:p>
        </p:txBody>
      </p:sp>
      <p:sp>
        <p:nvSpPr>
          <p:cNvPr id="9" name="split-card-1">
            <a:extLst xmlns:a="http://schemas.openxmlformats.org/drawingml/2006/main">
              <a:ext uri="{FF2B5EF4-FFF2-40B4-BE49-F238E27FC236}">
                <a16:creationId xmlns:a16="http://schemas.microsoft.com/office/drawing/2014/main" id="{2AE1EECC-89FE-4221-971F-01AFFBF0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4003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10" name="split-title-1">
            <a:extLst xmlns:a="http://schemas.openxmlformats.org/drawingml/2006/main">
              <a:ext uri="{FF2B5EF4-FFF2-40B4-BE49-F238E27FC236}">
                <a16:creationId xmlns:a16="http://schemas.microsoft.com/office/drawing/2014/main" id="{E8C5BE58-CDAA-4B71-AF02-5D40C6C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TUI</a:t>
            </a:r>
          </a:p>
        </p:txBody>
      </p:sp>
      <p:sp>
        <p:nvSpPr>
          <p:cNvPr id="11" name="split-body-1">
            <a:extLst xmlns:a="http://schemas.openxmlformats.org/drawingml/2006/main">
              <a:ext uri="{FF2B5EF4-FFF2-40B4-BE49-F238E27FC236}">
                <a16:creationId xmlns:a16="http://schemas.microsoft.com/office/drawing/2014/main" id="{3DBE0EAF-7E9A-4008-9B53-A4651469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1981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spinner is visible</a:t>
            </a:r>
          </a:p>
        </p:txBody>
      </p:sp>
      <p:sp>
        <p:nvSpPr>
          <p:cNvPr id="12" name="split-not-1">
            <a:extLst xmlns:a="http://schemas.openxmlformats.org/drawingml/2006/main">
              <a:ext uri="{FF2B5EF4-FFF2-40B4-BE49-F238E27FC236}">
                <a16:creationId xmlns:a16="http://schemas.microsoft.com/office/drawing/2014/main" id="{E61666D7-FD7C-4E67-8851-83D7936D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09850"/>
            <a:ext cx="304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≠</a:t>
            </a:r>
          </a:p>
        </p:txBody>
      </p:sp>
      <p:sp>
        <p:nvSpPr>
          <p:cNvPr id="13" name="split-card-2">
            <a:extLst xmlns:a="http://schemas.openxmlformats.org/drawingml/2006/main">
              <a:ext uri="{FF2B5EF4-FFF2-40B4-BE49-F238E27FC236}">
                <a16:creationId xmlns:a16="http://schemas.microsoft.com/office/drawing/2014/main" id="{5AE0D42F-94BA-4729-82AB-A1B6E60B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4003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14" name="split-title-2">
            <a:extLst xmlns:a="http://schemas.openxmlformats.org/drawingml/2006/main">
              <a:ext uri="{FF2B5EF4-FFF2-40B4-BE49-F238E27FC236}">
                <a16:creationId xmlns:a16="http://schemas.microsoft.com/office/drawing/2014/main" id="{2389399E-0B2C-4823-92E9-13F6D9EF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TEST</a:t>
            </a:r>
          </a:p>
        </p:txBody>
      </p:sp>
      <p:sp>
        <p:nvSpPr>
          <p:cNvPr id="15" name="split-body-2">
            <a:extLst xmlns:a="http://schemas.openxmlformats.org/drawingml/2006/main">
              <a:ext uri="{FF2B5EF4-FFF2-40B4-BE49-F238E27FC236}">
                <a16:creationId xmlns:a16="http://schemas.microsoft.com/office/drawing/2014/main" id="{53382FA4-F281-48AC-B9D7-291E610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981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last event looked fine</a:t>
            </a:r>
          </a:p>
        </p:txBody>
      </p:sp>
      <p:sp>
        <p:nvSpPr>
          <p:cNvPr id="16" name="split-arrow">
            <a:extLst xmlns:a="http://schemas.openxmlformats.org/drawingml/2006/main">
              <a:ext uri="{FF2B5EF4-FFF2-40B4-BE49-F238E27FC236}">
                <a16:creationId xmlns:a16="http://schemas.microsoft.com/office/drawing/2014/main" id="{D584387E-8A44-4091-8580-F06E143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7429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lit-one">
            <a:extLst xmlns:a="http://schemas.openxmlformats.org/drawingml/2006/main">
              <a:ext uri="{FF2B5EF4-FFF2-40B4-BE49-F238E27FC236}">
                <a16:creationId xmlns:a16="http://schemas.microsoft.com/office/drawing/2014/main" id="{16E82CE8-83B8-4609-B826-C095216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9EF"/>
          </a:solidFill>
          <a:ln xmlns:a="http://schemas.openxmlformats.org/drawingml/2006/main" w="57150">
            <a:solidFill>
              <a:srgbClr val="22C55E"/>
            </a:solidFill>
            <a:prstDash val="solid"/>
          </a:ln>
        </p:spPr>
      </p:sp>
      <p:sp>
        <p:nvSpPr>
          <p:cNvPr id="18" name="split-one-equals">
            <a:extLst xmlns:a="http://schemas.openxmlformats.org/drawingml/2006/main">
              <a:ext uri="{FF2B5EF4-FFF2-40B4-BE49-F238E27FC236}">
                <a16:creationId xmlns:a16="http://schemas.microsoft.com/office/drawing/2014/main" id="{9015B76E-2DEC-4614-8D89-53B75D10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05050"/>
            <a:ext cx="723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=</a:t>
            </a:r>
          </a:p>
        </p:txBody>
      </p:sp>
      <p:sp>
        <p:nvSpPr>
          <p:cNvPr id="19" name="split-one-label">
            <a:extLst xmlns:a="http://schemas.openxmlformats.org/drawingml/2006/main">
              <a:ext uri="{FF2B5EF4-FFF2-40B4-BE49-F238E27FC236}">
                <a16:creationId xmlns:a16="http://schemas.microsoft.com/office/drawing/2014/main" id="{9DC0FB08-0250-482B-A6CB-891747A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1447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ONE REVIEWED
TRANSITION CONTRACT</a:t>
            </a:r>
          </a:p>
        </p:txBody>
      </p:sp>
      <p:sp>
        <p:nvSpPr>
          <p:cNvPr id="20" name="split-formula">
            <a:extLst xmlns:a="http://schemas.openxmlformats.org/drawingml/2006/main">
              <a:ext uri="{FF2B5EF4-FFF2-40B4-BE49-F238E27FC236}">
                <a16:creationId xmlns:a16="http://schemas.microsoft.com/office/drawing/2014/main" id="{10946490-2D2D-47CA-928E-D9E55164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33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plit-formula-text">
            <a:extLst xmlns:a="http://schemas.openxmlformats.org/drawingml/2006/main">
              <a:ext uri="{FF2B5EF4-FFF2-40B4-BE49-F238E27FC236}">
                <a16:creationId xmlns:a16="http://schemas.microsoft.com/office/drawing/2014/main" id="{787AB642-FCFC-4FD1-888E-C5D5A310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868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same prior state  +  same validated input  =  same next state</a:t>
            </a:r>
          </a:p>
        </p:txBody>
      </p:sp>
      <p:sp>
        <p:nvSpPr>
          <p:cNvPr id="22" name="split-caption">
            <a:extLst xmlns:a="http://schemas.openxmlformats.org/drawingml/2006/main">
              <a:ext uri="{FF2B5EF4-FFF2-40B4-BE49-F238E27FC236}">
                <a16:creationId xmlns:a16="http://schemas.microsoft.com/office/drawing/2014/main" id="{8C4E5DB2-3129-4249-8D2F-82BE17BA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914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The reducer owns meaning. Effects emit facts; views render the result.</a:t>
            </a:r>
          </a:p>
        </p:txBody>
      </p:sp>
    </p:spTree>
    <p:extLst>
      <p:ext uri="{BB962C8B-B14F-4D97-AF65-F5344CB8AC3E}">
        <p14:creationId xmlns:p14="http://schemas.microsoft.com/office/powerpoint/2010/main" val="1774278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CBD64F9E-E5C7-45F9-9CE2-49C46BCF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CAH-010  /  SESSION STATE REDUCER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DC3270D-DF50-4728-AF93-381A7C62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Eight states; sixteen reviewed switches define the route</a:t>
            </a:r>
          </a:p>
        </p:txBody>
      </p:sp>
      <p:cxnSp>
        <p:nvCxnSpPr>
          <p:cNvPr id="39" name="rule-3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</a:ln>
        </p:spPr>
      </p:cxnSp>
      <p:sp>
        <p:nvSpPr>
          <p:cNvPr id="4" name="number-3">
            <a:extLst xmlns:a="http://schemas.openxmlformats.org/drawingml/2006/main">
              <a:ext uri="{FF2B5EF4-FFF2-40B4-BE49-F238E27FC236}">
                <a16:creationId xmlns:a16="http://schemas.microsoft.com/office/drawing/2014/main" id="{8B7D87D4-0E09-4AC7-B545-BADD52D7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5" name="state-simplified-chip">
            <a:extLst xmlns:a="http://schemas.openxmlformats.org/drawingml/2006/main">
              <a:ext uri="{FF2B5EF4-FFF2-40B4-BE49-F238E27FC236}">
                <a16:creationId xmlns:a16="http://schemas.microsoft.com/office/drawing/2014/main" id="{F60B19B2-B379-4164-ACF2-E5895E93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05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e-simplified-text">
            <a:extLst xmlns:a="http://schemas.openxmlformats.org/drawingml/2006/main">
              <a:ext uri="{FF2B5EF4-FFF2-40B4-BE49-F238E27FC236}">
                <a16:creationId xmlns:a16="http://schemas.microsoft.com/office/drawing/2014/main" id="{6D34B4F6-CDEA-451B-AE0C-2F0ED3D5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SIMPLIFIED TOPOLOGY</a:t>
            </a:r>
          </a:p>
        </p:txBody>
      </p:sp>
      <p:sp>
        <p:nvSpPr>
          <p:cNvPr id="7" name="idle-box">
            <a:extLst xmlns:a="http://schemas.openxmlformats.org/drawingml/2006/main">
              <a:ext uri="{FF2B5EF4-FFF2-40B4-BE49-F238E27FC236}">
                <a16:creationId xmlns:a16="http://schemas.microsoft.com/office/drawing/2014/main" id="{0E7E005D-6896-40FA-A829-66D90117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8" name="idle-text">
            <a:extLst xmlns:a="http://schemas.openxmlformats.org/drawingml/2006/main">
              <a:ext uri="{FF2B5EF4-FFF2-40B4-BE49-F238E27FC236}">
                <a16:creationId xmlns:a16="http://schemas.microsoft.com/office/drawing/2014/main" id="{C82E90CE-34B6-4A6C-9F39-8BD2F7E5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1104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IDLE</a:t>
            </a:r>
          </a:p>
        </p:txBody>
      </p:sp>
      <p:sp>
        <p:nvSpPr>
          <p:cNvPr id="9" name="idle-start">
            <a:extLst xmlns:a="http://schemas.openxmlformats.org/drawingml/2006/main">
              <a:ext uri="{FF2B5EF4-FFF2-40B4-BE49-F238E27FC236}">
                <a16:creationId xmlns:a16="http://schemas.microsoft.com/office/drawing/2014/main" id="{AA1151DE-CF0C-4D78-9C50-CB8A1310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95550"/>
            <a:ext cx="685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rting-box">
            <a:extLst xmlns:a="http://schemas.openxmlformats.org/drawingml/2006/main">
              <a:ext uri="{FF2B5EF4-FFF2-40B4-BE49-F238E27FC236}">
                <a16:creationId xmlns:a16="http://schemas.microsoft.com/office/drawing/2014/main" id="{FBCCB635-0806-4004-9262-013F5A3F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156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28575">
            <a:solidFill>
              <a:srgbClr val="3B82F6"/>
            </a:solidFill>
            <a:prstDash val="solid"/>
          </a:ln>
        </p:spPr>
      </p:sp>
      <p:sp>
        <p:nvSpPr>
          <p:cNvPr id="11" name="starting-text">
            <a:extLst xmlns:a="http://schemas.openxmlformats.org/drawingml/2006/main">
              <a:ext uri="{FF2B5EF4-FFF2-40B4-BE49-F238E27FC236}">
                <a16:creationId xmlns:a16="http://schemas.microsoft.com/office/drawing/2014/main" id="{3FE76E78-F670-4DC5-A017-5E172ECE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95550"/>
            <a:ext cx="133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STARTING</a:t>
            </a:r>
          </a:p>
        </p:txBody>
      </p:sp>
      <p:sp>
        <p:nvSpPr>
          <p:cNvPr id="12" name="start-run">
            <a:extLst xmlns:a="http://schemas.openxmlformats.org/drawingml/2006/main">
              <a:ext uri="{FF2B5EF4-FFF2-40B4-BE49-F238E27FC236}">
                <a16:creationId xmlns:a16="http://schemas.microsoft.com/office/drawing/2014/main" id="{8229E08A-FAD5-4A4E-80F8-0BEDBB36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685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nning-box">
            <a:extLst xmlns:a="http://schemas.openxmlformats.org/drawingml/2006/main">
              <a:ext uri="{FF2B5EF4-FFF2-40B4-BE49-F238E27FC236}">
                <a16:creationId xmlns:a16="http://schemas.microsoft.com/office/drawing/2014/main" id="{E7BA4CB2-8B22-42B1-B676-40E2F2EB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3150"/>
            <a:ext cx="156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9EF"/>
          </a:solidFill>
          <a:ln xmlns:a="http://schemas.openxmlformats.org/drawingml/2006/main" w="28575">
            <a:solidFill>
              <a:srgbClr val="22C55E"/>
            </a:solidFill>
            <a:prstDash val="solid"/>
          </a:ln>
        </p:spPr>
      </p:sp>
      <p:sp>
        <p:nvSpPr>
          <p:cNvPr id="14" name="running-text">
            <a:extLst xmlns:a="http://schemas.openxmlformats.org/drawingml/2006/main">
              <a:ext uri="{FF2B5EF4-FFF2-40B4-BE49-F238E27FC236}">
                <a16:creationId xmlns:a16="http://schemas.microsoft.com/office/drawing/2014/main" id="{F24F4BE0-7A9F-42DA-95FB-5E63030B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133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RUNNING</a:t>
            </a:r>
          </a:p>
        </p:txBody>
      </p:sp>
      <p:sp>
        <p:nvSpPr>
          <p:cNvPr id="15" name="approval-box">
            <a:extLst xmlns:a="http://schemas.openxmlformats.org/drawingml/2006/main">
              <a:ext uri="{FF2B5EF4-FFF2-40B4-BE49-F238E27FC236}">
                <a16:creationId xmlns:a16="http://schemas.microsoft.com/office/drawing/2014/main" id="{4F0CF528-53CA-43D3-AD6C-F39C8AD8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90950"/>
            <a:ext cx="2038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16" name="approval-text">
            <a:extLst xmlns:a="http://schemas.openxmlformats.org/drawingml/2006/main">
              <a:ext uri="{FF2B5EF4-FFF2-40B4-BE49-F238E27FC236}">
                <a16:creationId xmlns:a16="http://schemas.microsoft.com/office/drawing/2014/main" id="{DBFC3B66-F072-4C18-A3D7-C5477CF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433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6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AWAITING APPROVAL</a:t>
            </a:r>
          </a:p>
        </p:txBody>
      </p:sp>
      <p:cxnSp>
        <p:nvCxnSpPr>
          <p:cNvPr id="53" name="run-approval"/>
          <p:cNvCxnSpPr/>
          <p:nvPr/>
        </p:nvCxnSpPr>
        <p:spPr>
          <a:xfrm xmlns:a="http://schemas.openxmlformats.org/drawingml/2006/main">
            <a:off x="5867400" y="2933700"/>
            <a:ext cx="953" cy="857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8B5CF6"/>
            </a:solidFill>
            <a:prstDash val="solid"/>
          </a:ln>
        </p:spPr>
      </p:cxnSp>
      <p:sp>
        <p:nvSpPr>
          <p:cNvPr id="18" name="approval-loop">
            <a:extLst xmlns:a="http://schemas.openxmlformats.org/drawingml/2006/main">
              <a:ext uri="{FF2B5EF4-FFF2-40B4-BE49-F238E27FC236}">
                <a16:creationId xmlns:a16="http://schemas.microsoft.com/office/drawing/2014/main" id="{C522DF40-9327-4D0D-91F7-D131649C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1924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request ↓   ↑ resolve</a:t>
            </a:r>
          </a:p>
        </p:txBody>
      </p:sp>
      <p:sp>
        <p:nvSpPr>
          <p:cNvPr id="19" name="cancelling-box">
            <a:extLst xmlns:a="http://schemas.openxmlformats.org/drawingml/2006/main">
              <a:ext uri="{FF2B5EF4-FFF2-40B4-BE49-F238E27FC236}">
                <a16:creationId xmlns:a16="http://schemas.microsoft.com/office/drawing/2014/main" id="{BF7B8766-0A43-48C3-9419-1AB15BCE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20" name="cancelling-text">
            <a:extLst xmlns:a="http://schemas.openxmlformats.org/drawingml/2006/main">
              <a:ext uri="{FF2B5EF4-FFF2-40B4-BE49-F238E27FC236}">
                <a16:creationId xmlns:a16="http://schemas.microsoft.com/office/drawing/2014/main" id="{394A0C2F-05BC-406C-90BD-44D096DB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1581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CANCELLING</a:t>
            </a:r>
          </a:p>
        </p:txBody>
      </p:sp>
      <p:sp>
        <p:nvSpPr>
          <p:cNvPr id="21" name="run-cancel">
            <a:extLst xmlns:a="http://schemas.openxmlformats.org/drawingml/2006/main">
              <a:ext uri="{FF2B5EF4-FFF2-40B4-BE49-F238E27FC236}">
                <a16:creationId xmlns:a16="http://schemas.microsoft.com/office/drawing/2014/main" id="{05DA79E8-A5CD-4576-AB81-DD12C56F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952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8" name="approval-cancel"/>
          <p:cNvCxnSpPr/>
          <p:nvPr/>
        </p:nvCxnSpPr>
        <p:spPr>
          <a:xfrm xmlns:a="http://schemas.openxmlformats.org/drawingml/2006/main">
            <a:off x="7143750" y="3114675"/>
            <a:ext cx="15621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6B6B"/>
            </a:solidFill>
            <a:prstDash val="solid"/>
          </a:ln>
        </p:spPr>
      </p:cxnSp>
      <p:sp>
        <p:nvSpPr>
          <p:cNvPr id="23" name="approval-cancel-label">
            <a:extLst xmlns:a="http://schemas.openxmlformats.org/drawingml/2006/main">
              <a:ext uri="{FF2B5EF4-FFF2-40B4-BE49-F238E27FC236}">
                <a16:creationId xmlns:a16="http://schemas.microsoft.com/office/drawing/2014/main" id="{246979D4-3875-4B03-8367-283CB39F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6710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↗ cancel</a:t>
            </a:r>
          </a:p>
        </p:txBody>
      </p:sp>
      <p:sp>
        <p:nvSpPr>
          <p:cNvPr id="24" name="terminal-0-box">
            <a:extLst xmlns:a="http://schemas.openxmlformats.org/drawingml/2006/main">
              <a:ext uri="{FF2B5EF4-FFF2-40B4-BE49-F238E27FC236}">
                <a16:creationId xmlns:a16="http://schemas.microsoft.com/office/drawing/2014/main" id="{AE66482A-D892-4E86-899D-23E3C945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90700"/>
            <a:ext cx="1790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9EF"/>
          </a:solidFill>
          <a:ln xmlns:a="http://schemas.openxmlformats.org/drawingml/2006/main" w="28575">
            <a:solidFill>
              <a:srgbClr val="22C55E"/>
            </a:solidFill>
            <a:prstDash val="solid"/>
          </a:ln>
        </p:spPr>
      </p:sp>
      <p:sp>
        <p:nvSpPr>
          <p:cNvPr id="25" name="terminal-0-text">
            <a:extLst xmlns:a="http://schemas.openxmlformats.org/drawingml/2006/main">
              <a:ext uri="{FF2B5EF4-FFF2-40B4-BE49-F238E27FC236}">
                <a16:creationId xmlns:a16="http://schemas.microsoft.com/office/drawing/2014/main" id="{B24C9C2B-4F1D-4466-A381-E6513B5E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43100"/>
            <a:ext cx="1562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COMPLETED</a:t>
            </a:r>
          </a:p>
        </p:txBody>
      </p:sp>
      <p:sp>
        <p:nvSpPr>
          <p:cNvPr id="26" name="terminal-1-box">
            <a:extLst xmlns:a="http://schemas.openxmlformats.org/drawingml/2006/main">
              <a:ext uri="{FF2B5EF4-FFF2-40B4-BE49-F238E27FC236}">
                <a16:creationId xmlns:a16="http://schemas.microsoft.com/office/drawing/2014/main" id="{EE514206-976F-4E9B-8669-780DF8CD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14650"/>
            <a:ext cx="1790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27" name="terminal-1-text">
            <a:extLst xmlns:a="http://schemas.openxmlformats.org/drawingml/2006/main">
              <a:ext uri="{FF2B5EF4-FFF2-40B4-BE49-F238E27FC236}">
                <a16:creationId xmlns:a16="http://schemas.microsoft.com/office/drawing/2014/main" id="{03869E0F-0FDA-4B25-8C8B-2E41252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67050"/>
            <a:ext cx="1562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CANCELLED</a:t>
            </a:r>
          </a:p>
        </p:txBody>
      </p:sp>
      <p:sp>
        <p:nvSpPr>
          <p:cNvPr id="28" name="terminal-2-box">
            <a:extLst xmlns:a="http://schemas.openxmlformats.org/drawingml/2006/main">
              <a:ext uri="{FF2B5EF4-FFF2-40B4-BE49-F238E27FC236}">
                <a16:creationId xmlns:a16="http://schemas.microsoft.com/office/drawing/2014/main" id="{8760CA52-41B0-45A9-B9C3-2E214B1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38600"/>
            <a:ext cx="1790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28575">
            <a:solidFill>
              <a:srgbClr val="EF4444"/>
            </a:solidFill>
            <a:prstDash val="solid"/>
          </a:ln>
        </p:spPr>
      </p:sp>
      <p:sp>
        <p:nvSpPr>
          <p:cNvPr id="29" name="terminal-2-text">
            <a:extLst xmlns:a="http://schemas.openxmlformats.org/drawingml/2006/main">
              <a:ext uri="{FF2B5EF4-FFF2-40B4-BE49-F238E27FC236}">
                <a16:creationId xmlns:a16="http://schemas.microsoft.com/office/drawing/2014/main" id="{8B1EC95E-58D0-414B-BDD1-7D489DC8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91000"/>
            <a:ext cx="1562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FAILED</a:t>
            </a:r>
          </a:p>
        </p:txBody>
      </p:sp>
      <p:sp>
        <p:nvSpPr>
          <p:cNvPr id="30" name="cancel-terminal">
            <a:extLst xmlns:a="http://schemas.openxmlformats.org/drawingml/2006/main">
              <a:ext uri="{FF2B5EF4-FFF2-40B4-BE49-F238E27FC236}">
                <a16:creationId xmlns:a16="http://schemas.microsoft.com/office/drawing/2014/main" id="{F3A2AD16-8CE5-4941-9726-043E33D7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670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cancel-complete"/>
          <p:cNvCxnSpPr/>
          <p:nvPr/>
        </p:nvCxnSpPr>
        <p:spPr>
          <a:xfrm xmlns:a="http://schemas.openxmlformats.org/drawingml/2006/main">
            <a:off x="9620250" y="2152650"/>
            <a:ext cx="3238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2C55E"/>
            </a:solidFill>
            <a:prstDash val="solid"/>
          </a:ln>
        </p:spPr>
      </p:cxnSp>
      <p:sp>
        <p:nvSpPr>
          <p:cNvPr id="32" name="cancel-complete-label">
            <a:extLst xmlns:a="http://schemas.openxmlformats.org/drawingml/2006/main">
              <a:ext uri="{FF2B5EF4-FFF2-40B4-BE49-F238E27FC236}">
                <a16:creationId xmlns:a16="http://schemas.microsoft.com/office/drawing/2014/main" id="{9DADCABE-6E0D-4F59-AB69-826436AA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00250"/>
            <a:ext cx="36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↗</a:t>
            </a:r>
          </a:p>
        </p:txBody>
      </p:sp>
      <p:cxnSp>
        <p:nvCxnSpPr>
          <p:cNvPr id="69" name="run-complete"/>
          <p:cNvCxnSpPr/>
          <p:nvPr/>
        </p:nvCxnSpPr>
        <p:spPr>
          <a:xfrm xmlns:a="http://schemas.openxmlformats.org/drawingml/2006/main">
            <a:off x="6667500" y="2095500"/>
            <a:ext cx="32766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2C55E"/>
            </a:solidFill>
            <a:prstDash val="solid"/>
          </a:ln>
        </p:spPr>
      </p:cxnSp>
      <p:cxnSp>
        <p:nvCxnSpPr>
          <p:cNvPr id="70" name="active-fail"/>
          <p:cNvCxnSpPr/>
          <p:nvPr/>
        </p:nvCxnSpPr>
        <p:spPr>
          <a:xfrm xmlns:a="http://schemas.openxmlformats.org/drawingml/2006/main">
            <a:off x="8705850" y="3790950"/>
            <a:ext cx="12382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F4444"/>
            </a:solidFill>
            <a:prstDash val="solid"/>
          </a:ln>
        </p:spPr>
      </p:cxnSp>
      <p:sp>
        <p:nvSpPr>
          <p:cNvPr id="35" name="state-footer">
            <a:extLst xmlns:a="http://schemas.openxmlformats.org/drawingml/2006/main">
              <a:ext uri="{FF2B5EF4-FFF2-40B4-BE49-F238E27FC236}">
                <a16:creationId xmlns:a16="http://schemas.microsoft.com/office/drawing/2014/main" id="{86174858-69DC-470C-BF20-09E1707C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277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tate-footer-text">
            <a:extLst xmlns:a="http://schemas.openxmlformats.org/drawingml/2006/main">
              <a:ext uri="{FF2B5EF4-FFF2-40B4-BE49-F238E27FC236}">
                <a16:creationId xmlns:a16="http://schemas.microsoft.com/office/drawing/2014/main" id="{8EAB103A-CD00-4E2A-AE59-73D1C3DD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0629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Repeated self-loops + all three failure origins live in the written 16-row table.
Terminal = absorbing; a later task starts a fresh one-session core.</a:t>
            </a:r>
          </a:p>
        </p:txBody>
      </p:sp>
    </p:spTree>
    <p:extLst>
      <p:ext uri="{BB962C8B-B14F-4D97-AF65-F5344CB8AC3E}">
        <p14:creationId xmlns:p14="http://schemas.microsoft.com/office/powerpoint/2010/main" val="800179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053AEBE2-16F3-4922-B044-0D8E8A3D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CAH-010  /  SESSION STATE REDUCER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2A8F6C3-179E-425D-A036-D94E1AC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Not every lifecycle fact belongs on the wire</a:t>
            </a:r>
          </a:p>
        </p:txBody>
      </p:sp>
      <p:cxnSp>
        <p:nvCxnSpPr>
          <p:cNvPr id="19" name="rule-4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</a:ln>
        </p:spPr>
      </p:cxnSp>
      <p:sp>
        <p:nvSpPr>
          <p:cNvPr id="4" name="number-4">
            <a:extLst xmlns:a="http://schemas.openxmlformats.org/drawingml/2006/main">
              <a:ext uri="{FF2B5EF4-FFF2-40B4-BE49-F238E27FC236}">
                <a16:creationId xmlns:a16="http://schemas.microsoft.com/office/drawing/2014/main" id="{4435110E-8DFF-4187-B733-BE921FCC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5" name="domain-panel">
            <a:extLst xmlns:a="http://schemas.openxmlformats.org/drawingml/2006/main">
              <a:ext uri="{FF2B5EF4-FFF2-40B4-BE49-F238E27FC236}">
                <a16:creationId xmlns:a16="http://schemas.microsoft.com/office/drawing/2014/main" id="{1EBE46AD-E2AB-48DC-895A-50374EFB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48768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6" name="wire-panel">
            <a:extLst xmlns:a="http://schemas.openxmlformats.org/drawingml/2006/main">
              <a:ext uri="{FF2B5EF4-FFF2-40B4-BE49-F238E27FC236}">
                <a16:creationId xmlns:a16="http://schemas.microsoft.com/office/drawing/2014/main" id="{E209EDB2-83D5-4BA2-80E0-5A28857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48768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28575">
            <a:solidFill>
              <a:srgbClr val="3B82F6"/>
            </a:solidFill>
            <a:prstDash val="solid"/>
          </a:ln>
        </p:spPr>
      </p:sp>
      <p:sp>
        <p:nvSpPr>
          <p:cNvPr id="7" name="input-plus-ring">
            <a:extLst xmlns:a="http://schemas.openxmlformats.org/drawingml/2006/main">
              <a:ext uri="{FF2B5EF4-FFF2-40B4-BE49-F238E27FC236}">
                <a16:creationId xmlns:a16="http://schemas.microsoft.com/office/drawing/2014/main" id="{332EB1AC-4EE3-48EF-8D22-3C9FE70B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14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put-plus">
            <a:extLst xmlns:a="http://schemas.openxmlformats.org/drawingml/2006/main">
              <a:ext uri="{FF2B5EF4-FFF2-40B4-BE49-F238E27FC236}">
                <a16:creationId xmlns:a16="http://schemas.microsoft.com/office/drawing/2014/main" id="{E0AD2F1D-F2F3-41BE-BAD3-EE0FCD13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004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9" name="domain-kicker">
            <a:extLst xmlns:a="http://schemas.openxmlformats.org/drawingml/2006/main">
              <a:ext uri="{FF2B5EF4-FFF2-40B4-BE49-F238E27FC236}">
                <a16:creationId xmlns:a16="http://schemas.microsoft.com/office/drawing/2014/main" id="{C6FAC0D0-0E2E-4AE2-AD42-53B05465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30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HARNESS-OWNED DOMAIN FACTS</a:t>
            </a:r>
          </a:p>
        </p:txBody>
      </p:sp>
      <p:sp>
        <p:nvSpPr>
          <p:cNvPr id="10" name="domain-list">
            <a:extLst xmlns:a="http://schemas.openxmlformats.org/drawingml/2006/main">
              <a:ext uri="{FF2B5EF4-FFF2-40B4-BE49-F238E27FC236}">
                <a16:creationId xmlns:a16="http://schemas.microsoft.com/office/drawing/2014/main" id="{5727DD9B-EB72-4087-A201-A6C25AF7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3053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t>task.submitted
cancel.requested
approval.requested
approval.resolved</a:t>
            </a:r>
          </a:p>
        </p:txBody>
      </p:sp>
      <p:sp>
        <p:nvSpPr>
          <p:cNvPr id="11" name="domain-note">
            <a:extLst xmlns:a="http://schemas.openxmlformats.org/drawingml/2006/main">
              <a:ext uri="{FF2B5EF4-FFF2-40B4-BE49-F238E27FC236}">
                <a16:creationId xmlns:a16="http://schemas.microsoft.com/office/drawing/2014/main" id="{3E6FEFE6-CD9C-443C-81A6-5ABF4F5A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4305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Command intent + internal waiting state.
Validated by their owning application layer.</a:t>
            </a:r>
          </a:p>
        </p:txBody>
      </p:sp>
      <p:sp>
        <p:nvSpPr>
          <p:cNvPr id="12" name="wire-kicker">
            <a:extLst xmlns:a="http://schemas.openxmlformats.org/drawingml/2006/main">
              <a:ext uri="{FF2B5EF4-FFF2-40B4-BE49-F238E27FC236}">
                <a16:creationId xmlns:a16="http://schemas.microsoft.com/office/drawing/2014/main" id="{5E3C7271-C114-4253-A06E-07F1869F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430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VALIDATED PROTOCOL V1 EVENTS</a:t>
            </a:r>
          </a:p>
        </p:txBody>
      </p:sp>
      <p:sp>
        <p:nvSpPr>
          <p:cNvPr id="13" name="wire-list">
            <a:extLst xmlns:a="http://schemas.openxmlformats.org/drawingml/2006/main">
              <a:ext uri="{FF2B5EF4-FFF2-40B4-BE49-F238E27FC236}">
                <a16:creationId xmlns:a16="http://schemas.microsoft.com/office/drawing/2014/main" id="{BD37AAB9-0F19-4D13-B4BC-63FE572A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430530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t>session.started
assistant.delta / completed
session.completed / cancelled / failed</a:t>
            </a:r>
          </a:p>
        </p:txBody>
      </p:sp>
      <p:sp>
        <p:nvSpPr>
          <p:cNvPr id="14" name="wire-note">
            <a:extLst xmlns:a="http://schemas.openxmlformats.org/drawingml/2006/main">
              <a:ext uri="{FF2B5EF4-FFF2-40B4-BE49-F238E27FC236}">
                <a16:creationId xmlns:a16="http://schemas.microsoft.com/office/drawing/2014/main" id="{505D4741-90CA-4811-A1B6-BA4ED95F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4305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Complete NDJSON envelopes. Pydantic and Zod
must validate them before reduction.</a:t>
            </a:r>
          </a:p>
        </p:txBody>
      </p:sp>
      <p:sp>
        <p:nvSpPr>
          <p:cNvPr id="15" name="input-rule">
            <a:extLst xmlns:a="http://schemas.openxmlformats.org/drawingml/2006/main">
              <a:ext uri="{FF2B5EF4-FFF2-40B4-BE49-F238E27FC236}">
                <a16:creationId xmlns:a16="http://schemas.microsoft.com/office/drawing/2014/main" id="{D749E534-4CDC-4F55-AB56-ED228EA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53100"/>
            <a:ext cx="872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put-rule-text">
            <a:extLst xmlns:a="http://schemas.openxmlformats.org/drawingml/2006/main">
              <a:ext uri="{FF2B5EF4-FFF2-40B4-BE49-F238E27FC236}">
                <a16:creationId xmlns:a16="http://schemas.microsoft.com/office/drawing/2014/main" id="{F96CAC77-7AB5-4386-ACFF-E3B2332E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67400"/>
            <a:ext cx="815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Both reduce state; only the blue panel crosses the process boundary.</a:t>
            </a:r>
          </a:p>
        </p:txBody>
      </p:sp>
    </p:spTree>
    <p:extLst>
      <p:ext uri="{BB962C8B-B14F-4D97-AF65-F5344CB8AC3E}">
        <p14:creationId xmlns:p14="http://schemas.microsoft.com/office/powerpoint/2010/main" val="1097280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EBB1762A-310E-4F1C-964F-2FC0752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CAH-010  /  SESSION STATE REDUCER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1FA014B-6FE7-4AB9-9DF3-E03DF31F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Five non-terminal guards inspect the ticket before state can move</a:t>
            </a:r>
          </a:p>
        </p:txBody>
      </p:sp>
      <p:cxnSp>
        <p:nvCxnSpPr>
          <p:cNvPr id="32" name="rule-5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</a:ln>
        </p:spPr>
      </p:cxnSp>
      <p:sp>
        <p:nvSpPr>
          <p:cNvPr id="4" name="number-5">
            <a:extLst xmlns:a="http://schemas.openxmlformats.org/drawingml/2006/main">
              <a:ext uri="{FF2B5EF4-FFF2-40B4-BE49-F238E27FC236}">
                <a16:creationId xmlns:a16="http://schemas.microsoft.com/office/drawing/2014/main" id="{55F2AD38-A482-4945-B155-D332B7AC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cxnSp>
        <p:nvCxnSpPr>
          <p:cNvPr id="34" name="guard-track"/>
          <p:cNvCxnSpPr/>
          <p:nvPr/>
        </p:nvCxnSpPr>
        <p:spPr>
          <a:xfrm xmlns:a="http://schemas.openxmlformats.org/drawingml/2006/main">
            <a:off x="1066800" y="3429000"/>
            <a:ext cx="10001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14300">
            <a:solidFill>
              <a:srgbClr val="CBD5E1"/>
            </a:solidFill>
            <a:prstDash val="solid"/>
          </a:ln>
        </p:spPr>
      </p:cxnSp>
      <p:sp>
        <p:nvSpPr>
          <p:cNvPr id="6" name="guard-dot-0">
            <a:extLst xmlns:a="http://schemas.openxmlformats.org/drawingml/2006/main">
              <a:ext uri="{FF2B5EF4-FFF2-40B4-BE49-F238E27FC236}">
                <a16:creationId xmlns:a16="http://schemas.microsoft.com/office/drawing/2014/main" id="{D41B0802-97D0-4A2A-8D25-368D1304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47625">
            <a:solidFill>
              <a:srgbClr val="FFF9EF"/>
            </a:solidFill>
            <a:prstDash val="solid"/>
          </a:ln>
        </p:spPr>
      </p:sp>
      <p:sp>
        <p:nvSpPr>
          <p:cNvPr id="7" name="guard-number-0">
            <a:extLst xmlns:a="http://schemas.openxmlformats.org/drawingml/2006/main">
              <a:ext uri="{FF2B5EF4-FFF2-40B4-BE49-F238E27FC236}">
                <a16:creationId xmlns:a16="http://schemas.microsoft.com/office/drawing/2014/main" id="{C4CB44E1-79E1-4E96-94C8-B5B85582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8" name="guard-title-0">
            <a:extLst xmlns:a="http://schemas.openxmlformats.org/drawingml/2006/main">
              <a:ext uri="{FF2B5EF4-FFF2-40B4-BE49-F238E27FC236}">
                <a16:creationId xmlns:a16="http://schemas.microsoft.com/office/drawing/2014/main" id="{4F93D228-A377-4306-81A7-AFCA0FDB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LEGAL EDGE</a:t>
            </a:r>
          </a:p>
        </p:txBody>
      </p:sp>
      <p:sp>
        <p:nvSpPr>
          <p:cNvPr id="9" name="guard-body-0">
            <a:extLst xmlns:a="http://schemas.openxmlformats.org/drawingml/2006/main">
              <a:ext uri="{FF2B5EF4-FFF2-40B4-BE49-F238E27FC236}">
                <a16:creationId xmlns:a16="http://schemas.microsoft.com/office/drawing/2014/main" id="{43C68C62-B7CF-4F78-8CD5-BF4BE77A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133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Is this input allowed
from this status?</a:t>
            </a:r>
          </a:p>
        </p:txBody>
      </p:sp>
      <p:sp>
        <p:nvSpPr>
          <p:cNvPr id="10" name="guard-dot-1">
            <a:extLst xmlns:a="http://schemas.openxmlformats.org/drawingml/2006/main">
              <a:ext uri="{FF2B5EF4-FFF2-40B4-BE49-F238E27FC236}">
                <a16:creationId xmlns:a16="http://schemas.microsoft.com/office/drawing/2014/main" id="{8D87E65A-CF39-461E-B117-6E0981DF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47625">
            <a:solidFill>
              <a:srgbClr val="FFF9EF"/>
            </a:solidFill>
            <a:prstDash val="solid"/>
          </a:ln>
        </p:spPr>
      </p:sp>
      <p:sp>
        <p:nvSpPr>
          <p:cNvPr id="11" name="guard-number-1">
            <a:extLst xmlns:a="http://schemas.openxmlformats.org/drawingml/2006/main">
              <a:ext uri="{FF2B5EF4-FFF2-40B4-BE49-F238E27FC236}">
                <a16:creationId xmlns:a16="http://schemas.microsoft.com/office/drawing/2014/main" id="{76A5FBE0-5C55-43E7-8A07-75D158CA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2" name="guard-title-1">
            <a:extLst xmlns:a="http://schemas.openxmlformats.org/drawingml/2006/main">
              <a:ext uri="{FF2B5EF4-FFF2-40B4-BE49-F238E27FC236}">
                <a16:creationId xmlns:a16="http://schemas.microsoft.com/office/drawing/2014/main" id="{484940B5-C7F1-4D97-9712-8183703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907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CORRELATION</a:t>
            </a:r>
          </a:p>
        </p:txBody>
      </p:sp>
      <p:sp>
        <p:nvSpPr>
          <p:cNvPr id="13" name="guard-body-1">
            <a:extLst xmlns:a="http://schemas.openxmlformats.org/drawingml/2006/main">
              <a:ext uri="{FF2B5EF4-FFF2-40B4-BE49-F238E27FC236}">
                <a16:creationId xmlns:a16="http://schemas.microsoft.com/office/drawing/2014/main" id="{2BDA2E3D-C935-48DC-B465-4B8E15E0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43350"/>
            <a:ext cx="2133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Did the right command
cause this event?</a:t>
            </a:r>
          </a:p>
        </p:txBody>
      </p:sp>
      <p:sp>
        <p:nvSpPr>
          <p:cNvPr id="14" name="guard-dot-2">
            <a:extLst xmlns:a="http://schemas.openxmlformats.org/drawingml/2006/main">
              <a:ext uri="{FF2B5EF4-FFF2-40B4-BE49-F238E27FC236}">
                <a16:creationId xmlns:a16="http://schemas.microsoft.com/office/drawing/2014/main" id="{B3BC86F0-4054-4696-9A5C-4464B7A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47625">
            <a:solidFill>
              <a:srgbClr val="FFF9EF"/>
            </a:solidFill>
            <a:prstDash val="solid"/>
          </a:ln>
        </p:spPr>
      </p:sp>
      <p:sp>
        <p:nvSpPr>
          <p:cNvPr id="15" name="guard-number-2">
            <a:extLst xmlns:a="http://schemas.openxmlformats.org/drawingml/2006/main">
              <a:ext uri="{FF2B5EF4-FFF2-40B4-BE49-F238E27FC236}">
                <a16:creationId xmlns:a16="http://schemas.microsoft.com/office/drawing/2014/main" id="{97A0CDFD-777D-462E-8A83-239E66D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6" name="guard-title-2">
            <a:extLst xmlns:a="http://schemas.openxmlformats.org/drawingml/2006/main">
              <a:ext uri="{FF2B5EF4-FFF2-40B4-BE49-F238E27FC236}">
                <a16:creationId xmlns:a16="http://schemas.microsoft.com/office/drawing/2014/main" id="{156143AA-028E-4742-8204-EC3B6F60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SESSION</a:t>
            </a:r>
          </a:p>
        </p:txBody>
      </p:sp>
      <p:sp>
        <p:nvSpPr>
          <p:cNvPr id="17" name="guard-body-2">
            <a:extLst xmlns:a="http://schemas.openxmlformats.org/drawingml/2006/main">
              <a:ext uri="{FF2B5EF4-FFF2-40B4-BE49-F238E27FC236}">
                <a16:creationId xmlns:a16="http://schemas.microsoft.com/office/drawing/2014/main" id="{D0AD004F-37E3-46FF-AD6F-786D35C1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2133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Does the identity match
the active session?</a:t>
            </a:r>
          </a:p>
        </p:txBody>
      </p:sp>
      <p:sp>
        <p:nvSpPr>
          <p:cNvPr id="18" name="guard-dot-3">
            <a:extLst xmlns:a="http://schemas.openxmlformats.org/drawingml/2006/main">
              <a:ext uri="{FF2B5EF4-FFF2-40B4-BE49-F238E27FC236}">
                <a16:creationId xmlns:a16="http://schemas.microsoft.com/office/drawing/2014/main" id="{70645B75-0927-414E-96A8-45B78381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47625">
            <a:solidFill>
              <a:srgbClr val="FFF9EF"/>
            </a:solidFill>
            <a:prstDash val="solid"/>
          </a:ln>
        </p:spPr>
      </p:sp>
      <p:sp>
        <p:nvSpPr>
          <p:cNvPr id="19" name="guard-number-3">
            <a:extLst xmlns:a="http://schemas.openxmlformats.org/drawingml/2006/main">
              <a:ext uri="{FF2B5EF4-FFF2-40B4-BE49-F238E27FC236}">
                <a16:creationId xmlns:a16="http://schemas.microsoft.com/office/drawing/2014/main" id="{C615A5A0-EAD2-49DB-9D3B-2121EDAA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0" name="guard-title-3">
            <a:extLst xmlns:a="http://schemas.openxmlformats.org/drawingml/2006/main">
              <a:ext uri="{FF2B5EF4-FFF2-40B4-BE49-F238E27FC236}">
                <a16:creationId xmlns:a16="http://schemas.microsoft.com/office/drawing/2014/main" id="{E409FED7-EF85-4AF1-87D6-109478BA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SEQUENCE</a:t>
            </a:r>
          </a:p>
        </p:txBody>
      </p:sp>
      <p:sp>
        <p:nvSpPr>
          <p:cNvPr id="21" name="guard-body-3">
            <a:extLst xmlns:a="http://schemas.openxmlformats.org/drawingml/2006/main">
              <a:ext uri="{FF2B5EF4-FFF2-40B4-BE49-F238E27FC236}">
                <a16:creationId xmlns:a16="http://schemas.microsoft.com/office/drawing/2014/main" id="{EB3E1C7F-2D09-453A-AE91-E3749B8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2133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Exactly last + 1?
No gaps or regressions.</a:t>
            </a:r>
          </a:p>
        </p:txBody>
      </p:sp>
      <p:sp>
        <p:nvSpPr>
          <p:cNvPr id="22" name="guard-dot-4">
            <a:extLst xmlns:a="http://schemas.openxmlformats.org/drawingml/2006/main">
              <a:ext uri="{FF2B5EF4-FFF2-40B4-BE49-F238E27FC236}">
                <a16:creationId xmlns:a16="http://schemas.microsoft.com/office/drawing/2014/main" id="{E53C2A23-CBEC-4FCD-8442-5FEBE9D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47625">
            <a:solidFill>
              <a:srgbClr val="FFF9EF"/>
            </a:solidFill>
            <a:prstDash val="solid"/>
          </a:ln>
        </p:spPr>
      </p:sp>
      <p:sp>
        <p:nvSpPr>
          <p:cNvPr id="23" name="guard-number-4">
            <a:extLst xmlns:a="http://schemas.openxmlformats.org/drawingml/2006/main">
              <a:ext uri="{FF2B5EF4-FFF2-40B4-BE49-F238E27FC236}">
                <a16:creationId xmlns:a16="http://schemas.microsoft.com/office/drawing/2014/main" id="{A535F207-B7C3-46F9-82CC-36936892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575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24" name="guard-title-4">
            <a:extLst xmlns:a="http://schemas.openxmlformats.org/drawingml/2006/main">
              <a:ext uri="{FF2B5EF4-FFF2-40B4-BE49-F238E27FC236}">
                <a16:creationId xmlns:a16="http://schemas.microsoft.com/office/drawing/2014/main" id="{F77BE7DE-97A1-49DE-BC8C-6CBCE016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PAYLOAD</a:t>
            </a:r>
          </a:p>
        </p:txBody>
      </p:sp>
      <p:sp>
        <p:nvSpPr>
          <p:cNvPr id="25" name="guard-body-4">
            <a:extLst xmlns:a="http://schemas.openxmlformats.org/drawingml/2006/main">
              <a:ext uri="{FF2B5EF4-FFF2-40B4-BE49-F238E27FC236}">
                <a16:creationId xmlns:a16="http://schemas.microsoft.com/office/drawing/2014/main" id="{646D3DB3-625D-49F2-A928-54D80D93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2133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Does completion confirm
what was accumulated?</a:t>
            </a:r>
          </a:p>
        </p:txBody>
      </p:sp>
      <p:sp>
        <p:nvSpPr>
          <p:cNvPr id="26" name="guard-reject">
            <a:extLst xmlns:a="http://schemas.openxmlformats.org/drawingml/2006/main">
              <a:ext uri="{FF2B5EF4-FFF2-40B4-BE49-F238E27FC236}">
                <a16:creationId xmlns:a16="http://schemas.microsoft.com/office/drawing/2014/main" id="{6BD9F1DA-AFEF-4B79-B8D3-3A99E3E9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81600"/>
            <a:ext cx="9029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28575">
            <a:solidFill>
              <a:srgbClr val="EF4444"/>
            </a:solidFill>
            <a:prstDash val="solid"/>
          </a:ln>
        </p:spPr>
      </p:sp>
      <p:sp>
        <p:nvSpPr>
          <p:cNvPr id="27" name="guard-reject-icon">
            <a:extLst xmlns:a="http://schemas.openxmlformats.org/drawingml/2006/main">
              <a:ext uri="{FF2B5EF4-FFF2-40B4-BE49-F238E27FC236}">
                <a16:creationId xmlns:a16="http://schemas.microsoft.com/office/drawing/2014/main" id="{808D0004-04D0-496F-97E0-77EE7B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8" name="guard-reject-text">
            <a:extLst xmlns:a="http://schemas.openxmlformats.org/drawingml/2006/main">
              <a:ext uri="{FF2B5EF4-FFF2-40B4-BE49-F238E27FC236}">
                <a16:creationId xmlns:a16="http://schemas.microsoft.com/office/drawing/2014/main" id="{993FB27A-D2B0-409B-B49A-9F50B57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14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Reject → exact prior state + code • prior status • input type</a:t>
            </a:r>
          </a:p>
        </p:txBody>
      </p:sp>
      <p:sp>
        <p:nvSpPr>
          <p:cNvPr id="29" name="guard-secret">
            <a:extLst xmlns:a="http://schemas.openxmlformats.org/drawingml/2006/main">
              <a:ext uri="{FF2B5EF4-FFF2-40B4-BE49-F238E27FC236}">
                <a16:creationId xmlns:a16="http://schemas.microsoft.com/office/drawing/2014/main" id="{9566C003-4042-4574-A81E-FED763DA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578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Terminal absorption runs first (slide 6). No task, text, or IDs leak.</a:t>
            </a:r>
          </a:p>
        </p:txBody>
      </p:sp>
    </p:spTree>
    <p:extLst>
      <p:ext uri="{BB962C8B-B14F-4D97-AF65-F5344CB8AC3E}">
        <p14:creationId xmlns:p14="http://schemas.microsoft.com/office/powerpoint/2010/main" val="1503294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CD4C99F1-3D05-430F-B55E-B8125920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CAH-010  /  SESSION STATE REDUCER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A086F9A-AA56-441A-8D17-63A89A8C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The last station has no return track</a:t>
            </a:r>
          </a:p>
        </p:txBody>
      </p:sp>
      <p:cxnSp>
        <p:nvCxnSpPr>
          <p:cNvPr id="28" name="rule-6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</a:ln>
        </p:spPr>
      </p:cxnSp>
      <p:sp>
        <p:nvSpPr>
          <p:cNvPr id="4" name="number-6">
            <a:extLst xmlns:a="http://schemas.openxmlformats.org/drawingml/2006/main">
              <a:ext uri="{FF2B5EF4-FFF2-40B4-BE49-F238E27FC236}">
                <a16:creationId xmlns:a16="http://schemas.microsoft.com/office/drawing/2014/main" id="{A105FDF9-75CB-4986-B070-57F669F1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5" name="terminal-card-0">
            <a:extLst xmlns:a="http://schemas.openxmlformats.org/drawingml/2006/main">
              <a:ext uri="{FF2B5EF4-FFF2-40B4-BE49-F238E27FC236}">
                <a16:creationId xmlns:a16="http://schemas.microsoft.com/office/drawing/2014/main" id="{F9443ADF-97F3-4B66-AADC-064EF93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371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9EF"/>
          </a:solidFill>
          <a:ln xmlns:a="http://schemas.openxmlformats.org/drawingml/2006/main" w="28575">
            <a:solidFill>
              <a:srgbClr val="22C55E"/>
            </a:solidFill>
            <a:prstDash val="solid"/>
          </a:ln>
        </p:spPr>
      </p:sp>
      <p:sp>
        <p:nvSpPr>
          <p:cNvPr id="6" name="terminal-title-0">
            <a:extLst xmlns:a="http://schemas.openxmlformats.org/drawingml/2006/main">
              <a:ext uri="{FF2B5EF4-FFF2-40B4-BE49-F238E27FC236}">
                <a16:creationId xmlns:a16="http://schemas.microsoft.com/office/drawing/2014/main" id="{D225103A-264E-4961-9195-D75E6F4C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91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COMPLETED</a:t>
            </a:r>
          </a:p>
        </p:txBody>
      </p:sp>
      <p:sp>
        <p:nvSpPr>
          <p:cNvPr id="7" name="terminal-event-0">
            <a:extLst xmlns:a="http://schemas.openxmlformats.org/drawingml/2006/main">
              <a:ext uri="{FF2B5EF4-FFF2-40B4-BE49-F238E27FC236}">
                <a16:creationId xmlns:a16="http://schemas.microsoft.com/office/drawing/2014/main" id="{2E1845B8-BDB7-40DC-8A61-F74FA35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t>session.completed</a:t>
            </a:r>
          </a:p>
        </p:txBody>
      </p:sp>
      <p:sp>
        <p:nvSpPr>
          <p:cNvPr id="8" name="terminal-card-1">
            <a:extLst xmlns:a="http://schemas.openxmlformats.org/drawingml/2006/main">
              <a:ext uri="{FF2B5EF4-FFF2-40B4-BE49-F238E27FC236}">
                <a16:creationId xmlns:a16="http://schemas.microsoft.com/office/drawing/2014/main" id="{7DF0F792-8F79-4A53-94C8-F2B4B0F1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371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9" name="terminal-title-1">
            <a:extLst xmlns:a="http://schemas.openxmlformats.org/drawingml/2006/main">
              <a:ext uri="{FF2B5EF4-FFF2-40B4-BE49-F238E27FC236}">
                <a16:creationId xmlns:a16="http://schemas.microsoft.com/office/drawing/2014/main" id="{954F6AD1-C11A-47F1-AA84-7BD5C318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91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CANCELLED</a:t>
            </a:r>
          </a:p>
        </p:txBody>
      </p:sp>
      <p:sp>
        <p:nvSpPr>
          <p:cNvPr id="10" name="terminal-event-1">
            <a:extLst xmlns:a="http://schemas.openxmlformats.org/drawingml/2006/main">
              <a:ext uri="{FF2B5EF4-FFF2-40B4-BE49-F238E27FC236}">
                <a16:creationId xmlns:a16="http://schemas.microsoft.com/office/drawing/2014/main" id="{8814468D-CD84-403B-845F-775CCEB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t>session.cancelled</a:t>
            </a:r>
          </a:p>
        </p:txBody>
      </p:sp>
      <p:sp>
        <p:nvSpPr>
          <p:cNvPr id="11" name="terminal-card-2">
            <a:extLst xmlns:a="http://schemas.openxmlformats.org/drawingml/2006/main">
              <a:ext uri="{FF2B5EF4-FFF2-40B4-BE49-F238E27FC236}">
                <a16:creationId xmlns:a16="http://schemas.microsoft.com/office/drawing/2014/main" id="{F57493B5-D96F-4CC0-AA2C-3F7B7D6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3718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28575">
            <a:solidFill>
              <a:srgbClr val="EF4444"/>
            </a:solidFill>
            <a:prstDash val="solid"/>
          </a:ln>
        </p:spPr>
      </p:sp>
      <p:sp>
        <p:nvSpPr>
          <p:cNvPr id="12" name="terminal-title-2">
            <a:extLst xmlns:a="http://schemas.openxmlformats.org/drawingml/2006/main">
              <a:ext uri="{FF2B5EF4-FFF2-40B4-BE49-F238E27FC236}">
                <a16:creationId xmlns:a16="http://schemas.microsoft.com/office/drawing/2014/main" id="{AD6B10BA-9E9C-4DC8-A080-BA67D118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91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FAILED</a:t>
            </a:r>
          </a:p>
        </p:txBody>
      </p:sp>
      <p:sp>
        <p:nvSpPr>
          <p:cNvPr id="13" name="terminal-event-2">
            <a:extLst xmlns:a="http://schemas.openxmlformats.org/drawingml/2006/main">
              <a:ext uri="{FF2B5EF4-FFF2-40B4-BE49-F238E27FC236}">
                <a16:creationId xmlns:a16="http://schemas.microsoft.com/office/drawing/2014/main" id="{E4CDCF7B-D6C1-4610-ACA1-33402E0A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t>session.failed</a:t>
            </a:r>
          </a:p>
        </p:txBody>
      </p:sp>
      <p:cxnSp>
        <p:nvCxnSpPr>
          <p:cNvPr id="39" name="terminal-wall"/>
          <p:cNvCxnSpPr/>
          <p:nvPr/>
        </p:nvCxnSpPr>
        <p:spPr>
          <a:xfrm xmlns:a="http://schemas.openxmlformats.org/drawingml/2006/main">
            <a:off x="914400" y="4457700"/>
            <a:ext cx="10248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71450">
            <a:solidFill>
              <a:srgbClr val="102A43"/>
            </a:solidFill>
            <a:prstDash val="solid"/>
          </a:ln>
        </p:spPr>
      </p:cxnSp>
      <p:cxnSp>
        <p:nvCxnSpPr>
          <p:cNvPr id="40" name="terminal-stripe-0"/>
          <p:cNvCxnSpPr/>
          <p:nvPr/>
        </p:nvCxnSpPr>
        <p:spPr>
          <a:xfrm xmlns:a="http://schemas.openxmlformats.org/drawingml/2006/main">
            <a:off x="1200150" y="4286250"/>
            <a:ext cx="2667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D166"/>
            </a:solidFill>
            <a:prstDash val="solid"/>
          </a:ln>
        </p:spPr>
      </p:cxnSp>
      <p:cxnSp>
        <p:nvCxnSpPr>
          <p:cNvPr id="41" name="terminal-stripe-1"/>
          <p:cNvCxnSpPr/>
          <p:nvPr/>
        </p:nvCxnSpPr>
        <p:spPr>
          <a:xfrm xmlns:a="http://schemas.openxmlformats.org/drawingml/2006/main">
            <a:off x="2628900" y="4286250"/>
            <a:ext cx="2667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D166"/>
            </a:solidFill>
            <a:prstDash val="solid"/>
          </a:ln>
        </p:spPr>
      </p:cxnSp>
      <p:cxnSp>
        <p:nvCxnSpPr>
          <p:cNvPr id="42" name="terminal-stripe-2"/>
          <p:cNvCxnSpPr/>
          <p:nvPr/>
        </p:nvCxnSpPr>
        <p:spPr>
          <a:xfrm xmlns:a="http://schemas.openxmlformats.org/drawingml/2006/main">
            <a:off x="4057650" y="4286250"/>
            <a:ext cx="2667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D166"/>
            </a:solidFill>
            <a:prstDash val="solid"/>
          </a:ln>
        </p:spPr>
      </p:cxnSp>
      <p:cxnSp>
        <p:nvCxnSpPr>
          <p:cNvPr id="43" name="terminal-stripe-3"/>
          <p:cNvCxnSpPr/>
          <p:nvPr/>
        </p:nvCxnSpPr>
        <p:spPr>
          <a:xfrm xmlns:a="http://schemas.openxmlformats.org/drawingml/2006/main">
            <a:off x="5486400" y="4286250"/>
            <a:ext cx="2667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D166"/>
            </a:solidFill>
            <a:prstDash val="solid"/>
          </a:ln>
        </p:spPr>
      </p:cxnSp>
      <p:cxnSp>
        <p:nvCxnSpPr>
          <p:cNvPr id="44" name="terminal-stripe-4"/>
          <p:cNvCxnSpPr/>
          <p:nvPr/>
        </p:nvCxnSpPr>
        <p:spPr>
          <a:xfrm xmlns:a="http://schemas.openxmlformats.org/drawingml/2006/main">
            <a:off x="6915150" y="4286250"/>
            <a:ext cx="2667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D166"/>
            </a:solidFill>
            <a:prstDash val="solid"/>
          </a:ln>
        </p:spPr>
      </p:cxnSp>
      <p:cxnSp>
        <p:nvCxnSpPr>
          <p:cNvPr id="45" name="terminal-stripe-5"/>
          <p:cNvCxnSpPr/>
          <p:nvPr/>
        </p:nvCxnSpPr>
        <p:spPr>
          <a:xfrm xmlns:a="http://schemas.openxmlformats.org/drawingml/2006/main">
            <a:off x="8343900" y="4286250"/>
            <a:ext cx="2667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D166"/>
            </a:solidFill>
            <a:prstDash val="solid"/>
          </a:ln>
        </p:spPr>
      </p:cxnSp>
      <p:cxnSp>
        <p:nvCxnSpPr>
          <p:cNvPr id="46" name="terminal-stripe-6"/>
          <p:cNvCxnSpPr/>
          <p:nvPr/>
        </p:nvCxnSpPr>
        <p:spPr>
          <a:xfrm xmlns:a="http://schemas.openxmlformats.org/drawingml/2006/main">
            <a:off x="9772650" y="4286250"/>
            <a:ext cx="2667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D166"/>
            </a:solidFill>
            <a:prstDash val="solid"/>
          </a:ln>
        </p:spPr>
      </p:cxnSp>
      <p:sp>
        <p:nvSpPr>
          <p:cNvPr id="22" name="terminal-late">
            <a:extLst xmlns:a="http://schemas.openxmlformats.org/drawingml/2006/main">
              <a:ext uri="{FF2B5EF4-FFF2-40B4-BE49-F238E27FC236}">
                <a16:creationId xmlns:a16="http://schemas.microsoft.com/office/drawing/2014/main" id="{386FB799-1859-48CB-91B3-43CF13C8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024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duplicate terminal  •  late delta  •  approval resolve  •  new task</a:t>
            </a:r>
          </a:p>
        </p:txBody>
      </p:sp>
      <p:sp>
        <p:nvSpPr>
          <p:cNvPr id="23" name="terminal-return">
            <a:extLst xmlns:a="http://schemas.openxmlformats.org/drawingml/2006/main">
              <a:ext uri="{FF2B5EF4-FFF2-40B4-BE49-F238E27FC236}">
                <a16:creationId xmlns:a16="http://schemas.microsoft.com/office/drawing/2014/main" id="{B7FEC72A-9A08-4492-97B4-B622CEC8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11049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rminal-x">
            <a:extLst xmlns:a="http://schemas.openxmlformats.org/drawingml/2006/main">
              <a:ext uri="{FF2B5EF4-FFF2-40B4-BE49-F238E27FC236}">
                <a16:creationId xmlns:a16="http://schemas.microsoft.com/office/drawing/2014/main" id="{52123B4A-60AE-4A37-87FF-8F3DCAA9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57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×</a:t>
            </a:r>
          </a:p>
        </p:txBody>
      </p:sp>
      <p:sp>
        <p:nvSpPr>
          <p:cNvPr id="25" name="terminal-result">
            <a:extLst xmlns:a="http://schemas.openxmlformats.org/drawingml/2006/main">
              <a:ext uri="{FF2B5EF4-FFF2-40B4-BE49-F238E27FC236}">
                <a16:creationId xmlns:a16="http://schemas.microsoft.com/office/drawing/2014/main" id="{82914212-71A5-4AFA-AF5D-E3F16025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3714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t>terminal_state_absorbing
prior object unchanged</a:t>
            </a:r>
          </a:p>
        </p:txBody>
      </p:sp>
    </p:spTree>
    <p:extLst>
      <p:ext uri="{BB962C8B-B14F-4D97-AF65-F5344CB8AC3E}">
        <p14:creationId xmlns:p14="http://schemas.microsoft.com/office/powerpoint/2010/main" val="1298607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00DC2697-D6E4-4898-AFF8-8172A373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CAH-010  /  SESSION STATE REDUCER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38E4174-BE61-4CF6-80F8-5CDA281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One JSON switchboard keeps two reducers honest</a:t>
            </a:r>
          </a:p>
        </p:txBody>
      </p:sp>
      <p:cxnSp>
        <p:nvCxnSpPr>
          <p:cNvPr id="25" name="rule-7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</a:ln>
        </p:spPr>
      </p:cxnSp>
      <p:sp>
        <p:nvSpPr>
          <p:cNvPr id="4" name="number-7">
            <a:extLst xmlns:a="http://schemas.openxmlformats.org/drawingml/2006/main">
              <a:ext uri="{FF2B5EF4-FFF2-40B4-BE49-F238E27FC236}">
                <a16:creationId xmlns:a16="http://schemas.microsoft.com/office/drawing/2014/main" id="{9B7DA860-0579-4336-8A17-D25F9DBD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5" name="fixtures-json">
            <a:extLst xmlns:a="http://schemas.openxmlformats.org/drawingml/2006/main">
              <a:ext uri="{FF2B5EF4-FFF2-40B4-BE49-F238E27FC236}">
                <a16:creationId xmlns:a16="http://schemas.microsoft.com/office/drawing/2014/main" id="{EE39471F-470A-47C3-9E9A-8ED0B13A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676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xtures-json-title">
            <a:extLst xmlns:a="http://schemas.openxmlformats.org/drawingml/2006/main">
              <a:ext uri="{FF2B5EF4-FFF2-40B4-BE49-F238E27FC236}">
                <a16:creationId xmlns:a16="http://schemas.microsoft.com/office/drawing/2014/main" id="{15C80E7E-E2EC-4B3D-8167-B941863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t>SHARED FIXTURES</a:t>
            </a:r>
          </a:p>
        </p:txBody>
      </p:sp>
      <p:sp>
        <p:nvSpPr>
          <p:cNvPr id="7" name="fixtures-json-list">
            <a:extLst xmlns:a="http://schemas.openxmlformats.org/drawingml/2006/main">
              <a:ext uri="{FF2B5EF4-FFF2-40B4-BE49-F238E27FC236}">
                <a16:creationId xmlns:a16="http://schemas.microsoft.com/office/drawing/2014/main" id="{A521DEAB-16BA-4F4E-9234-67D8BF77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31051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manifest.json
legal-transitions.json
replay-scenarios.json
invariant-failures.json</a:t>
            </a:r>
          </a:p>
        </p:txBody>
      </p:sp>
      <p:sp>
        <p:nvSpPr>
          <p:cNvPr id="8" name="fixtures-json-rule">
            <a:extLst xmlns:a="http://schemas.openxmlformats.org/drawingml/2006/main">
              <a:ext uri="{FF2B5EF4-FFF2-40B4-BE49-F238E27FC236}">
                <a16:creationId xmlns:a16="http://schemas.microsoft.com/office/drawing/2014/main" id="{8366F123-329F-4BD3-9358-03F1238B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every case begins at idle</a:t>
            </a:r>
          </a:p>
        </p:txBody>
      </p:sp>
      <p:sp>
        <p:nvSpPr>
          <p:cNvPr id="9" name="fixtures-to-py">
            <a:extLst xmlns:a="http://schemas.openxmlformats.org/drawingml/2006/main">
              <a:ext uri="{FF2B5EF4-FFF2-40B4-BE49-F238E27FC236}">
                <a16:creationId xmlns:a16="http://schemas.microsoft.com/office/drawing/2014/main" id="{FC670107-44A3-4120-90FB-5D48C2CF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857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xtures-to-ts">
            <a:extLst xmlns:a="http://schemas.openxmlformats.org/drawingml/2006/main">
              <a:ext uri="{FF2B5EF4-FFF2-40B4-BE49-F238E27FC236}">
                <a16:creationId xmlns:a16="http://schemas.microsoft.com/office/drawing/2014/main" id="{FFBB9B75-2518-4864-8985-4C155FD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81500"/>
            <a:ext cx="857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xtures-py">
            <a:extLst xmlns:a="http://schemas.openxmlformats.org/drawingml/2006/main">
              <a:ext uri="{FF2B5EF4-FFF2-40B4-BE49-F238E27FC236}">
                <a16:creationId xmlns:a16="http://schemas.microsoft.com/office/drawing/2014/main" id="{28799DC1-E004-4BE4-9B7D-9D9058C4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0025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28575">
            <a:solidFill>
              <a:srgbClr val="3B82F6"/>
            </a:solidFill>
            <a:prstDash val="solid"/>
          </a:ln>
        </p:spPr>
      </p:sp>
      <p:sp>
        <p:nvSpPr>
          <p:cNvPr id="12" name="fixtures-py-title">
            <a:extLst xmlns:a="http://schemas.openxmlformats.org/drawingml/2006/main">
              <a:ext uri="{FF2B5EF4-FFF2-40B4-BE49-F238E27FC236}">
                <a16:creationId xmlns:a16="http://schemas.microsoft.com/office/drawing/2014/main" id="{84725B96-216A-4F19-A1C8-C8667FE1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PYTHON</a:t>
            </a:r>
          </a:p>
        </p:txBody>
      </p:sp>
      <p:sp>
        <p:nvSpPr>
          <p:cNvPr id="13" name="fixtures-py-body">
            <a:extLst xmlns:a="http://schemas.openxmlformats.org/drawingml/2006/main">
              <a:ext uri="{FF2B5EF4-FFF2-40B4-BE49-F238E27FC236}">
                <a16:creationId xmlns:a16="http://schemas.microsoft.com/office/drawing/2014/main" id="{DA617DB5-DA86-4C01-9DF7-81B10146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t>Pydantic → reducer</a:t>
            </a:r>
          </a:p>
        </p:txBody>
      </p:sp>
      <p:sp>
        <p:nvSpPr>
          <p:cNvPr id="14" name="fixtures-ts">
            <a:extLst xmlns:a="http://schemas.openxmlformats.org/drawingml/2006/main">
              <a:ext uri="{FF2B5EF4-FFF2-40B4-BE49-F238E27FC236}">
                <a16:creationId xmlns:a16="http://schemas.microsoft.com/office/drawing/2014/main" id="{811EC87F-63B5-4FC5-AFEB-26B2FEAF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15" name="fixtures-ts-title">
            <a:extLst xmlns:a="http://schemas.openxmlformats.org/drawingml/2006/main">
              <a:ext uri="{FF2B5EF4-FFF2-40B4-BE49-F238E27FC236}">
                <a16:creationId xmlns:a16="http://schemas.microsoft.com/office/drawing/2014/main" id="{B094EC2A-FBDD-49F5-B939-94D6DA7A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7670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TYPESCRIPT</a:t>
            </a:r>
          </a:p>
        </p:txBody>
      </p:sp>
      <p:sp>
        <p:nvSpPr>
          <p:cNvPr id="16" name="fixtures-ts-body">
            <a:extLst xmlns:a="http://schemas.openxmlformats.org/drawingml/2006/main">
              <a:ext uri="{FF2B5EF4-FFF2-40B4-BE49-F238E27FC236}">
                <a16:creationId xmlns:a16="http://schemas.microsoft.com/office/drawing/2014/main" id="{A3A66D4B-FA22-43E4-9DE2-3BCAC805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910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t>Zod → reducer</a:t>
            </a:r>
          </a:p>
        </p:txBody>
      </p:sp>
      <p:sp>
        <p:nvSpPr>
          <p:cNvPr id="17" name="fixtures-join">
            <a:extLst xmlns:a="http://schemas.openxmlformats.org/drawingml/2006/main">
              <a:ext uri="{FF2B5EF4-FFF2-40B4-BE49-F238E27FC236}">
                <a16:creationId xmlns:a16="http://schemas.microsoft.com/office/drawing/2014/main" id="{07E9A477-F11B-4766-B575-35341A65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876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ixtures-equal">
            <a:extLst xmlns:a="http://schemas.openxmlformats.org/drawingml/2006/main">
              <a:ext uri="{FF2B5EF4-FFF2-40B4-BE49-F238E27FC236}">
                <a16:creationId xmlns:a16="http://schemas.microsoft.com/office/drawing/2014/main" id="{9BF18B07-7347-4B12-9B1D-AC120999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9EF"/>
          </a:solidFill>
          <a:ln xmlns:a="http://schemas.openxmlformats.org/drawingml/2006/main" w="66675">
            <a:solidFill>
              <a:srgbClr val="22C55E"/>
            </a:solidFill>
            <a:prstDash val="solid"/>
          </a:ln>
        </p:spPr>
      </p:sp>
      <p:sp>
        <p:nvSpPr>
          <p:cNvPr id="19" name="fixtures-equal-sign">
            <a:extLst xmlns:a="http://schemas.openxmlformats.org/drawingml/2006/main">
              <a:ext uri="{FF2B5EF4-FFF2-40B4-BE49-F238E27FC236}">
                <a16:creationId xmlns:a16="http://schemas.microsoft.com/office/drawing/2014/main" id="{CEB5B8C8-6F88-4E5E-9757-2B4994E2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1143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≡</a:t>
            </a:r>
          </a:p>
        </p:txBody>
      </p:sp>
      <p:sp>
        <p:nvSpPr>
          <p:cNvPr id="20" name="fixtures-equal-text">
            <a:extLst xmlns:a="http://schemas.openxmlformats.org/drawingml/2006/main">
              <a:ext uri="{FF2B5EF4-FFF2-40B4-BE49-F238E27FC236}">
                <a16:creationId xmlns:a16="http://schemas.microsoft.com/office/drawing/2014/main" id="{65CE6D00-50C5-406C-A2D1-7BFD0EB5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52850"/>
            <a:ext cx="1714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same normalized
state or failure</a:t>
            </a:r>
          </a:p>
        </p:txBody>
      </p:sp>
      <p:sp>
        <p:nvSpPr>
          <p:cNvPr id="21" name="fixtures-footer">
            <a:extLst xmlns:a="http://schemas.openxmlformats.org/drawingml/2006/main">
              <a:ext uri="{FF2B5EF4-FFF2-40B4-BE49-F238E27FC236}">
                <a16:creationId xmlns:a16="http://schemas.microsoft.com/office/drawing/2014/main" id="{07244CF1-A53B-44B2-9886-0F3A087A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53100"/>
            <a:ext cx="8801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22" name="fixtures-footer-text">
            <a:extLst xmlns:a="http://schemas.openxmlformats.org/drawingml/2006/main">
              <a:ext uri="{FF2B5EF4-FFF2-40B4-BE49-F238E27FC236}">
                <a16:creationId xmlns:a16="http://schemas.microsoft.com/office/drawing/2014/main" id="{C5FC46CB-061E-4D10-ACBD-05DBA97E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48350"/>
            <a:ext cx="8267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Replay every tape twice. Determinism should be boring—in the best possible way.</a:t>
            </a:r>
          </a:p>
        </p:txBody>
      </p:sp>
    </p:spTree>
    <p:extLst>
      <p:ext uri="{BB962C8B-B14F-4D97-AF65-F5344CB8AC3E}">
        <p14:creationId xmlns:p14="http://schemas.microsoft.com/office/powerpoint/2010/main" val="1122077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CFFDBB58-2C07-4B5C-B5A9-B1B498A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CAH-010  /  SESSION STATE REDUCER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48EA418-EA63-40FA-B6E1-EE91DFE0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Two runtimes, two validation lanes, one lifecycle contract</a:t>
            </a:r>
          </a:p>
        </p:txBody>
      </p:sp>
      <p:cxnSp>
        <p:nvCxnSpPr>
          <p:cNvPr id="39" name="rule-8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</a:ln>
        </p:spPr>
      </p:cxnSp>
      <p:sp>
        <p:nvSpPr>
          <p:cNvPr id="4" name="number-8">
            <a:extLst xmlns:a="http://schemas.openxmlformats.org/drawingml/2006/main">
              <a:ext uri="{FF2B5EF4-FFF2-40B4-BE49-F238E27FC236}">
                <a16:creationId xmlns:a16="http://schemas.microsoft.com/office/drawing/2014/main" id="{630C6C14-7A09-432E-AE8B-711CF928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5" name="integration-python-lane">
            <a:extLst xmlns:a="http://schemas.openxmlformats.org/drawingml/2006/main">
              <a:ext uri="{FF2B5EF4-FFF2-40B4-BE49-F238E27FC236}">
                <a16:creationId xmlns:a16="http://schemas.microsoft.com/office/drawing/2014/main" id="{128C590C-A154-4066-83B8-96D249A8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200150" cy="13525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28575">
            <a:solidFill>
              <a:srgbClr val="3B82F6"/>
            </a:solidFill>
            <a:prstDash val="solid"/>
          </a:ln>
        </p:spPr>
      </p:sp>
      <p:sp>
        <p:nvSpPr>
          <p:cNvPr id="6" name="integration-python-label">
            <a:extLst xmlns:a="http://schemas.openxmlformats.org/drawingml/2006/main">
              <a:ext uri="{FF2B5EF4-FFF2-40B4-BE49-F238E27FC236}">
                <a16:creationId xmlns:a16="http://schemas.microsoft.com/office/drawing/2014/main" id="{9975A016-8680-47DE-B951-3200CF82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933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28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PYTHON
OUTPUT PATH</a:t>
            </a:r>
          </a:p>
        </p:txBody>
      </p:sp>
      <p:sp>
        <p:nvSpPr>
          <p:cNvPr id="7" name="integration-python-card-0">
            <a:extLst xmlns:a="http://schemas.openxmlformats.org/drawingml/2006/main">
              <a:ext uri="{FF2B5EF4-FFF2-40B4-BE49-F238E27FC236}">
                <a16:creationId xmlns:a16="http://schemas.microsoft.com/office/drawing/2014/main" id="{8C2BA5EB-438C-4335-BD17-A994DA71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669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B82F6"/>
            </a:solidFill>
            <a:prstDash val="solid"/>
          </a:ln>
        </p:spPr>
      </p:sp>
      <p:sp>
        <p:nvSpPr>
          <p:cNvPr id="8" name="integration-python-kicker-0">
            <a:extLst xmlns:a="http://schemas.openxmlformats.org/drawingml/2006/main">
              <a:ext uri="{FF2B5EF4-FFF2-40B4-BE49-F238E27FC236}">
                <a16:creationId xmlns:a16="http://schemas.microsoft.com/office/drawing/2014/main" id="{229E24FE-DE54-4495-89A2-A1F8A67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38350"/>
            <a:ext cx="2305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EFFECT</a:t>
            </a:r>
          </a:p>
        </p:txBody>
      </p:sp>
      <p:sp>
        <p:nvSpPr>
          <p:cNvPr id="9" name="integration-python-body-0">
            <a:extLst xmlns:a="http://schemas.openxmlformats.org/drawingml/2006/main">
              <a:ext uri="{FF2B5EF4-FFF2-40B4-BE49-F238E27FC236}">
                <a16:creationId xmlns:a16="http://schemas.microsoft.com/office/drawing/2014/main" id="{4E1154E4-AB6F-42C6-AC70-D535A6B1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95550"/>
            <a:ext cx="2305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MockSession
constructs event</a:t>
            </a:r>
          </a:p>
        </p:txBody>
      </p:sp>
      <p:sp>
        <p:nvSpPr>
          <p:cNvPr id="10" name="integration-python-arrow-0">
            <a:extLst xmlns:a="http://schemas.openxmlformats.org/drawingml/2006/main">
              <a:ext uri="{FF2B5EF4-FFF2-40B4-BE49-F238E27FC236}">
                <a16:creationId xmlns:a16="http://schemas.microsoft.com/office/drawing/2014/main" id="{A79F2138-0FC0-4425-AD63-792402A2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gration-python-card-1">
            <a:extLst xmlns:a="http://schemas.openxmlformats.org/drawingml/2006/main">
              <a:ext uri="{FF2B5EF4-FFF2-40B4-BE49-F238E27FC236}">
                <a16:creationId xmlns:a16="http://schemas.microsoft.com/office/drawing/2014/main" id="{42104CF9-3734-4F02-9624-A8DA0D71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12" name="integration-python-kicker-1">
            <a:extLst xmlns:a="http://schemas.openxmlformats.org/drawingml/2006/main">
              <a:ext uri="{FF2B5EF4-FFF2-40B4-BE49-F238E27FC236}">
                <a16:creationId xmlns:a16="http://schemas.microsoft.com/office/drawing/2014/main" id="{1810E4F4-58B9-48E4-BBAA-976B4ABF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2305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WRITE GATE</a:t>
            </a:r>
          </a:p>
        </p:txBody>
      </p:sp>
      <p:sp>
        <p:nvSpPr>
          <p:cNvPr id="13" name="integration-python-body-1">
            <a:extLst xmlns:a="http://schemas.openxmlformats.org/drawingml/2006/main">
              <a:ext uri="{FF2B5EF4-FFF2-40B4-BE49-F238E27FC236}">
                <a16:creationId xmlns:a16="http://schemas.microsoft.com/office/drawing/2014/main" id="{46109A5E-A336-441A-BC37-B4A10D12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95550"/>
            <a:ext cx="2305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Pydantic +
OrderedEventWriter</a:t>
            </a:r>
          </a:p>
        </p:txBody>
      </p:sp>
      <p:sp>
        <p:nvSpPr>
          <p:cNvPr id="14" name="integration-python-arrow-1">
            <a:extLst xmlns:a="http://schemas.openxmlformats.org/drawingml/2006/main">
              <a:ext uri="{FF2B5EF4-FFF2-40B4-BE49-F238E27FC236}">
                <a16:creationId xmlns:a16="http://schemas.microsoft.com/office/drawing/2014/main" id="{D1582199-B09B-403E-9056-AB17C3A2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gration-python-card-2">
            <a:extLst xmlns:a="http://schemas.openxmlformats.org/drawingml/2006/main">
              <a:ext uri="{FF2B5EF4-FFF2-40B4-BE49-F238E27FC236}">
                <a16:creationId xmlns:a16="http://schemas.microsoft.com/office/drawing/2014/main" id="{EC7522FD-C515-482F-93EB-240C1AB7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669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9EF"/>
          </a:solidFill>
          <a:ln xmlns:a="http://schemas.openxmlformats.org/drawingml/2006/main" w="28575">
            <a:solidFill>
              <a:srgbClr val="22C55E"/>
            </a:solidFill>
            <a:prstDash val="solid"/>
          </a:ln>
        </p:spPr>
      </p:sp>
      <p:sp>
        <p:nvSpPr>
          <p:cNvPr id="16" name="integration-python-kicker-2">
            <a:extLst xmlns:a="http://schemas.openxmlformats.org/drawingml/2006/main">
              <a:ext uri="{FF2B5EF4-FFF2-40B4-BE49-F238E27FC236}">
                <a16:creationId xmlns:a16="http://schemas.microsoft.com/office/drawing/2014/main" id="{DEB95292-87FD-4376-BE21-E64CC643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305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OBSERVER</a:t>
            </a:r>
          </a:p>
        </p:txBody>
      </p:sp>
      <p:sp>
        <p:nvSpPr>
          <p:cNvPr id="17" name="integration-python-body-2">
            <a:extLst xmlns:a="http://schemas.openxmlformats.org/drawingml/2006/main">
              <a:ext uri="{FF2B5EF4-FFF2-40B4-BE49-F238E27FC236}">
                <a16:creationId xmlns:a16="http://schemas.microsoft.com/office/drawing/2014/main" id="{F53D3B7B-3C70-4014-B64C-54391F05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2305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Python reducer
post-write check</a:t>
            </a:r>
          </a:p>
        </p:txBody>
      </p:sp>
      <p:sp>
        <p:nvSpPr>
          <p:cNvPr id="18" name="integration-tui-lane">
            <a:extLst xmlns:a="http://schemas.openxmlformats.org/drawingml/2006/main">
              <a:ext uri="{FF2B5EF4-FFF2-40B4-BE49-F238E27FC236}">
                <a16:creationId xmlns:a16="http://schemas.microsoft.com/office/drawing/2014/main" id="{08F9C0D4-5480-4816-8B29-C470BC6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200150" cy="13525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19" name="integration-tui-label">
            <a:extLst xmlns:a="http://schemas.openxmlformats.org/drawingml/2006/main">
              <a:ext uri="{FF2B5EF4-FFF2-40B4-BE49-F238E27FC236}">
                <a16:creationId xmlns:a16="http://schemas.microsoft.com/office/drawing/2014/main" id="{9FB3E432-F6AE-4701-870D-9A4604F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933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TUI
INPUT PATH</a:t>
            </a:r>
          </a:p>
        </p:txBody>
      </p:sp>
      <p:sp>
        <p:nvSpPr>
          <p:cNvPr id="20" name="integration-tui-card-0">
            <a:extLst xmlns:a="http://schemas.openxmlformats.org/drawingml/2006/main">
              <a:ext uri="{FF2B5EF4-FFF2-40B4-BE49-F238E27FC236}">
                <a16:creationId xmlns:a16="http://schemas.microsoft.com/office/drawing/2014/main" id="{F297F77C-C1F5-4305-A0EF-6A554B2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10000"/>
            <a:ext cx="20383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B82F6"/>
            </a:solidFill>
            <a:prstDash val="solid"/>
          </a:ln>
        </p:spPr>
      </p:sp>
      <p:sp>
        <p:nvSpPr>
          <p:cNvPr id="21" name="integration-tui-kicker-0">
            <a:extLst xmlns:a="http://schemas.openxmlformats.org/drawingml/2006/main">
              <a:ext uri="{FF2B5EF4-FFF2-40B4-BE49-F238E27FC236}">
                <a16:creationId xmlns:a16="http://schemas.microsoft.com/office/drawing/2014/main" id="{5FDEBF80-CD99-42EE-A9F7-31B7E233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81450"/>
            <a:ext cx="1771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STREAM</a:t>
            </a:r>
          </a:p>
        </p:txBody>
      </p:sp>
      <p:sp>
        <p:nvSpPr>
          <p:cNvPr id="22" name="integration-tui-body-0">
            <a:extLst xmlns:a="http://schemas.openxmlformats.org/drawingml/2006/main">
              <a:ext uri="{FF2B5EF4-FFF2-40B4-BE49-F238E27FC236}">
                <a16:creationId xmlns:a16="http://schemas.microsoft.com/office/drawing/2014/main" id="{F33D5370-3E08-4A76-8D0B-C239AFAA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38650"/>
            <a:ext cx="1771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NDJSON
stdout</a:t>
            </a:r>
          </a:p>
        </p:txBody>
      </p:sp>
      <p:sp>
        <p:nvSpPr>
          <p:cNvPr id="23" name="integration-tui-arrow-0">
            <a:extLst xmlns:a="http://schemas.openxmlformats.org/drawingml/2006/main">
              <a:ext uri="{FF2B5EF4-FFF2-40B4-BE49-F238E27FC236}">
                <a16:creationId xmlns:a16="http://schemas.microsoft.com/office/drawing/2014/main" id="{F1396B85-28CB-445E-9D4B-A067FB4C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243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tegration-tui-card-1">
            <a:extLst xmlns:a="http://schemas.openxmlformats.org/drawingml/2006/main">
              <a:ext uri="{FF2B5EF4-FFF2-40B4-BE49-F238E27FC236}">
                <a16:creationId xmlns:a16="http://schemas.microsoft.com/office/drawing/2014/main" id="{96DEF2CA-B6E5-410E-9944-C90D9BE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10000"/>
            <a:ext cx="20383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25" name="integration-tui-kicker-1">
            <a:extLst xmlns:a="http://schemas.openxmlformats.org/drawingml/2006/main">
              <a:ext uri="{FF2B5EF4-FFF2-40B4-BE49-F238E27FC236}">
                <a16:creationId xmlns:a16="http://schemas.microsoft.com/office/drawing/2014/main" id="{B64F5E29-BFD2-4B20-9FDE-15C0CFC7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1771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BOUNDARY</a:t>
            </a:r>
          </a:p>
        </p:txBody>
      </p:sp>
      <p:sp>
        <p:nvSpPr>
          <p:cNvPr id="26" name="integration-tui-body-1">
            <a:extLst xmlns:a="http://schemas.openxmlformats.org/drawingml/2006/main">
              <a:ext uri="{FF2B5EF4-FFF2-40B4-BE49-F238E27FC236}">
                <a16:creationId xmlns:a16="http://schemas.microsoft.com/office/drawing/2014/main" id="{BD63FFC6-2F3F-456E-A8C1-F25A2A3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1771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Zod
parse</a:t>
            </a:r>
          </a:p>
        </p:txBody>
      </p:sp>
      <p:sp>
        <p:nvSpPr>
          <p:cNvPr id="27" name="integration-tui-arrow-1">
            <a:extLst xmlns:a="http://schemas.openxmlformats.org/drawingml/2006/main">
              <a:ext uri="{FF2B5EF4-FFF2-40B4-BE49-F238E27FC236}">
                <a16:creationId xmlns:a16="http://schemas.microsoft.com/office/drawing/2014/main" id="{DA1246EE-A368-4CCD-A5D3-2CB35BE0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integration-tui-card-2">
            <a:extLst xmlns:a="http://schemas.openxmlformats.org/drawingml/2006/main">
              <a:ext uri="{FF2B5EF4-FFF2-40B4-BE49-F238E27FC236}">
                <a16:creationId xmlns:a16="http://schemas.microsoft.com/office/drawing/2014/main" id="{E4F7592A-1E77-4CC5-B7F1-5DE9AA52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20383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9EF"/>
          </a:solidFill>
          <a:ln xmlns:a="http://schemas.openxmlformats.org/drawingml/2006/main" w="28575">
            <a:solidFill>
              <a:srgbClr val="22C55E"/>
            </a:solidFill>
            <a:prstDash val="solid"/>
          </a:ln>
        </p:spPr>
      </p:sp>
      <p:sp>
        <p:nvSpPr>
          <p:cNvPr id="29" name="integration-tui-kicker-2">
            <a:extLst xmlns:a="http://schemas.openxmlformats.org/drawingml/2006/main">
              <a:ext uri="{FF2B5EF4-FFF2-40B4-BE49-F238E27FC236}">
                <a16:creationId xmlns:a16="http://schemas.microsoft.com/office/drawing/2014/main" id="{354273ED-279A-4F11-AB85-EA2E2A65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81450"/>
            <a:ext cx="1771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CORE</a:t>
            </a:r>
          </a:p>
        </p:txBody>
      </p:sp>
      <p:sp>
        <p:nvSpPr>
          <p:cNvPr id="30" name="integration-tui-body-2">
            <a:extLst xmlns:a="http://schemas.openxmlformats.org/drawingml/2006/main">
              <a:ext uri="{FF2B5EF4-FFF2-40B4-BE49-F238E27FC236}">
                <a16:creationId xmlns:a16="http://schemas.microsoft.com/office/drawing/2014/main" id="{9F71ADB5-87EA-43A7-B70A-04B19968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38650"/>
            <a:ext cx="1771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TypeScript
reducer</a:t>
            </a:r>
          </a:p>
        </p:txBody>
      </p:sp>
      <p:sp>
        <p:nvSpPr>
          <p:cNvPr id="31" name="integration-tui-arrow-2">
            <a:extLst xmlns:a="http://schemas.openxmlformats.org/drawingml/2006/main">
              <a:ext uri="{FF2B5EF4-FFF2-40B4-BE49-F238E27FC236}">
                <a16:creationId xmlns:a16="http://schemas.microsoft.com/office/drawing/2014/main" id="{F78CA4B6-AD96-4199-8EA0-400D5B6E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2435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integration-tui-card-3">
            <a:extLst xmlns:a="http://schemas.openxmlformats.org/drawingml/2006/main">
              <a:ext uri="{FF2B5EF4-FFF2-40B4-BE49-F238E27FC236}">
                <a16:creationId xmlns:a16="http://schemas.microsoft.com/office/drawing/2014/main" id="{D9BE6989-07F0-4BF7-BFFB-0C8F6C45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10000"/>
            <a:ext cx="20383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33" name="integration-tui-kicker-3">
            <a:extLst xmlns:a="http://schemas.openxmlformats.org/drawingml/2006/main">
              <a:ext uri="{FF2B5EF4-FFF2-40B4-BE49-F238E27FC236}">
                <a16:creationId xmlns:a16="http://schemas.microsoft.com/office/drawing/2014/main" id="{FE34C081-EBB1-4A6C-BF69-E34C7D82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81450"/>
            <a:ext cx="1771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VIEW</a:t>
            </a:r>
          </a:p>
        </p:txBody>
      </p:sp>
      <p:sp>
        <p:nvSpPr>
          <p:cNvPr id="34" name="integration-tui-body-3">
            <a:extLst xmlns:a="http://schemas.openxmlformats.org/drawingml/2006/main">
              <a:ext uri="{FF2B5EF4-FFF2-40B4-BE49-F238E27FC236}">
                <a16:creationId xmlns:a16="http://schemas.microsoft.com/office/drawing/2014/main" id="{1718C653-4C4A-4FD3-9BFB-CE54EF04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38650"/>
            <a:ext cx="1771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history
+ Ink</a:t>
            </a:r>
          </a:p>
        </p:txBody>
      </p:sp>
      <p:sp>
        <p:nvSpPr>
          <p:cNvPr id="35" name="integration-rule">
            <a:extLst xmlns:a="http://schemas.openxmlformats.org/drawingml/2006/main">
              <a:ext uri="{FF2B5EF4-FFF2-40B4-BE49-F238E27FC236}">
                <a16:creationId xmlns:a16="http://schemas.microsoft.com/office/drawing/2014/main" id="{D351D1BF-2FC5-4368-9338-66C6C97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integration-rule-text">
            <a:extLst xmlns:a="http://schemas.openxmlformats.org/drawingml/2006/main">
              <a:ext uri="{FF2B5EF4-FFF2-40B4-BE49-F238E27FC236}">
                <a16:creationId xmlns:a16="http://schemas.microsoft.com/office/drawing/2014/main" id="{D2577FEA-7234-4DA0-9F7E-0AB85153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86450"/>
            <a:ext cx="8534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Both reducers stay pure: no I/O • clock • randomness • mutation • policy</a:t>
            </a:r>
          </a:p>
        </p:txBody>
      </p:sp>
    </p:spTree>
    <p:extLst>
      <p:ext uri="{BB962C8B-B14F-4D97-AF65-F5344CB8AC3E}">
        <p14:creationId xmlns:p14="http://schemas.microsoft.com/office/powerpoint/2010/main" val="808166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0D26D019-FD36-4AAE-899A-6E8FCB04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CAH-010  /  SESSION STATE REDUCER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6CAC235-0695-4A78-B677-8328F3A8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Handwritten today; heavier machinery earns its ticket later</a:t>
            </a:r>
          </a:p>
        </p:txBody>
      </p:sp>
      <p:cxnSp>
        <p:nvCxnSpPr>
          <p:cNvPr id="16" name="rule-9"/>
          <p:cNvCxnSpPr/>
          <p:nvPr/>
        </p:nvCxnSpPr>
        <p:spPr>
          <a:xfrm xmlns:a="http://schemas.openxmlformats.org/drawingml/2006/main">
            <a:off x="457200" y="14097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</a:ln>
        </p:spPr>
      </p:cxnSp>
      <p:sp>
        <p:nvSpPr>
          <p:cNvPr id="4" name="number-9">
            <a:extLst xmlns:a="http://schemas.openxmlformats.org/drawingml/2006/main">
              <a:ext uri="{FF2B5EF4-FFF2-40B4-BE49-F238E27FC236}">
                <a16:creationId xmlns:a16="http://schemas.microsoft.com/office/drawing/2014/main" id="{BB35B145-1011-4E99-87C2-283F9C0F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9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5" name="prod-local">
            <a:extLst xmlns:a="http://schemas.openxmlformats.org/drawingml/2006/main">
              <a:ext uri="{FF2B5EF4-FFF2-40B4-BE49-F238E27FC236}">
                <a16:creationId xmlns:a16="http://schemas.microsoft.com/office/drawing/2014/main" id="{845DABB1-9B87-4CA2-9DAC-66EE3C6D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819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28575">
            <a:solidFill>
              <a:srgbClr val="3B82F6"/>
            </a:solidFill>
            <a:prstDash val="solid"/>
          </a:ln>
        </p:spPr>
      </p:sp>
      <p:sp>
        <p:nvSpPr>
          <p:cNvPr id="6" name="prod-scale">
            <a:extLst xmlns:a="http://schemas.openxmlformats.org/drawingml/2006/main">
              <a:ext uri="{FF2B5EF4-FFF2-40B4-BE49-F238E27FC236}">
                <a16:creationId xmlns:a16="http://schemas.microsoft.com/office/drawing/2014/main" id="{28FCFE2E-F11B-4710-917F-525D8EC5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4819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7" name="prod-arrow">
            <a:extLst xmlns:a="http://schemas.openxmlformats.org/drawingml/2006/main">
              <a:ext uri="{FF2B5EF4-FFF2-40B4-BE49-F238E27FC236}">
                <a16:creationId xmlns:a16="http://schemas.microsoft.com/office/drawing/2014/main" id="{C5309C20-B612-4726-8872-023CA0A0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29000"/>
            <a:ext cx="10668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d-local-title">
            <a:extLst xmlns:a="http://schemas.openxmlformats.org/drawingml/2006/main">
              <a:ext uri="{FF2B5EF4-FFF2-40B4-BE49-F238E27FC236}">
                <a16:creationId xmlns:a16="http://schemas.microsoft.com/office/drawing/2014/main" id="{D2D1B38E-ACE1-49B6-8558-7DD48B65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24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THIS REPOSITORY</a:t>
            </a:r>
          </a:p>
        </p:txBody>
      </p:sp>
      <p:sp>
        <p:nvSpPr>
          <p:cNvPr id="9" name="prod-local-body">
            <a:extLst xmlns:a="http://schemas.openxmlformats.org/drawingml/2006/main">
              <a:ext uri="{FF2B5EF4-FFF2-40B4-BE49-F238E27FC236}">
                <a16:creationId xmlns:a16="http://schemas.microsoft.com/office/drawing/2014/main" id="{2FE7E633-3AB2-444D-8EEC-1EE5315C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24815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two small pure reducers
reviewed JSON fixtures
in-memory state
strict diagnostic terminals
offline deterministic tests</a:t>
            </a:r>
          </a:p>
        </p:txBody>
      </p:sp>
      <p:sp>
        <p:nvSpPr>
          <p:cNvPr id="10" name="prod-scale-title">
            <a:extLst xmlns:a="http://schemas.openxmlformats.org/drawingml/2006/main">
              <a:ext uri="{FF2B5EF4-FFF2-40B4-BE49-F238E27FC236}">
                <a16:creationId xmlns:a16="http://schemas.microsoft.com/office/drawing/2014/main" id="{70C7282D-0C6E-4DDF-90C3-E26FF026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424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PRODUCTION EXPANSION</a:t>
            </a:r>
          </a:p>
        </p:txBody>
      </p:sp>
      <p:sp>
        <p:nvSpPr>
          <p:cNvPr id="11" name="prod-scale-body">
            <a:extLst xmlns:a="http://schemas.openxmlformats.org/drawingml/2006/main">
              <a:ext uri="{FF2B5EF4-FFF2-40B4-BE49-F238E27FC236}">
                <a16:creationId xmlns:a16="http://schemas.microsoft.com/office/drawing/2014/main" id="{B7D0F858-903B-4AC7-A70F-C062E3DD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424815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statecharts + model tests
durable event history
snapshots + migrations
poison-event quarantine
transition telemetry</a:t>
            </a:r>
          </a:p>
        </p:txBody>
      </p:sp>
      <p:sp>
        <p:nvSpPr>
          <p:cNvPr id="12" name="prod-tools">
            <a:extLst xmlns:a="http://schemas.openxmlformats.org/drawingml/2006/main">
              <a:ext uri="{FF2B5EF4-FFF2-40B4-BE49-F238E27FC236}">
                <a16:creationId xmlns:a16="http://schemas.microsoft.com/office/drawing/2014/main" id="{AAAF4665-48D0-470F-9F7C-BB8DFD85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Representative capabilities: Redux Toolkit • XState • Temporal • Hypothesis • OpenTelemetry</a:t>
            </a:r>
          </a:p>
        </p:txBody>
      </p:sp>
      <p:sp>
        <p:nvSpPr>
          <p:cNvPr id="13" name="prod-signal">
            <a:extLst xmlns:a="http://schemas.openxmlformats.org/drawingml/2006/main">
              <a:ext uri="{FF2B5EF4-FFF2-40B4-BE49-F238E27FC236}">
                <a16:creationId xmlns:a16="http://schemas.microsoft.com/office/drawing/2014/main" id="{F1D95FE7-A2B8-486C-B8A1-3E5F6F85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76950"/>
            <a:ext cx="1040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t>Graduate when graph complexity, durability, or cross-version replay becomes measured pain.</a:t>
            </a:r>
          </a:p>
        </p:txBody>
      </p:sp>
    </p:spTree>
    <p:extLst>
      <p:ext uri="{BB962C8B-B14F-4D97-AF65-F5344CB8AC3E}">
        <p14:creationId xmlns:p14="http://schemas.microsoft.com/office/powerpoint/2010/main" val="19379456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bg">
            <a:extLst xmlns:a="http://schemas.openxmlformats.org/drawingml/2006/main">
              <a:ext uri="{FF2B5EF4-FFF2-40B4-BE49-F238E27FC236}">
                <a16:creationId xmlns:a16="http://schemas.microsoft.com/office/drawing/2014/main" id="{5C373F77-10F0-4150-A590-6AEBAFAE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B521735B-CDC3-48FA-81F7-5EFA9F4A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590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t>CAH-010  •  STATE CONTRACT VERIFIED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DE53C16-A598-4F3E-AEBA-5F349DE3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81915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Replay the facts.
Trust the destination.</a:t>
            </a:r>
          </a:p>
        </p:txBody>
      </p:sp>
      <p:sp>
        <p:nvSpPr>
          <p:cNvPr id="4" name="close-number-0">
            <a:extLst xmlns:a="http://schemas.openxmlformats.org/drawingml/2006/main">
              <a:ext uri="{FF2B5EF4-FFF2-40B4-BE49-F238E27FC236}">
                <a16:creationId xmlns:a16="http://schemas.microsoft.com/office/drawing/2014/main" id="{AAA64012-A00B-4037-9CB9-01F3DD31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5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E22D2FB9-6318-47E2-A30B-09CAC0AE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114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effects emit facts</a:t>
            </a:r>
          </a:p>
        </p:txBody>
      </p:sp>
      <p:sp>
        <p:nvSpPr>
          <p:cNvPr id="6" name="close-number-1">
            <a:extLst xmlns:a="http://schemas.openxmlformats.org/drawingml/2006/main">
              <a:ext uri="{FF2B5EF4-FFF2-40B4-BE49-F238E27FC236}">
                <a16:creationId xmlns:a16="http://schemas.microsoft.com/office/drawing/2014/main" id="{85360209-A3C4-41F5-A658-FFC7086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528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5A4B07B8-6D60-443F-B3A2-C0940AA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52800"/>
            <a:ext cx="2114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guards protect history</a:t>
            </a:r>
          </a:p>
        </p:txBody>
      </p:sp>
      <p:sp>
        <p:nvSpPr>
          <p:cNvPr id="8" name="close-number-2">
            <a:extLst xmlns:a="http://schemas.openxmlformats.org/drawingml/2006/main">
              <a:ext uri="{FF2B5EF4-FFF2-40B4-BE49-F238E27FC236}">
                <a16:creationId xmlns:a16="http://schemas.microsoft.com/office/drawing/2014/main" id="{6883D22D-E441-45FA-84DC-F2FFC2B5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9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9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9F86B567-D34E-4D8E-8163-714B1ACF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52800"/>
            <a:ext cx="2114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terminals stay terminal</a:t>
            </a:r>
          </a:p>
        </p:txBody>
      </p:sp>
      <p:cxnSp>
        <p:nvCxnSpPr>
          <p:cNvPr id="28" name="close-track"/>
          <p:cNvCxnSpPr/>
          <p:nvPr/>
        </p:nvCxnSpPr>
        <p:spPr>
          <a:xfrm xmlns:a="http://schemas.openxmlformats.org/drawingml/2006/main">
            <a:off x="666750" y="4762500"/>
            <a:ext cx="10210800" cy="953"/>
          </a:xfrm>
          <a:prstGeom xmlns:a="http://schemas.openxmlformats.org/drawingml/2006/main" prst="straightConnector1">
            <a:avLst/>
          </a:prstGeom>
          <a:ln xmlns:a="http://schemas.openxmlformats.org/drawingml/2006/main" w="152400">
            <a:solidFill>
              <a:srgbClr val="29445F"/>
            </a:solidFill>
            <a:prstDash val="solid"/>
          </a:ln>
        </p:spPr>
      </p:cxnSp>
      <p:cxnSp>
        <p:nvCxnSpPr>
          <p:cNvPr id="29" name="close-track-live"/>
          <p:cNvCxnSpPr/>
          <p:nvPr/>
        </p:nvCxnSpPr>
        <p:spPr>
          <a:xfrm xmlns:a="http://schemas.openxmlformats.org/drawingml/2006/main">
            <a:off x="666750" y="4762500"/>
            <a:ext cx="6991350" cy="953"/>
          </a:xfrm>
          <a:prstGeom xmlns:a="http://schemas.openxmlformats.org/drawingml/2006/main" prst="straightConnector1">
            <a:avLst/>
          </a:prstGeom>
          <a:ln xmlns:a="http://schemas.openxmlformats.org/drawingml/2006/main" w="152400">
            <a:solidFill>
              <a:srgbClr val="22C55E"/>
            </a:solidFill>
            <a:prstDash val="solid"/>
          </a:ln>
        </p:spPr>
      </p:cxnSp>
      <p:sp>
        <p:nvSpPr>
          <p:cNvPr id="12" name="close-track-arrow">
            <a:extLst xmlns:a="http://schemas.openxmlformats.org/drawingml/2006/main">
              <a:ext uri="{FF2B5EF4-FFF2-40B4-BE49-F238E27FC236}">
                <a16:creationId xmlns:a16="http://schemas.microsoft.com/office/drawing/2014/main" id="{769BD235-288E-4DBC-B746-F7FE61E4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129540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terminal">
            <a:extLst xmlns:a="http://schemas.openxmlformats.org/drawingml/2006/main">
              <a:ext uri="{FF2B5EF4-FFF2-40B4-BE49-F238E27FC236}">
                <a16:creationId xmlns:a16="http://schemas.microsoft.com/office/drawing/2014/main" id="{3554605D-EB4D-4072-9292-DA462FA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81450"/>
            <a:ext cx="165735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51F"/>
          </a:solidFill>
          <a:ln xmlns:a="http://schemas.openxmlformats.org/drawingml/2006/main" w="66675">
            <a:solidFill>
              <a:srgbClr val="22C55E"/>
            </a:solidFill>
            <a:prstDash val="solid"/>
          </a:ln>
        </p:spPr>
      </p:sp>
      <p:sp>
        <p:nvSpPr>
          <p:cNvPr id="14" name="close-check">
            <a:extLst xmlns:a="http://schemas.openxmlformats.org/drawingml/2006/main">
              <a:ext uri="{FF2B5EF4-FFF2-40B4-BE49-F238E27FC236}">
                <a16:creationId xmlns:a16="http://schemas.microsoft.com/office/drawing/2014/main" id="{FDE78F29-D7CD-4505-B571-40907D6C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29100"/>
            <a:ext cx="8953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5" name="close-next">
            <a:extLst xmlns:a="http://schemas.openxmlformats.org/drawingml/2006/main">
              <a:ext uri="{FF2B5EF4-FFF2-40B4-BE49-F238E27FC236}">
                <a16:creationId xmlns:a16="http://schemas.microsoft.com/office/drawing/2014/main" id="{95740154-09A8-403E-BD3B-5ECBF5CE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8172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16" name="close-next-kicker">
            <a:extLst xmlns:a="http://schemas.openxmlformats.org/drawingml/2006/main">
              <a:ext uri="{FF2B5EF4-FFF2-40B4-BE49-F238E27FC236}">
                <a16:creationId xmlns:a16="http://schemas.microsoft.com/office/drawing/2014/main" id="{AE162CEE-32F5-4F7B-8DDA-2DD5ED6B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2152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NEXT  →  CAH-011</a:t>
            </a:r>
          </a:p>
        </p:txBody>
      </p:sp>
      <p:sp>
        <p:nvSpPr>
          <p:cNvPr id="17" name="close-next-body">
            <a:extLst xmlns:a="http://schemas.openxmlformats.org/drawingml/2006/main">
              <a:ext uri="{FF2B5EF4-FFF2-40B4-BE49-F238E27FC236}">
                <a16:creationId xmlns:a16="http://schemas.microsoft.com/office/drawing/2014/main" id="{D7133B1C-4FA4-415D-A737-5E1DC1C6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772150"/>
            <a:ext cx="537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Persist trusted lifecycle history as an append-only transcript.</a:t>
            </a:r>
          </a:p>
        </p:txBody>
      </p:sp>
      <p:sp>
        <p:nvSpPr>
          <p:cNvPr id="18" name="close-fun">
            <a:extLst xmlns:a="http://schemas.openxmlformats.org/drawingml/2006/main">
              <a:ext uri="{FF2B5EF4-FFF2-40B4-BE49-F238E27FC236}">
                <a16:creationId xmlns:a16="http://schemas.microsoft.com/office/drawing/2014/main" id="{34019F83-EBB1-4BF3-AD93-E6DC6DC8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41985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t>All aboard the deterministic express.</a:t>
            </a:r>
          </a:p>
        </p:txBody>
      </p:sp>
    </p:spTree>
    <p:extLst>
      <p:ext uri="{BB962C8B-B14F-4D97-AF65-F5344CB8AC3E}">
        <p14:creationId xmlns:p14="http://schemas.microsoft.com/office/powerpoint/2010/main" val="1721289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2026-07-30T23:24:27.9750000Z</dcterms:created>
  <dcterms:modified xsi:type="dcterms:W3CDTF">2026-07-30T23:24:27.9750000Z</dcterms:modified>
</coreProperties>
</file>