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b18e00a0c54af6" /><Relationship Type="http://schemas.openxmlformats.org/officeDocument/2006/relationships/extended-properties" Target="/docProps/app.xml" Id="R8ee0c096e159418e" /><Relationship Type="http://schemas.openxmlformats.org/officeDocument/2006/relationships/officeDocument" Target="/ppt/presentation.xml" Id="R11867083121840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1d4440495d4d71"/>
  </p:sldMasterIdLst>
  <p:notesMasterIdLst>
    <p:notesMasterId xmlns:r="http://schemas.openxmlformats.org/officeDocument/2006/relationships" r:id="Rcec55b6f4b6f4c6d"/>
  </p:notesMasterIdLst>
  <p:sldIdLst>
    <p:sldId xmlns:r="http://schemas.openxmlformats.org/officeDocument/2006/relationships" id="256" r:id="R0f79141aa44c443b"/>
    <p:sldId xmlns:r="http://schemas.openxmlformats.org/officeDocument/2006/relationships" id="257" r:id="Rc819be17c3d8453c"/>
    <p:sldId xmlns:r="http://schemas.openxmlformats.org/officeDocument/2006/relationships" id="258" r:id="R960003b112e74cee"/>
    <p:sldId xmlns:r="http://schemas.openxmlformats.org/officeDocument/2006/relationships" id="259" r:id="Re98024190ee94ae3"/>
    <p:sldId xmlns:r="http://schemas.openxmlformats.org/officeDocument/2006/relationships" id="260" r:id="R212dea502c1843af"/>
    <p:sldId xmlns:r="http://schemas.openxmlformats.org/officeDocument/2006/relationships" id="261" r:id="Rfaa5225b2c1c4255"/>
    <p:sldId xmlns:r="http://schemas.openxmlformats.org/officeDocument/2006/relationships" id="262" r:id="R43fdb226dbb5407a"/>
    <p:sldId xmlns:r="http://schemas.openxmlformats.org/officeDocument/2006/relationships" id="263" r:id="R13bfd95a8c324e60"/>
    <p:sldId xmlns:r="http://schemas.openxmlformats.org/officeDocument/2006/relationships" id="264" r:id="R146f4354228c4da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dbab94bed94dc4" /><Relationship Type="http://schemas.openxmlformats.org/officeDocument/2006/relationships/slideMaster" Target="/ppt/slideMasters/slideMaster1.xml" Id="R7f1d4440495d4d71" /><Relationship Type="http://schemas.openxmlformats.org/officeDocument/2006/relationships/notesMaster" Target="/ppt/notesMasters/notesMaster1.xml" Id="Rcec55b6f4b6f4c6d" /><Relationship Type="http://schemas.openxmlformats.org/officeDocument/2006/relationships/presProps" Target="/ppt/presProps.xml" Id="R52cce00059a449b9" /><Relationship Type="http://schemas.openxmlformats.org/officeDocument/2006/relationships/tableStyles" Target="/ppt/tableStyles.xml" Id="R7efbca5f76c24231" /><Relationship Type="http://schemas.openxmlformats.org/officeDocument/2006/relationships/slide" Target="/ppt/slides/slide1.xml" Id="R0f79141aa44c443b" /><Relationship Type="http://schemas.openxmlformats.org/officeDocument/2006/relationships/slide" Target="/ppt/slides/slide2.xml" Id="Rc819be17c3d8453c" /><Relationship Type="http://schemas.openxmlformats.org/officeDocument/2006/relationships/slide" Target="/ppt/slides/slide3.xml" Id="R960003b112e74cee" /><Relationship Type="http://schemas.openxmlformats.org/officeDocument/2006/relationships/slide" Target="/ppt/slides/slide4.xml" Id="Re98024190ee94ae3" /><Relationship Type="http://schemas.openxmlformats.org/officeDocument/2006/relationships/slide" Target="/ppt/slides/slide5.xml" Id="R212dea502c1843af" /><Relationship Type="http://schemas.openxmlformats.org/officeDocument/2006/relationships/slide" Target="/ppt/slides/slide6.xml" Id="Rfaa5225b2c1c4255" /><Relationship Type="http://schemas.openxmlformats.org/officeDocument/2006/relationships/slide" Target="/ppt/slides/slide7.xml" Id="R43fdb226dbb5407a" /><Relationship Type="http://schemas.openxmlformats.org/officeDocument/2006/relationships/slide" Target="/ppt/slides/slide8.xml" Id="R13bfd95a8c324e60" /><Relationship Type="http://schemas.openxmlformats.org/officeDocument/2006/relationships/slide" Target="/ppt/slides/slide9.xml" Id="R146f4354228c4d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7ff67e79a346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3a9fe653e04a49" /><Relationship Type="http://schemas.openxmlformats.org/officeDocument/2006/relationships/notesMaster" Target="/ppt/notesMasters/notesMaster1.xml" Id="R1e40dec0fcdd4e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eef0f3812b48a5" /><Relationship Type="http://schemas.openxmlformats.org/officeDocument/2006/relationships/notesMaster" Target="/ppt/notesMasters/notesMaster1.xml" Id="Rc214bf0563794e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fd96b956374751" /><Relationship Type="http://schemas.openxmlformats.org/officeDocument/2006/relationships/notesMaster" Target="/ppt/notesMasters/notesMaster1.xml" Id="Rfc1ca79008294e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16e98f69be472e" /><Relationship Type="http://schemas.openxmlformats.org/officeDocument/2006/relationships/notesMaster" Target="/ppt/notesMasters/notesMaster1.xml" Id="Rf21069c318e94e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0edb0e700a457a" /><Relationship Type="http://schemas.openxmlformats.org/officeDocument/2006/relationships/notesMaster" Target="/ppt/notesMasters/notesMaster1.xml" Id="R2a9832fbc0d643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2ba5e22c5545c5" /><Relationship Type="http://schemas.openxmlformats.org/officeDocument/2006/relationships/notesMaster" Target="/ppt/notesMasters/notesMaster1.xml" Id="R88c9d9bc23b74c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82e8521464473f" /><Relationship Type="http://schemas.openxmlformats.org/officeDocument/2006/relationships/notesMaster" Target="/ppt/notesMasters/notesMaster1.xml" Id="Re3bbea76a41c45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5f08d607934e7d" /><Relationship Type="http://schemas.openxmlformats.org/officeDocument/2006/relationships/notesMaster" Target="/ppt/notesMasters/notesMaster1.xml" Id="R5cd4e103694e40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8ba88abd9c47d2" /><Relationship Type="http://schemas.openxmlformats.org/officeDocument/2006/relationships/notesMaster" Target="/ppt/notesMasters/notesMaster1.xml" Id="Rcc5c2de95c6b4f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0e4717698c4f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63e010f00d4faf" /><Relationship Type="http://schemas.openxmlformats.org/officeDocument/2006/relationships/slideLayout" Target="/ppt/slideLayouts/slideLayout1.xml" Id="R2af5d7968ab846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f5d7968ab846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8a4fc9afa484b" /><Relationship Type="http://schemas.openxmlformats.org/officeDocument/2006/relationships/notesSlide" Target="/ppt/notesSlides/notesSlide1.xml" Id="Rd7c67ba2aa0c4c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7b316038f4a3e" /><Relationship Type="http://schemas.openxmlformats.org/officeDocument/2006/relationships/notesSlide" Target="/ppt/notesSlides/notesSlide2.xml" Id="R267b07d983264b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df0d253f14ba2" /><Relationship Type="http://schemas.openxmlformats.org/officeDocument/2006/relationships/notesSlide" Target="/ppt/notesSlides/notesSlide3.xml" Id="R1843a4114cff41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fb9aa914c40fa" /><Relationship Type="http://schemas.openxmlformats.org/officeDocument/2006/relationships/notesSlide" Target="/ppt/notesSlides/notesSlide4.xml" Id="Refd097af674840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730cf0a694571" /><Relationship Type="http://schemas.openxmlformats.org/officeDocument/2006/relationships/notesSlide" Target="/ppt/notesSlides/notesSlide5.xml" Id="R7877dde84fc247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70e6dc453420c" /><Relationship Type="http://schemas.openxmlformats.org/officeDocument/2006/relationships/notesSlide" Target="/ppt/notesSlides/notesSlide6.xml" Id="Rc334130dfcda45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bafb2f7bc4e6b" /><Relationship Type="http://schemas.openxmlformats.org/officeDocument/2006/relationships/notesSlide" Target="/ppt/notesSlides/notesSlide7.xml" Id="Rf633a27df4b844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812af30cc47a8" /><Relationship Type="http://schemas.openxmlformats.org/officeDocument/2006/relationships/notesSlide" Target="/ppt/notesSlides/notesSlide8.xml" Id="R8893855df82b4e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ba85e9b094d2e" /><Relationship Type="http://schemas.openxmlformats.org/officeDocument/2006/relationships/notesSlide" Target="/ppt/notesSlides/notesSlide9.xml" Id="R51bea9635ad744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blue-rule">
            <a:extLst xmlns:a="http://schemas.openxmlformats.org/drawingml/2006/main">
              <a:ext uri="{FF2B5EF4-FFF2-40B4-BE49-F238E27FC236}">
                <a16:creationId xmlns:a16="http://schemas.microsoft.com/office/drawing/2014/main" id="{F16B620C-D277-42E6-AF2A-7ABDD998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43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7B53486A-AF8D-4640-AA9C-4B815885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191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CAH-005  •  VISUAL LESSON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D1A208B-17B2-43CC-93ED-C7AF760D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9810750" cy="274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Streaming is
observable state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F134FFE-5D68-433B-861E-7B3A3041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8001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A mocked session across Ink, NDJSON, and Python</a:t>
            </a:r>
          </a:p>
        </p:txBody>
      </p:sp>
      <p:sp>
        <p:nvSpPr>
          <p:cNvPr id="5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3BED8583-32E0-40DB-B5BC-DCAFAFA1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019800"/>
            <a:ext cx="2933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VERIFIED IMPLEMENTATION COMPANION</a:t>
            </a:r>
          </a:p>
        </p:txBody>
      </p:sp>
    </p:spTree>
    <p:extLst>
      <p:ext uri="{BB962C8B-B14F-4D97-AF65-F5344CB8AC3E}">
        <p14:creationId xmlns:p14="http://schemas.microsoft.com/office/powerpoint/2010/main" val="11224770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81AC00D3-FB0B-432E-99BA-2468D6E1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BA141E40-A749-4836-A364-832CA16C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boundary is real. The intelligence is mocked.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6E832511-1B51-449D-90DE-096774F0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CAH-005 proves integration without borrowing provider nondeterminism.</a:t>
            </a:r>
          </a:p>
        </p:txBody>
      </p:sp>
      <p:cxnSp>
        <p:nvCxnSpPr>
          <p:cNvPr id="13" name="scope-divider"/>
          <p:cNvCxnSpPr/>
          <p:nvPr/>
        </p:nvCxnSpPr>
        <p:spPr>
          <a:xfrm xmlns:a="http://schemas.openxmlformats.org/drawingml/2006/main">
            <a:off x="6096000" y="2209800"/>
            <a:ext cx="953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scope-real-kicker">
            <a:extLst xmlns:a="http://schemas.openxmlformats.org/drawingml/2006/main">
              <a:ext uri="{FF2B5EF4-FFF2-40B4-BE49-F238E27FC236}">
                <a16:creationId xmlns:a16="http://schemas.microsoft.com/office/drawing/2014/main" id="{CFD677DD-C9AC-4BD2-916D-B21F86B7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4953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REAL</a:t>
            </a:r>
          </a:p>
        </p:txBody>
      </p:sp>
      <p:sp>
        <p:nvSpPr>
          <p:cNvPr id="6" name="scope-real-body">
            <a:extLst xmlns:a="http://schemas.openxmlformats.org/drawingml/2006/main">
              <a:ext uri="{FF2B5EF4-FFF2-40B4-BE49-F238E27FC236}">
                <a16:creationId xmlns:a16="http://schemas.microsoft.com/office/drawing/2014/main" id="{0DCC744B-7778-46D8-AED5-A4306090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4953000" cy="274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Editable Ink input
Zod command validation
Node → uv → Python process
Pydantic command validation
Ordered NDJSON events
Pure UI projection</a:t>
            </a:r>
          </a:p>
        </p:txBody>
      </p:sp>
      <p:sp>
        <p:nvSpPr>
          <p:cNvPr id="7" name="scope-mock-kicker">
            <a:extLst xmlns:a="http://schemas.openxmlformats.org/drawingml/2006/main">
              <a:ext uri="{FF2B5EF4-FFF2-40B4-BE49-F238E27FC236}">
                <a16:creationId xmlns:a16="http://schemas.microsoft.com/office/drawing/2014/main" id="{21B0749F-707F-4EAC-900B-7E34D434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86000"/>
            <a:ext cx="5143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DELIBERATELY MOCKED</a:t>
            </a:r>
          </a:p>
        </p:txBody>
      </p:sp>
      <p:sp>
        <p:nvSpPr>
          <p:cNvPr id="8" name="scope-mock-body">
            <a:extLst xmlns:a="http://schemas.openxmlformats.org/drawingml/2006/main">
              <a:ext uri="{FF2B5EF4-FFF2-40B4-BE49-F238E27FC236}">
                <a16:creationId xmlns:a16="http://schemas.microsoft.com/office/drawing/2014/main" id="{CFB9DE1C-4830-46B5-B101-4445DAC8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52750"/>
            <a:ext cx="5143500" cy="274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Fixed bounded response text
Three short scheduling delays
No provider call
No agent/tool execution
No workspace mutation
No transcript persistence</a:t>
            </a:r>
          </a:p>
        </p:txBody>
      </p:sp>
      <p:sp>
        <p:nvSpPr>
          <p:cNvPr id="9" name="scope-bottom">
            <a:extLst xmlns:a="http://schemas.openxmlformats.org/drawingml/2006/main">
              <a:ext uri="{FF2B5EF4-FFF2-40B4-BE49-F238E27FC236}">
                <a16:creationId xmlns:a16="http://schemas.microsoft.com/office/drawing/2014/main" id="{7039A26F-AAC7-4400-84A8-55396D1E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28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thin vertical slice isolates transport, ordering, and rendering before model behavior arrives.</a:t>
            </a:r>
          </a:p>
        </p:txBody>
      </p:sp>
    </p:spTree>
    <p:extLst>
      <p:ext uri="{BB962C8B-B14F-4D97-AF65-F5344CB8AC3E}">
        <p14:creationId xmlns:p14="http://schemas.microsoft.com/office/powerpoint/2010/main" val="1377834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052C7B4D-DA44-47AD-AFE2-03CB2E0B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09E65867-8DFA-4B7A-9E91-73D85487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task crosses four trust boundaries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6068ED90-E3F3-4005-96D2-5BCEE1B4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Every process-boundary value is untrusted until its local validator accepts it.</a:t>
            </a:r>
          </a:p>
        </p:txBody>
      </p:sp>
      <p:sp>
        <p:nvSpPr>
          <p:cNvPr id="4" name="boundary-arrow-1">
            <a:extLst xmlns:a="http://schemas.openxmlformats.org/drawingml/2006/main">
              <a:ext uri="{FF2B5EF4-FFF2-40B4-BE49-F238E27FC236}">
                <a16:creationId xmlns:a16="http://schemas.microsoft.com/office/drawing/2014/main" id="{DF0EEA45-2E2E-48AF-8C1B-1E07E711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171825"/>
            <a:ext cx="590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undary-arrow-2">
            <a:extLst xmlns:a="http://schemas.openxmlformats.org/drawingml/2006/main">
              <a:ext uri="{FF2B5EF4-FFF2-40B4-BE49-F238E27FC236}">
                <a16:creationId xmlns:a16="http://schemas.microsoft.com/office/drawing/2014/main" id="{0796B61D-7AE5-4B77-8C69-91D3E113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71825"/>
            <a:ext cx="590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undary-arrow-3">
            <a:extLst xmlns:a="http://schemas.openxmlformats.org/drawingml/2006/main">
              <a:ext uri="{FF2B5EF4-FFF2-40B4-BE49-F238E27FC236}">
                <a16:creationId xmlns:a16="http://schemas.microsoft.com/office/drawing/2014/main" id="{DE7DACC9-F1C6-4D81-BB5C-73F095E4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71825"/>
            <a:ext cx="590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undary-arrow-4">
            <a:extLst xmlns:a="http://schemas.openxmlformats.org/drawingml/2006/main">
              <a:ext uri="{FF2B5EF4-FFF2-40B4-BE49-F238E27FC236}">
                <a16:creationId xmlns:a16="http://schemas.microsoft.com/office/drawing/2014/main" id="{8579CADC-1FF0-4D55-9AAE-39D2DAF9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71825"/>
            <a:ext cx="590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35" name="stdin-marker"/>
          <p:cNvCxnSpPr/>
          <p:nvPr/>
        </p:nvCxnSpPr>
        <p:spPr>
          <a:xfrm xmlns:a="http://schemas.openxmlformats.org/drawingml/2006/main">
            <a:off x="4552950" y="2114550"/>
            <a:ext cx="953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6" name="stdout-marker"/>
          <p:cNvCxnSpPr/>
          <p:nvPr/>
        </p:nvCxnSpPr>
        <p:spPr>
          <a:xfrm xmlns:a="http://schemas.openxmlformats.org/drawingml/2006/main">
            <a:off x="9201150" y="2114550"/>
            <a:ext cx="953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0" name="boundary-card-1">
            <a:extLst xmlns:a="http://schemas.openxmlformats.org/drawingml/2006/main">
              <a:ext uri="{FF2B5EF4-FFF2-40B4-BE49-F238E27FC236}">
                <a16:creationId xmlns:a16="http://schemas.microsoft.com/office/drawing/2014/main" id="{242000D1-7F31-4D31-8E0B-F89E1E22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1885950" cy="19812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boundary-card-title-1">
            <a:extLst xmlns:a="http://schemas.openxmlformats.org/drawingml/2006/main">
              <a:ext uri="{FF2B5EF4-FFF2-40B4-BE49-F238E27FC236}">
                <a16:creationId xmlns:a16="http://schemas.microsoft.com/office/drawing/2014/main" id="{1965E3BC-6643-41CB-8768-CFCE20D4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1504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Ink input</a:t>
            </a:r>
          </a:p>
        </p:txBody>
      </p:sp>
      <p:sp>
        <p:nvSpPr>
          <p:cNvPr id="12" name="boundary-card-body-1">
            <a:extLst xmlns:a="http://schemas.openxmlformats.org/drawingml/2006/main">
              <a:ext uri="{FF2B5EF4-FFF2-40B4-BE49-F238E27FC236}">
                <a16:creationId xmlns:a16="http://schemas.microsoft.com/office/drawing/2014/main" id="{B85003D7-4309-44D0-8FFA-177B5F7F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48050"/>
            <a:ext cx="15049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Collect task
keep draft text</a:t>
            </a:r>
          </a:p>
        </p:txBody>
      </p:sp>
      <p:sp>
        <p:nvSpPr>
          <p:cNvPr id="13" name="boundary-card-2">
            <a:extLst xmlns:a="http://schemas.openxmlformats.org/drawingml/2006/main">
              <a:ext uri="{FF2B5EF4-FFF2-40B4-BE49-F238E27FC236}">
                <a16:creationId xmlns:a16="http://schemas.microsoft.com/office/drawing/2014/main" id="{251568C5-5194-44A6-8C97-7577E1EE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1885950" cy="19812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19050">
            <a:solidFill>
              <a:srgbClr val="EDEDED"/>
            </a:solidFill>
            <a:prstDash val="solid"/>
          </a:ln>
        </p:spPr>
      </p:sp>
      <p:sp>
        <p:nvSpPr>
          <p:cNvPr id="14" name="boundary-card-title-2">
            <a:extLst xmlns:a="http://schemas.openxmlformats.org/drawingml/2006/main">
              <a:ext uri="{FF2B5EF4-FFF2-40B4-BE49-F238E27FC236}">
                <a16:creationId xmlns:a16="http://schemas.microsoft.com/office/drawing/2014/main" id="{866DF205-7CC5-4480-A6E6-049405E7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00350"/>
            <a:ext cx="1504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Zod command</a:t>
            </a:r>
          </a:p>
        </p:txBody>
      </p:sp>
      <p:sp>
        <p:nvSpPr>
          <p:cNvPr id="15" name="boundary-card-body-2">
            <a:extLst xmlns:a="http://schemas.openxmlformats.org/drawingml/2006/main">
              <a:ext uri="{FF2B5EF4-FFF2-40B4-BE49-F238E27FC236}">
                <a16:creationId xmlns:a16="http://schemas.microsoft.com/office/drawing/2014/main" id="{083D3B5D-6EAB-44CD-8D40-376F2BEE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448050"/>
            <a:ext cx="15049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Create ID
validate wire</a:t>
            </a:r>
          </a:p>
        </p:txBody>
      </p:sp>
      <p:sp>
        <p:nvSpPr>
          <p:cNvPr id="16" name="boundary-card-3">
            <a:extLst xmlns:a="http://schemas.openxmlformats.org/drawingml/2006/main">
              <a:ext uri="{FF2B5EF4-FFF2-40B4-BE49-F238E27FC236}">
                <a16:creationId xmlns:a16="http://schemas.microsoft.com/office/drawing/2014/main" id="{DCF858E2-71DF-4EFB-B2F7-C38A00D2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71750"/>
            <a:ext cx="1885950" cy="19812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boundary-card-title-3">
            <a:extLst xmlns:a="http://schemas.openxmlformats.org/drawingml/2006/main">
              <a:ext uri="{FF2B5EF4-FFF2-40B4-BE49-F238E27FC236}">
                <a16:creationId xmlns:a16="http://schemas.microsoft.com/office/drawing/2014/main" id="{CA388681-1EDD-49F7-8783-9186D0D4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0350"/>
            <a:ext cx="1504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Python runtime</a:t>
            </a:r>
          </a:p>
        </p:txBody>
      </p:sp>
      <p:sp>
        <p:nvSpPr>
          <p:cNvPr id="18" name="boundary-card-body-3">
            <a:extLst xmlns:a="http://schemas.openxmlformats.org/drawingml/2006/main">
              <a:ext uri="{FF2B5EF4-FFF2-40B4-BE49-F238E27FC236}">
                <a16:creationId xmlns:a16="http://schemas.microsoft.com/office/drawing/2014/main" id="{CC4582CD-009C-4AA8-9C4F-374E0E8D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48050"/>
            <a:ext cx="15049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Own session
schedule mock</a:t>
            </a:r>
          </a:p>
        </p:txBody>
      </p:sp>
      <p:sp>
        <p:nvSpPr>
          <p:cNvPr id="19" name="boundary-card-4">
            <a:extLst xmlns:a="http://schemas.openxmlformats.org/drawingml/2006/main">
              <a:ext uri="{FF2B5EF4-FFF2-40B4-BE49-F238E27FC236}">
                <a16:creationId xmlns:a16="http://schemas.microsoft.com/office/drawing/2014/main" id="{CB95DB70-F9E9-421D-BFD4-A268CF46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71750"/>
            <a:ext cx="1885950" cy="19812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19050">
            <a:solidFill>
              <a:srgbClr val="DCEBFF"/>
            </a:solidFill>
            <a:prstDash val="solid"/>
          </a:ln>
        </p:spPr>
      </p:sp>
      <p:sp>
        <p:nvSpPr>
          <p:cNvPr id="20" name="boundary-card-title-4">
            <a:extLst xmlns:a="http://schemas.openxmlformats.org/drawingml/2006/main">
              <a:ext uri="{FF2B5EF4-FFF2-40B4-BE49-F238E27FC236}">
                <a16:creationId xmlns:a16="http://schemas.microsoft.com/office/drawing/2014/main" id="{44C68674-252F-4237-A376-0CF28873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00350"/>
            <a:ext cx="1504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Ordered writer</a:t>
            </a:r>
          </a:p>
        </p:txBody>
      </p:sp>
      <p:sp>
        <p:nvSpPr>
          <p:cNvPr id="21" name="boundary-card-body-4">
            <a:extLst xmlns:a="http://schemas.openxmlformats.org/drawingml/2006/main">
              <a:ext uri="{FF2B5EF4-FFF2-40B4-BE49-F238E27FC236}">
                <a16:creationId xmlns:a16="http://schemas.microsoft.com/office/drawing/2014/main" id="{09E14873-168D-47F8-9253-DC92E794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48050"/>
            <a:ext cx="15049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Assign sequence
write one line</a:t>
            </a:r>
          </a:p>
        </p:txBody>
      </p:sp>
      <p:sp>
        <p:nvSpPr>
          <p:cNvPr id="22" name="boundary-card-5">
            <a:extLst xmlns:a="http://schemas.openxmlformats.org/drawingml/2006/main">
              <a:ext uri="{FF2B5EF4-FFF2-40B4-BE49-F238E27FC236}">
                <a16:creationId xmlns:a16="http://schemas.microsoft.com/office/drawing/2014/main" id="{2DDEA4ED-FB05-4CF9-83D6-6B553E92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71750"/>
            <a:ext cx="1885950" cy="19812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19050">
            <a:solidFill>
              <a:srgbClr val="EDEDED"/>
            </a:solidFill>
            <a:prstDash val="solid"/>
          </a:ln>
        </p:spPr>
      </p:sp>
      <p:sp>
        <p:nvSpPr>
          <p:cNvPr id="23" name="boundary-card-title-5">
            <a:extLst xmlns:a="http://schemas.openxmlformats.org/drawingml/2006/main">
              <a:ext uri="{FF2B5EF4-FFF2-40B4-BE49-F238E27FC236}">
                <a16:creationId xmlns:a16="http://schemas.microsoft.com/office/drawing/2014/main" id="{EF87C95D-C8BD-4C75-B635-37BF478B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800350"/>
            <a:ext cx="1504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TUI projection</a:t>
            </a:r>
          </a:p>
        </p:txBody>
      </p:sp>
      <p:sp>
        <p:nvSpPr>
          <p:cNvPr id="24" name="boundary-card-body-5">
            <a:extLst xmlns:a="http://schemas.openxmlformats.org/drawingml/2006/main">
              <a:ext uri="{FF2B5EF4-FFF2-40B4-BE49-F238E27FC236}">
                <a16:creationId xmlns:a16="http://schemas.microsoft.com/office/drawing/2014/main" id="{3AE01567-4D08-460A-B2E2-194EEAC1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448050"/>
            <a:ext cx="15049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 event
render frame</a:t>
            </a:r>
          </a:p>
        </p:txBody>
      </p:sp>
      <p:sp>
        <p:nvSpPr>
          <p:cNvPr id="25" name="boundary-stdin">
            <a:extLst xmlns:a="http://schemas.openxmlformats.org/drawingml/2006/main">
              <a:ext uri="{FF2B5EF4-FFF2-40B4-BE49-F238E27FC236}">
                <a16:creationId xmlns:a16="http://schemas.microsoft.com/office/drawing/2014/main" id="{1F394E16-E31A-4A4F-BAD3-074410A9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819650"/>
            <a:ext cx="2209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stdin  •  commands</a:t>
            </a:r>
          </a:p>
        </p:txBody>
      </p:sp>
      <p:sp>
        <p:nvSpPr>
          <p:cNvPr id="26" name="boundary-stdout">
            <a:extLst xmlns:a="http://schemas.openxmlformats.org/drawingml/2006/main">
              <a:ext uri="{FF2B5EF4-FFF2-40B4-BE49-F238E27FC236}">
                <a16:creationId xmlns:a16="http://schemas.microsoft.com/office/drawing/2014/main" id="{C05E9F8E-3A57-411E-A0C2-FAD44F5D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9650"/>
            <a:ext cx="2209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stdout  •  events</a:t>
            </a:r>
          </a:p>
        </p:txBody>
      </p:sp>
      <p:sp>
        <p:nvSpPr>
          <p:cNvPr id="27" name="boundary-diagnostics">
            <a:extLst xmlns:a="http://schemas.openxmlformats.org/drawingml/2006/main">
              <a:ext uri="{FF2B5EF4-FFF2-40B4-BE49-F238E27FC236}">
                <a16:creationId xmlns:a16="http://schemas.microsoft.com/office/drawing/2014/main" id="{03F41351-0E34-4A7E-A923-5D82DC57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876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stderr stays diagnostic-only; protocol stdout remains machine-readable.</a:t>
            </a:r>
          </a:p>
        </p:txBody>
      </p:sp>
    </p:spTree>
    <p:extLst>
      <p:ext uri="{BB962C8B-B14F-4D97-AF65-F5344CB8AC3E}">
        <p14:creationId xmlns:p14="http://schemas.microsoft.com/office/powerpoint/2010/main" val="4216027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8439232F-527C-4E03-8B3A-1B5450A2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C9616131-0C25-4105-84A0-CB68CD78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Correlation and sequence answer different questions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4B5D1432-8D48-480A-BF74-1B0FBC18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Timestamps describe observation time; they never establish session order.</a:t>
            </a:r>
          </a:p>
        </p:txBody>
      </p:sp>
      <p:sp>
        <p:nvSpPr>
          <p:cNvPr id="4" name="identity-causality">
            <a:extLst xmlns:a="http://schemas.openxmlformats.org/drawingml/2006/main">
              <a:ext uri="{FF2B5EF4-FFF2-40B4-BE49-F238E27FC236}">
                <a16:creationId xmlns:a16="http://schemas.microsoft.com/office/drawing/2014/main" id="{4A5CCC45-432C-4C8D-94EE-5AC49469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5429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identity-order">
            <a:extLst xmlns:a="http://schemas.openxmlformats.org/drawingml/2006/main">
              <a:ext uri="{FF2B5EF4-FFF2-40B4-BE49-F238E27FC236}">
                <a16:creationId xmlns:a16="http://schemas.microsoft.com/office/drawing/2014/main" id="{939C68B6-BEB2-4400-9955-4629155D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5429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identity-causality-title">
            <a:extLst xmlns:a="http://schemas.openxmlformats.org/drawingml/2006/main">
              <a:ext uri="{FF2B5EF4-FFF2-40B4-BE49-F238E27FC236}">
                <a16:creationId xmlns:a16="http://schemas.microsoft.com/office/drawing/2014/main" id="{9BF324EF-1B86-4933-8CE1-81E1E59A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4762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Which command caused this?</a:t>
            </a:r>
          </a:p>
        </p:txBody>
      </p:sp>
      <p:sp>
        <p:nvSpPr>
          <p:cNvPr id="7" name="identity-causality-code">
            <a:extLst xmlns:a="http://schemas.openxmlformats.org/drawingml/2006/main">
              <a:ext uri="{FF2B5EF4-FFF2-40B4-BE49-F238E27FC236}">
                <a16:creationId xmlns:a16="http://schemas.microsoft.com/office/drawing/2014/main" id="{6C813040-F380-42A7-99EF-2D4491B9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command_id  ⇄  correlation_id</a:t>
            </a:r>
          </a:p>
        </p:txBody>
      </p:sp>
      <p:sp>
        <p:nvSpPr>
          <p:cNvPr id="8" name="identity-causality-detail">
            <a:extLst xmlns:a="http://schemas.openxmlformats.org/drawingml/2006/main">
              <a:ext uri="{FF2B5EF4-FFF2-40B4-BE49-F238E27FC236}">
                <a16:creationId xmlns:a16="http://schemas.microsoft.com/office/drawing/2014/main" id="{7A7747A6-4CC1-44D8-8C07-EBFC18FF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78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The session.started event must point back to the submitted session.start.</a:t>
            </a:r>
          </a:p>
        </p:txBody>
      </p:sp>
      <p:sp>
        <p:nvSpPr>
          <p:cNvPr id="9" name="identity-order-title">
            <a:extLst xmlns:a="http://schemas.openxmlformats.org/drawingml/2006/main">
              <a:ext uri="{FF2B5EF4-FFF2-40B4-BE49-F238E27FC236}">
                <a16:creationId xmlns:a16="http://schemas.microsoft.com/office/drawing/2014/main" id="{8D369544-E412-4143-AD6B-B2355D4A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57450"/>
            <a:ext cx="4762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What happened next?</a:t>
            </a:r>
          </a:p>
        </p:txBody>
      </p:sp>
      <p:sp>
        <p:nvSpPr>
          <p:cNvPr id="10" name="identity-order-code">
            <a:extLst xmlns:a="http://schemas.openxmlformats.org/drawingml/2006/main">
              <a:ext uri="{FF2B5EF4-FFF2-40B4-BE49-F238E27FC236}">
                <a16:creationId xmlns:a16="http://schemas.microsoft.com/office/drawing/2014/main" id="{680198D5-845A-4B65-9441-1E660754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515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session_id  +  sequence</a:t>
            </a:r>
          </a:p>
        </p:txBody>
      </p:sp>
      <p:sp>
        <p:nvSpPr>
          <p:cNvPr id="11" name="identity-order-detail">
            <a:extLst xmlns:a="http://schemas.openxmlformats.org/drawingml/2006/main">
              <a:ext uri="{FF2B5EF4-FFF2-40B4-BE49-F238E27FC236}">
                <a16:creationId xmlns:a16="http://schemas.microsoft.com/office/drawing/2014/main" id="{7CB059DD-90ED-4A87-9776-C3232C80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6235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Every session begins at 1 and advances by exactly one accepted event.</a:t>
            </a:r>
          </a:p>
        </p:txBody>
      </p:sp>
      <p:cxnSp>
        <p:nvCxnSpPr>
          <p:cNvPr id="37" name="identity-tape"/>
          <p:cNvCxnSpPr/>
          <p:nvPr/>
        </p:nvCxnSpPr>
        <p:spPr>
          <a:xfrm xmlns:a="http://schemas.openxmlformats.org/drawingml/2006/main">
            <a:off x="742950" y="4876800"/>
            <a:ext cx="981075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0000"/>
            </a:solidFill>
            <a:prstDash val="solid"/>
          </a:ln>
        </p:spPr>
      </p:cxnSp>
      <p:sp>
        <p:nvSpPr>
          <p:cNvPr id="13" name="identity-dot-1">
            <a:extLst xmlns:a="http://schemas.openxmlformats.org/drawingml/2006/main">
              <a:ext uri="{FF2B5EF4-FFF2-40B4-BE49-F238E27FC236}">
                <a16:creationId xmlns:a16="http://schemas.microsoft.com/office/drawing/2014/main" id="{20BB1FB9-74E3-4B81-BFDD-911B6884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52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dentity-seq-1">
            <a:extLst xmlns:a="http://schemas.openxmlformats.org/drawingml/2006/main">
              <a:ext uri="{FF2B5EF4-FFF2-40B4-BE49-F238E27FC236}">
                <a16:creationId xmlns:a16="http://schemas.microsoft.com/office/drawing/2014/main" id="{91E0627D-B845-4D86-9BCA-1DA1EC7D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15" name="identity-dot-2">
            <a:extLst xmlns:a="http://schemas.openxmlformats.org/drawingml/2006/main">
              <a:ext uri="{FF2B5EF4-FFF2-40B4-BE49-F238E27FC236}">
                <a16:creationId xmlns:a16="http://schemas.microsoft.com/office/drawing/2014/main" id="{5AB1A6A2-A22A-4A13-9A15-AB4F4795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52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identity-seq-2">
            <a:extLst xmlns:a="http://schemas.openxmlformats.org/drawingml/2006/main">
              <a:ext uri="{FF2B5EF4-FFF2-40B4-BE49-F238E27FC236}">
                <a16:creationId xmlns:a16="http://schemas.microsoft.com/office/drawing/2014/main" id="{CC4C4BF4-13C9-4EDF-B965-DBDDA7A8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434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7" name="identity-dot-3">
            <a:extLst xmlns:a="http://schemas.openxmlformats.org/drawingml/2006/main">
              <a:ext uri="{FF2B5EF4-FFF2-40B4-BE49-F238E27FC236}">
                <a16:creationId xmlns:a16="http://schemas.microsoft.com/office/drawing/2014/main" id="{3898A4BD-7F66-4E5D-BB50-86B0368D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752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identity-seq-3">
            <a:extLst xmlns:a="http://schemas.openxmlformats.org/drawingml/2006/main">
              <a:ext uri="{FF2B5EF4-FFF2-40B4-BE49-F238E27FC236}">
                <a16:creationId xmlns:a16="http://schemas.microsoft.com/office/drawing/2014/main" id="{150D3DCA-0C5B-47A7-8A8F-75F3DE42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434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9" name="identity-dot-4">
            <a:extLst xmlns:a="http://schemas.openxmlformats.org/drawingml/2006/main">
              <a:ext uri="{FF2B5EF4-FFF2-40B4-BE49-F238E27FC236}">
                <a16:creationId xmlns:a16="http://schemas.microsoft.com/office/drawing/2014/main" id="{840E4D31-FF52-4B4F-9E34-A3B0F101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52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identity-seq-4">
            <a:extLst xmlns:a="http://schemas.openxmlformats.org/drawingml/2006/main">
              <a:ext uri="{FF2B5EF4-FFF2-40B4-BE49-F238E27FC236}">
                <a16:creationId xmlns:a16="http://schemas.microsoft.com/office/drawing/2014/main" id="{53313367-365E-4DEB-9B75-76217C68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434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1" name="identity-dot-5">
            <a:extLst xmlns:a="http://schemas.openxmlformats.org/drawingml/2006/main">
              <a:ext uri="{FF2B5EF4-FFF2-40B4-BE49-F238E27FC236}">
                <a16:creationId xmlns:a16="http://schemas.microsoft.com/office/drawing/2014/main" id="{CA74972C-82F6-48AD-B819-10B71B2A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752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identity-seq-5">
            <a:extLst xmlns:a="http://schemas.openxmlformats.org/drawingml/2006/main">
              <a:ext uri="{FF2B5EF4-FFF2-40B4-BE49-F238E27FC236}">
                <a16:creationId xmlns:a16="http://schemas.microsoft.com/office/drawing/2014/main" id="{DE4BB208-D54E-41D3-9052-B2B1EE30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434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3" name="identity-dot-6">
            <a:extLst xmlns:a="http://schemas.openxmlformats.org/drawingml/2006/main">
              <a:ext uri="{FF2B5EF4-FFF2-40B4-BE49-F238E27FC236}">
                <a16:creationId xmlns:a16="http://schemas.microsoft.com/office/drawing/2014/main" id="{9FD87A58-E648-4121-95D5-1FCE0932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7529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dentity-seq-6">
            <a:extLst xmlns:a="http://schemas.openxmlformats.org/drawingml/2006/main">
              <a:ext uri="{FF2B5EF4-FFF2-40B4-BE49-F238E27FC236}">
                <a16:creationId xmlns:a16="http://schemas.microsoft.com/office/drawing/2014/main" id="{1E6CF0C6-2FBD-4780-AFA4-1224C459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3434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5" name="identity-event-legend">
            <a:extLst xmlns:a="http://schemas.openxmlformats.org/drawingml/2006/main">
              <a:ext uri="{FF2B5EF4-FFF2-40B4-BE49-F238E27FC236}">
                <a16:creationId xmlns:a16="http://schemas.microsoft.com/office/drawing/2014/main" id="{965E007B-148B-4059-AF60-2E8454AF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10096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  started     •     2–4  assistant deltas     •     5  assistant completed     •     6  session completed</a:t>
            </a:r>
          </a:p>
        </p:txBody>
      </p:sp>
    </p:spTree>
    <p:extLst>
      <p:ext uri="{BB962C8B-B14F-4D97-AF65-F5344CB8AC3E}">
        <p14:creationId xmlns:p14="http://schemas.microsoft.com/office/powerpoint/2010/main" val="4806791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E9467DAF-D57C-49D7-9AB4-2100CD7B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BB76071D-CBA9-46DB-B007-C500BCFB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Streaming is a temporal contract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71C40D8E-2D90-4D96-A7B3-134567E9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A final string is insufficient evidence; the user must observe intermediate frames.</a:t>
            </a:r>
          </a:p>
        </p:txBody>
      </p:sp>
      <p:cxnSp>
        <p:nvCxnSpPr>
          <p:cNvPr id="35" name="timeline-base"/>
          <p:cNvCxnSpPr/>
          <p:nvPr/>
        </p:nvCxnSpPr>
        <p:spPr>
          <a:xfrm xmlns:a="http://schemas.openxmlformats.org/drawingml/2006/main">
            <a:off x="704850" y="3371850"/>
            <a:ext cx="9810750" cy="953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8BCC4"/>
            </a:solidFill>
            <a:prstDash val="solid"/>
          </a:ln>
        </p:spPr>
      </p:cxnSp>
      <p:cxnSp>
        <p:nvCxnSpPr>
          <p:cNvPr id="36" name="timeline-active"/>
          <p:cNvCxnSpPr/>
          <p:nvPr/>
        </p:nvCxnSpPr>
        <p:spPr>
          <a:xfrm xmlns:a="http://schemas.openxmlformats.org/drawingml/2006/main">
            <a:off x="704850" y="3371850"/>
            <a:ext cx="7848600" cy="953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6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A538D3D6-3B81-45E9-971E-A3E2609E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meline-seq-1">
            <a:extLst xmlns:a="http://schemas.openxmlformats.org/drawingml/2006/main">
              <a:ext uri="{FF2B5EF4-FFF2-40B4-BE49-F238E27FC236}">
                <a16:creationId xmlns:a16="http://schemas.microsoft.com/office/drawing/2014/main" id="{A2C0A7A2-AA6A-4F91-846B-42BB2557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2724150"/>
            <a:ext cx="1352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SEQ 1</a:t>
            </a:r>
          </a:p>
        </p:txBody>
      </p:sp>
      <p:sp>
        <p:nvSpPr>
          <p:cNvPr id="8" name="timeline-name-1">
            <a:extLst xmlns:a="http://schemas.openxmlformats.org/drawingml/2006/main">
              <a:ext uri="{FF2B5EF4-FFF2-40B4-BE49-F238E27FC236}">
                <a16:creationId xmlns:a16="http://schemas.microsoft.com/office/drawing/2014/main" id="{35616D63-E65F-4009-B623-E1C92923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7150" y="3771900"/>
            <a:ext cx="16573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session.started</a:t>
            </a:r>
          </a:p>
        </p:txBody>
      </p:sp>
      <p:sp>
        <p:nvSpPr>
          <p:cNvPr id="9" name="timeline-state-1">
            <a:extLst xmlns:a="http://schemas.openxmlformats.org/drawingml/2006/main">
              <a:ext uri="{FF2B5EF4-FFF2-40B4-BE49-F238E27FC236}">
                <a16:creationId xmlns:a16="http://schemas.microsoft.com/office/drawing/2014/main" id="{C4C2B010-80BB-4E2B-ACB2-6619EEBE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3350" y="4419600"/>
            <a:ext cx="1809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RUNNING</a:t>
            </a:r>
          </a:p>
        </p:txBody>
      </p:sp>
      <p:sp>
        <p:nvSpPr>
          <p:cNvPr id="10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8265B7F4-FEA7-4E11-A454-B35CAFD5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09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imeline-seq-2">
            <a:extLst xmlns:a="http://schemas.openxmlformats.org/drawingml/2006/main">
              <a:ext uri="{FF2B5EF4-FFF2-40B4-BE49-F238E27FC236}">
                <a16:creationId xmlns:a16="http://schemas.microsoft.com/office/drawing/2014/main" id="{E4FF5C1A-7AC2-43AD-84A0-CCF21DAA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24150"/>
            <a:ext cx="1352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SEQ 2</a:t>
            </a:r>
          </a:p>
        </p:txBody>
      </p:sp>
      <p:sp>
        <p:nvSpPr>
          <p:cNvPr id="12" name="timeline-name-2">
            <a:extLst xmlns:a="http://schemas.openxmlformats.org/drawingml/2006/main">
              <a:ext uri="{FF2B5EF4-FFF2-40B4-BE49-F238E27FC236}">
                <a16:creationId xmlns:a16="http://schemas.microsoft.com/office/drawing/2014/main" id="{4129C902-3C53-4CBD-A4C8-C0CD0659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71900"/>
            <a:ext cx="16573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assistant.delta</a:t>
            </a:r>
          </a:p>
        </p:txBody>
      </p:sp>
      <p:sp>
        <p:nvSpPr>
          <p:cNvPr id="13" name="timeline-state-2">
            <a:extLst xmlns:a="http://schemas.openxmlformats.org/drawingml/2006/main">
              <a:ext uri="{FF2B5EF4-FFF2-40B4-BE49-F238E27FC236}">
                <a16:creationId xmlns:a16="http://schemas.microsoft.com/office/drawing/2014/main" id="{4C9EE070-A2F3-46D8-A716-32F99C2D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19600"/>
            <a:ext cx="1809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Mock response: </a:t>
            </a:r>
          </a:p>
        </p:txBody>
      </p:sp>
      <p:sp>
        <p:nvSpPr>
          <p:cNvPr id="14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986918D0-2074-44B6-BC16-8E7DC811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09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imeline-seq-3">
            <a:extLst xmlns:a="http://schemas.openxmlformats.org/drawingml/2006/main">
              <a:ext uri="{FF2B5EF4-FFF2-40B4-BE49-F238E27FC236}">
                <a16:creationId xmlns:a16="http://schemas.microsoft.com/office/drawing/2014/main" id="{3A8738E4-CABF-4282-8163-B319E005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724150"/>
            <a:ext cx="1352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SEQ 3</a:t>
            </a:r>
          </a:p>
        </p:txBody>
      </p:sp>
      <p:sp>
        <p:nvSpPr>
          <p:cNvPr id="16" name="timeline-name-3">
            <a:extLst xmlns:a="http://schemas.openxmlformats.org/drawingml/2006/main">
              <a:ext uri="{FF2B5EF4-FFF2-40B4-BE49-F238E27FC236}">
                <a16:creationId xmlns:a16="http://schemas.microsoft.com/office/drawing/2014/main" id="{A637DDC9-6420-41BE-8B6C-0562DD81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71900"/>
            <a:ext cx="16573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assistant.delta</a:t>
            </a:r>
          </a:p>
        </p:txBody>
      </p:sp>
      <p:sp>
        <p:nvSpPr>
          <p:cNvPr id="17" name="timeline-state-3">
            <a:extLst xmlns:a="http://schemas.openxmlformats.org/drawingml/2006/main">
              <a:ext uri="{FF2B5EF4-FFF2-40B4-BE49-F238E27FC236}">
                <a16:creationId xmlns:a16="http://schemas.microsoft.com/office/drawing/2014/main" id="{EFF6D6BD-52C8-434A-89B8-728EE456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19600"/>
            <a:ext cx="1809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…crossed the process…</a:t>
            </a:r>
          </a:p>
        </p:txBody>
      </p:sp>
      <p:sp>
        <p:nvSpPr>
          <p:cNvPr id="18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0FA441EE-47DC-470A-8987-74E875E7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09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imeline-seq-4">
            <a:extLst xmlns:a="http://schemas.openxmlformats.org/drawingml/2006/main">
              <a:ext uri="{FF2B5EF4-FFF2-40B4-BE49-F238E27FC236}">
                <a16:creationId xmlns:a16="http://schemas.microsoft.com/office/drawing/2014/main" id="{B1182C1E-2ACE-47FF-B45E-43AFD80C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1352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SEQ 4</a:t>
            </a:r>
          </a:p>
        </p:txBody>
      </p:sp>
      <p:sp>
        <p:nvSpPr>
          <p:cNvPr id="20" name="timeline-name-4">
            <a:extLst xmlns:a="http://schemas.openxmlformats.org/drawingml/2006/main">
              <a:ext uri="{FF2B5EF4-FFF2-40B4-BE49-F238E27FC236}">
                <a16:creationId xmlns:a16="http://schemas.microsoft.com/office/drawing/2014/main" id="{B0D5566E-C6CA-425B-A792-21780BD0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771900"/>
            <a:ext cx="16573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assistant.delta</a:t>
            </a:r>
          </a:p>
        </p:txBody>
      </p:sp>
      <p:sp>
        <p:nvSpPr>
          <p:cNvPr id="21" name="timeline-state-4">
            <a:extLst xmlns:a="http://schemas.openxmlformats.org/drawingml/2006/main">
              <a:ext uri="{FF2B5EF4-FFF2-40B4-BE49-F238E27FC236}">
                <a16:creationId xmlns:a16="http://schemas.microsoft.com/office/drawing/2014/main" id="{BBB85717-799E-49BC-9CF5-1652D181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19600"/>
            <a:ext cx="1809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…streamed back…</a:t>
            </a:r>
          </a:p>
        </p:txBody>
      </p:sp>
      <p:sp>
        <p:nvSpPr>
          <p:cNvPr id="22" name="timeline-dot-5">
            <a:extLst xmlns:a="http://schemas.openxmlformats.org/drawingml/2006/main">
              <a:ext uri="{FF2B5EF4-FFF2-40B4-BE49-F238E27FC236}">
                <a16:creationId xmlns:a16="http://schemas.microsoft.com/office/drawing/2014/main" id="{79380F49-27F8-4507-A3E5-350A808E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09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imeline-seq-5">
            <a:extLst xmlns:a="http://schemas.openxmlformats.org/drawingml/2006/main">
              <a:ext uri="{FF2B5EF4-FFF2-40B4-BE49-F238E27FC236}">
                <a16:creationId xmlns:a16="http://schemas.microsoft.com/office/drawing/2014/main" id="{68C30740-B5DE-4A4D-9F13-60D90359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1352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SEQ 5</a:t>
            </a:r>
          </a:p>
        </p:txBody>
      </p:sp>
      <p:sp>
        <p:nvSpPr>
          <p:cNvPr id="24" name="timeline-name-5">
            <a:extLst xmlns:a="http://schemas.openxmlformats.org/drawingml/2006/main">
              <a:ext uri="{FF2B5EF4-FFF2-40B4-BE49-F238E27FC236}">
                <a16:creationId xmlns:a16="http://schemas.microsoft.com/office/drawing/2014/main" id="{DBB7F722-20DC-48E2-A1C0-7712AC0B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71900"/>
            <a:ext cx="16573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assistant.completed</a:t>
            </a:r>
          </a:p>
        </p:txBody>
      </p:sp>
      <p:sp>
        <p:nvSpPr>
          <p:cNvPr id="25" name="timeline-state-5">
            <a:extLst xmlns:a="http://schemas.openxmlformats.org/drawingml/2006/main">
              <a:ext uri="{FF2B5EF4-FFF2-40B4-BE49-F238E27FC236}">
                <a16:creationId xmlns:a16="http://schemas.microsoft.com/office/drawing/2014/main" id="{7A044993-4149-4A6A-85F3-EC15796E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19600"/>
            <a:ext cx="1809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exact accumulation</a:t>
            </a:r>
          </a:p>
        </p:txBody>
      </p:sp>
      <p:sp>
        <p:nvSpPr>
          <p:cNvPr id="26" name="timeline-dot-6">
            <a:extLst xmlns:a="http://schemas.openxmlformats.org/drawingml/2006/main">
              <a:ext uri="{FF2B5EF4-FFF2-40B4-BE49-F238E27FC236}">
                <a16:creationId xmlns:a16="http://schemas.microsoft.com/office/drawing/2014/main" id="{B1C52509-B924-4F30-A5AD-C872CF22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209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imeline-seq-6">
            <a:extLst xmlns:a="http://schemas.openxmlformats.org/drawingml/2006/main">
              <a:ext uri="{FF2B5EF4-FFF2-40B4-BE49-F238E27FC236}">
                <a16:creationId xmlns:a16="http://schemas.microsoft.com/office/drawing/2014/main" id="{C484FCA5-C2CB-437B-B49C-A93C4F89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24150"/>
            <a:ext cx="1352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SEQ 6</a:t>
            </a:r>
          </a:p>
        </p:txBody>
      </p:sp>
      <p:sp>
        <p:nvSpPr>
          <p:cNvPr id="28" name="timeline-name-6">
            <a:extLst xmlns:a="http://schemas.openxmlformats.org/drawingml/2006/main">
              <a:ext uri="{FF2B5EF4-FFF2-40B4-BE49-F238E27FC236}">
                <a16:creationId xmlns:a16="http://schemas.microsoft.com/office/drawing/2014/main" id="{33288551-700D-46F0-A97D-89E0DA1F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771900"/>
            <a:ext cx="16573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session.completed</a:t>
            </a:r>
          </a:p>
        </p:txBody>
      </p:sp>
      <p:sp>
        <p:nvSpPr>
          <p:cNvPr id="29" name="timeline-state-6">
            <a:extLst xmlns:a="http://schemas.openxmlformats.org/drawingml/2006/main">
              <a:ext uri="{FF2B5EF4-FFF2-40B4-BE49-F238E27FC236}">
                <a16:creationId xmlns:a16="http://schemas.microsoft.com/office/drawing/2014/main" id="{71BE3416-1289-4EC5-8D1F-6DCC48F6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19600"/>
            <a:ext cx="1809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COMPLETED</a:t>
            </a:r>
          </a:p>
        </p:txBody>
      </p:sp>
      <p:sp>
        <p:nvSpPr>
          <p:cNvPr id="30" name="timeline-observation">
            <a:extLst xmlns:a="http://schemas.openxmlformats.org/drawingml/2006/main">
              <a:ext uri="{FF2B5EF4-FFF2-40B4-BE49-F238E27FC236}">
                <a16:creationId xmlns:a16="http://schemas.microsoft.com/office/drawing/2014/main" id="{79C03E5D-FF88-4377-951D-532F8713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imeline-observation-text">
            <a:extLst xmlns:a="http://schemas.openxmlformats.org/drawingml/2006/main">
              <a:ext uri="{FF2B5EF4-FFF2-40B4-BE49-F238E27FC236}">
                <a16:creationId xmlns:a16="http://schemas.microsoft.com/office/drawing/2014/main" id="{9ED47550-4FD9-424A-8EAC-6A68DA7A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85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PROOF OF STREAMING  •  Render after each blue checkpoint, before assistant.completed arrives.</a:t>
            </a:r>
          </a:p>
        </p:txBody>
      </p:sp>
    </p:spTree>
    <p:extLst>
      <p:ext uri="{BB962C8B-B14F-4D97-AF65-F5344CB8AC3E}">
        <p14:creationId xmlns:p14="http://schemas.microsoft.com/office/powerpoint/2010/main" val="4741371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A9D1BABC-8B7C-4980-A18F-5C7A7E84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561EE161-C592-478E-A945-86D8FAA5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Validated events become a visible projection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BA3225CB-B428-44B1-A690-B23FADDA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The reducer accumulates text; React renders state. Neither layer invents lifecycle authority.</a:t>
            </a:r>
          </a:p>
        </p:txBody>
      </p:sp>
      <p:sp>
        <p:nvSpPr>
          <p:cNvPr id="4" name="projection-arrow-1">
            <a:extLst xmlns:a="http://schemas.openxmlformats.org/drawingml/2006/main">
              <a:ext uri="{FF2B5EF4-FFF2-40B4-BE49-F238E27FC236}">
                <a16:creationId xmlns:a16="http://schemas.microsoft.com/office/drawing/2014/main" id="{47E1438C-8FAA-4D3D-9FDF-E9DE0CA7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3375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ojection-arrow-2">
            <a:extLst xmlns:a="http://schemas.openxmlformats.org/drawingml/2006/main">
              <a:ext uri="{FF2B5EF4-FFF2-40B4-BE49-F238E27FC236}">
                <a16:creationId xmlns:a16="http://schemas.microsoft.com/office/drawing/2014/main" id="{73C39F74-AAED-4B9C-B195-D8527F2C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ojection-events">
            <a:extLst xmlns:a="http://schemas.openxmlformats.org/drawingml/2006/main">
              <a:ext uri="{FF2B5EF4-FFF2-40B4-BE49-F238E27FC236}">
                <a16:creationId xmlns:a16="http://schemas.microsoft.com/office/drawing/2014/main" id="{11AB193D-9B8C-49A0-8ADE-A370EC31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2667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jection-reducer">
            <a:extLst xmlns:a="http://schemas.openxmlformats.org/drawingml/2006/main">
              <a:ext uri="{FF2B5EF4-FFF2-40B4-BE49-F238E27FC236}">
                <a16:creationId xmlns:a16="http://schemas.microsoft.com/office/drawing/2014/main" id="{720245F8-AA13-4906-B02C-95BAE2BB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05100"/>
            <a:ext cx="24384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jection-events-title">
            <a:extLst xmlns:a="http://schemas.openxmlformats.org/drawingml/2006/main">
              <a:ext uri="{FF2B5EF4-FFF2-40B4-BE49-F238E27FC236}">
                <a16:creationId xmlns:a16="http://schemas.microsoft.com/office/drawing/2014/main" id="{A36DC8A7-658C-467C-A62A-21E81EAB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2209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VALIDATED EVENT</a:t>
            </a:r>
          </a:p>
        </p:txBody>
      </p:sp>
      <p:sp>
        <p:nvSpPr>
          <p:cNvPr id="9" name="projection-events-body">
            <a:extLst xmlns:a="http://schemas.openxmlformats.org/drawingml/2006/main">
              <a:ext uri="{FF2B5EF4-FFF2-40B4-BE49-F238E27FC236}">
                <a16:creationId xmlns:a16="http://schemas.microsoft.com/office/drawing/2014/main" id="{F6CD1CD6-7B5C-4174-ABD0-AA481F5B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220980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session_id
sequence
correlation_id
payload.text</a:t>
            </a:r>
          </a:p>
        </p:txBody>
      </p:sp>
      <p:sp>
        <p:nvSpPr>
          <p:cNvPr id="10" name="projection-reducer-title">
            <a:extLst xmlns:a="http://schemas.openxmlformats.org/drawingml/2006/main">
              <a:ext uri="{FF2B5EF4-FFF2-40B4-BE49-F238E27FC236}">
                <a16:creationId xmlns:a16="http://schemas.microsoft.com/office/drawing/2014/main" id="{CCC0B8B5-AC63-4A23-B06F-8FD358D2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52750"/>
            <a:ext cx="1981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PURE REDUCER</a:t>
            </a:r>
          </a:p>
        </p:txBody>
      </p:sp>
      <p:sp>
        <p:nvSpPr>
          <p:cNvPr id="11" name="projection-reducer-body">
            <a:extLst xmlns:a="http://schemas.openxmlformats.org/drawingml/2006/main">
              <a:ext uri="{FF2B5EF4-FFF2-40B4-BE49-F238E27FC236}">
                <a16:creationId xmlns:a16="http://schemas.microsoft.com/office/drawing/2014/main" id="{74DB519B-633E-4922-AE2D-809B12E9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448050"/>
            <a:ext cx="19812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accept legal next event
append delta once
preserve prior frames</a:t>
            </a:r>
          </a:p>
        </p:txBody>
      </p:sp>
      <p:sp>
        <p:nvSpPr>
          <p:cNvPr id="12" name="projection-frame-1">
            <a:extLst xmlns:a="http://schemas.openxmlformats.org/drawingml/2006/main">
              <a:ext uri="{FF2B5EF4-FFF2-40B4-BE49-F238E27FC236}">
                <a16:creationId xmlns:a16="http://schemas.microsoft.com/office/drawing/2014/main" id="{34DE74E3-591D-4EBC-B663-CB64717E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33600"/>
            <a:ext cx="4914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3" name="projection-frame-status-1">
            <a:extLst xmlns:a="http://schemas.openxmlformats.org/drawingml/2006/main">
              <a:ext uri="{FF2B5EF4-FFF2-40B4-BE49-F238E27FC236}">
                <a16:creationId xmlns:a16="http://schemas.microsoft.com/office/drawing/2014/main" id="{DC37D0A6-EBBD-4667-BEDC-453FE17A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05050"/>
            <a:ext cx="120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IDLE</a:t>
            </a:r>
          </a:p>
        </p:txBody>
      </p:sp>
      <p:sp>
        <p:nvSpPr>
          <p:cNvPr id="14" name="projection-frame-text-1">
            <a:extLst xmlns:a="http://schemas.openxmlformats.org/drawingml/2006/main">
              <a:ext uri="{FF2B5EF4-FFF2-40B4-BE49-F238E27FC236}">
                <a16:creationId xmlns:a16="http://schemas.microsoft.com/office/drawing/2014/main" id="{9A2FB1A7-2D4F-42B9-8FEB-324A452E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05050"/>
            <a:ext cx="31051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No messages yet</a:t>
            </a:r>
          </a:p>
        </p:txBody>
      </p:sp>
      <p:sp>
        <p:nvSpPr>
          <p:cNvPr id="15" name="projection-frame-2">
            <a:extLst xmlns:a="http://schemas.openxmlformats.org/drawingml/2006/main">
              <a:ext uri="{FF2B5EF4-FFF2-40B4-BE49-F238E27FC236}">
                <a16:creationId xmlns:a16="http://schemas.microsoft.com/office/drawing/2014/main" id="{556DF395-05D8-4FC4-90A7-D5E59AD0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09950"/>
            <a:ext cx="4914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6" name="projection-frame-status-2">
            <a:extLst xmlns:a="http://schemas.openxmlformats.org/drawingml/2006/main">
              <a:ext uri="{FF2B5EF4-FFF2-40B4-BE49-F238E27FC236}">
                <a16:creationId xmlns:a16="http://schemas.microsoft.com/office/drawing/2014/main" id="{AB59BD05-4F80-46A1-A766-4DAD8967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81400"/>
            <a:ext cx="120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RUNNING</a:t>
            </a:r>
          </a:p>
        </p:txBody>
      </p:sp>
      <p:sp>
        <p:nvSpPr>
          <p:cNvPr id="17" name="projection-frame-text-2">
            <a:extLst xmlns:a="http://schemas.openxmlformats.org/drawingml/2006/main">
              <a:ext uri="{FF2B5EF4-FFF2-40B4-BE49-F238E27FC236}">
                <a16:creationId xmlns:a16="http://schemas.microsoft.com/office/drawing/2014/main" id="{29385783-F048-4703-BAEF-5BFD5F05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81400"/>
            <a:ext cx="31051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Mock response: the task…</a:t>
            </a:r>
          </a:p>
        </p:txBody>
      </p:sp>
      <p:sp>
        <p:nvSpPr>
          <p:cNvPr id="18" name="projection-frame-3">
            <a:extLst xmlns:a="http://schemas.openxmlformats.org/drawingml/2006/main">
              <a:ext uri="{FF2B5EF4-FFF2-40B4-BE49-F238E27FC236}">
                <a16:creationId xmlns:a16="http://schemas.microsoft.com/office/drawing/2014/main" id="{922F8732-13B4-4A3F-9422-4F2A2A46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86300"/>
            <a:ext cx="4914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9" name="projection-frame-status-3">
            <a:extLst xmlns:a="http://schemas.openxmlformats.org/drawingml/2006/main">
              <a:ext uri="{FF2B5EF4-FFF2-40B4-BE49-F238E27FC236}">
                <a16:creationId xmlns:a16="http://schemas.microsoft.com/office/drawing/2014/main" id="{A969CD86-DFA0-4AA1-BD2C-C381769B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857750"/>
            <a:ext cx="120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COMPLETED</a:t>
            </a:r>
          </a:p>
        </p:txBody>
      </p:sp>
      <p:sp>
        <p:nvSpPr>
          <p:cNvPr id="20" name="projection-frame-text-3">
            <a:extLst xmlns:a="http://schemas.openxmlformats.org/drawingml/2006/main">
              <a:ext uri="{FF2B5EF4-FFF2-40B4-BE49-F238E27FC236}">
                <a16:creationId xmlns:a16="http://schemas.microsoft.com/office/drawing/2014/main" id="{3F80642A-DFD4-4101-A1C1-B2658FA8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57750"/>
            <a:ext cx="31051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Mock response: the task crossed the process boundary and streamed back successfully.</a:t>
            </a:r>
          </a:p>
        </p:txBody>
      </p:sp>
      <p:sp>
        <p:nvSpPr>
          <p:cNvPr id="21" name="projection-draft">
            <a:extLst xmlns:a="http://schemas.openxmlformats.org/drawingml/2006/main">
              <a:ext uri="{FF2B5EF4-FFF2-40B4-BE49-F238E27FC236}">
                <a16:creationId xmlns:a16="http://schemas.microsoft.com/office/drawing/2014/main" id="{11F62763-F617-4774-A023-D981ABEA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904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Pending input is separate local state, so typing survives background deltas.</a:t>
            </a:r>
          </a:p>
        </p:txBody>
      </p:sp>
    </p:spTree>
    <p:extLst>
      <p:ext uri="{BB962C8B-B14F-4D97-AF65-F5344CB8AC3E}">
        <p14:creationId xmlns:p14="http://schemas.microsoft.com/office/powerpoint/2010/main" val="16037705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11FAA110-10E7-4743-BB50-F8B05879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DB7A509D-5F2D-4D08-B622-FE5CCD6A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illegal transition fails the stream closed</a:t>
            </a:r>
          </a:p>
        </p:txBody>
      </p:sp>
      <p:sp>
        <p:nvSpPr>
          <p:cNvPr id="3" name="subtitle-7">
            <a:extLst xmlns:a="http://schemas.openxmlformats.org/drawingml/2006/main">
              <a:ext uri="{FF2B5EF4-FFF2-40B4-BE49-F238E27FC236}">
                <a16:creationId xmlns:a16="http://schemas.microsoft.com/office/drawing/2014/main" id="{E1E39AA9-E6A0-4005-BB0E-57DDB1E4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The UI preserves trustworthy partial text but refuses to manufacture success.</a:t>
            </a:r>
          </a:p>
        </p:txBody>
      </p:sp>
      <p:sp>
        <p:nvSpPr>
          <p:cNvPr id="4" name="failure-arrow-1">
            <a:extLst xmlns:a="http://schemas.openxmlformats.org/drawingml/2006/main">
              <a:ext uri="{FF2B5EF4-FFF2-40B4-BE49-F238E27FC236}">
                <a16:creationId xmlns:a16="http://schemas.microsoft.com/office/drawing/2014/main" id="{E3D2AE90-E782-4543-A069-7A621C22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90775"/>
            <a:ext cx="1219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ailure-arrow-2">
            <a:extLst xmlns:a="http://schemas.openxmlformats.org/drawingml/2006/main">
              <a:ext uri="{FF2B5EF4-FFF2-40B4-BE49-F238E27FC236}">
                <a16:creationId xmlns:a16="http://schemas.microsoft.com/office/drawing/2014/main" id="{961FA55C-2A49-4069-9428-02667C7C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90875"/>
            <a:ext cx="1219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ailure-arrow-3">
            <a:extLst xmlns:a="http://schemas.openxmlformats.org/drawingml/2006/main">
              <a:ext uri="{FF2B5EF4-FFF2-40B4-BE49-F238E27FC236}">
                <a16:creationId xmlns:a16="http://schemas.microsoft.com/office/drawing/2014/main" id="{8DED9E9E-BEA9-4EB8-82D0-5DA6CE7A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90975"/>
            <a:ext cx="1219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ailure-arrow-4">
            <a:extLst xmlns:a="http://schemas.openxmlformats.org/drawingml/2006/main">
              <a:ext uri="{FF2B5EF4-FFF2-40B4-BE49-F238E27FC236}">
                <a16:creationId xmlns:a16="http://schemas.microsoft.com/office/drawing/2014/main" id="{E0BE9F61-50D1-4136-A3C4-E1DC1034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91075"/>
            <a:ext cx="1219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ailure-stop-arrow">
            <a:extLst xmlns:a="http://schemas.openxmlformats.org/drawingml/2006/main">
              <a:ext uri="{FF2B5EF4-FFF2-40B4-BE49-F238E27FC236}">
                <a16:creationId xmlns:a16="http://schemas.microsoft.com/office/drawing/2014/main" id="{86238500-DFF4-4223-9E6E-229DD2E8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00425"/>
            <a:ext cx="11430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ailure-anomaly-1">
            <a:extLst xmlns:a="http://schemas.openxmlformats.org/drawingml/2006/main">
              <a:ext uri="{FF2B5EF4-FFF2-40B4-BE49-F238E27FC236}">
                <a16:creationId xmlns:a16="http://schemas.microsoft.com/office/drawing/2014/main" id="{5F3E9589-B58F-49B6-959A-A3352029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29908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ailure-anomaly-text-1">
            <a:extLst xmlns:a="http://schemas.openxmlformats.org/drawingml/2006/main">
              <a:ext uri="{FF2B5EF4-FFF2-40B4-BE49-F238E27FC236}">
                <a16:creationId xmlns:a16="http://schemas.microsoft.com/office/drawing/2014/main" id="{17D74BD6-9073-47A7-8506-D2832B6A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wrong correlation</a:t>
            </a:r>
          </a:p>
        </p:txBody>
      </p:sp>
      <p:sp>
        <p:nvSpPr>
          <p:cNvPr id="11" name="failure-anomaly-2">
            <a:extLst xmlns:a="http://schemas.openxmlformats.org/drawingml/2006/main">
              <a:ext uri="{FF2B5EF4-FFF2-40B4-BE49-F238E27FC236}">
                <a16:creationId xmlns:a16="http://schemas.microsoft.com/office/drawing/2014/main" id="{62A63209-0C6F-4E29-B6FE-7E5C92CA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29908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ailure-anomaly-text-2">
            <a:extLst xmlns:a="http://schemas.openxmlformats.org/drawingml/2006/main">
              <a:ext uri="{FF2B5EF4-FFF2-40B4-BE49-F238E27FC236}">
                <a16:creationId xmlns:a16="http://schemas.microsoft.com/office/drawing/2014/main" id="{1CD18F53-FA8C-482B-8B68-DE378770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sequence gap or duplicate</a:t>
            </a:r>
          </a:p>
        </p:txBody>
      </p:sp>
      <p:sp>
        <p:nvSpPr>
          <p:cNvPr id="13" name="failure-anomaly-3">
            <a:extLst xmlns:a="http://schemas.openxmlformats.org/drawingml/2006/main">
              <a:ext uri="{FF2B5EF4-FFF2-40B4-BE49-F238E27FC236}">
                <a16:creationId xmlns:a16="http://schemas.microsoft.com/office/drawing/2014/main" id="{84B87BD8-CC81-4504-9666-0F34F703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29908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ailure-anomaly-text-3">
            <a:extLst xmlns:a="http://schemas.openxmlformats.org/drawingml/2006/main">
              <a:ext uri="{FF2B5EF4-FFF2-40B4-BE49-F238E27FC236}">
                <a16:creationId xmlns:a16="http://schemas.microsoft.com/office/drawing/2014/main" id="{1BE59AB4-5319-488C-A1C4-BAE488C6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completed text mismatch</a:t>
            </a:r>
          </a:p>
        </p:txBody>
      </p:sp>
      <p:sp>
        <p:nvSpPr>
          <p:cNvPr id="15" name="failure-anomaly-4">
            <a:extLst xmlns:a="http://schemas.openxmlformats.org/drawingml/2006/main">
              <a:ext uri="{FF2B5EF4-FFF2-40B4-BE49-F238E27FC236}">
                <a16:creationId xmlns:a16="http://schemas.microsoft.com/office/drawing/2014/main" id="{C5C83AB1-ADF4-4169-9E90-7332E014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29908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ailure-anomaly-text-4">
            <a:extLst xmlns:a="http://schemas.openxmlformats.org/drawingml/2006/main">
              <a:ext uri="{FF2B5EF4-FFF2-40B4-BE49-F238E27FC236}">
                <a16:creationId xmlns:a16="http://schemas.microsoft.com/office/drawing/2014/main" id="{E6F5D7E1-0115-45AA-9E80-38A3A8BD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event after terminal</a:t>
            </a:r>
          </a:p>
        </p:txBody>
      </p:sp>
      <p:sp>
        <p:nvSpPr>
          <p:cNvPr id="17" name="failure-gate">
            <a:extLst xmlns:a="http://schemas.openxmlformats.org/drawingml/2006/main">
              <a:ext uri="{FF2B5EF4-FFF2-40B4-BE49-F238E27FC236}">
                <a16:creationId xmlns:a16="http://schemas.microsoft.com/office/drawing/2014/main" id="{2B653E35-B260-4770-A871-8219B07D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24150"/>
            <a:ext cx="19050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ailure-gate-title">
            <a:extLst xmlns:a="http://schemas.openxmlformats.org/drawingml/2006/main">
              <a:ext uri="{FF2B5EF4-FFF2-40B4-BE49-F238E27FC236}">
                <a16:creationId xmlns:a16="http://schemas.microsoft.com/office/drawing/2014/main" id="{43E20E5F-66CD-4B9C-8012-EBF3E0F4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28950"/>
            <a:ext cx="1409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LEGAL NEXT
EVENT?</a:t>
            </a:r>
          </a:p>
        </p:txBody>
      </p:sp>
      <p:sp>
        <p:nvSpPr>
          <p:cNvPr id="19" name="failure-gate-no">
            <a:extLst xmlns:a="http://schemas.openxmlformats.org/drawingml/2006/main">
              <a:ext uri="{FF2B5EF4-FFF2-40B4-BE49-F238E27FC236}">
                <a16:creationId xmlns:a16="http://schemas.microsoft.com/office/drawing/2014/main" id="{903755B7-1C92-49DC-A113-0FE3736B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24300"/>
            <a:ext cx="140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t>NO</a:t>
            </a:r>
          </a:p>
        </p:txBody>
      </p:sp>
      <p:sp>
        <p:nvSpPr>
          <p:cNvPr id="20" name="failure-result">
            <a:extLst xmlns:a="http://schemas.openxmlformats.org/drawingml/2006/main">
              <a:ext uri="{FF2B5EF4-FFF2-40B4-BE49-F238E27FC236}">
                <a16:creationId xmlns:a16="http://schemas.microsoft.com/office/drawing/2014/main" id="{C220C3C5-949F-4916-8C70-DCFF9A6B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62200"/>
            <a:ext cx="4133850" cy="24955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2D20"/>
            </a:solidFill>
            <a:prstDash val="solid"/>
          </a:ln>
        </p:spPr>
      </p:sp>
      <p:sp>
        <p:nvSpPr>
          <p:cNvPr id="21" name="failure-result-title">
            <a:extLst xmlns:a="http://schemas.openxmlformats.org/drawingml/2006/main">
              <a:ext uri="{FF2B5EF4-FFF2-40B4-BE49-F238E27FC236}">
                <a16:creationId xmlns:a16="http://schemas.microsoft.com/office/drawing/2014/main" id="{6633BF3A-16EA-44AD-AD95-52A93AF8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86050"/>
            <a:ext cx="3524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t>PROTOCOL FAILED</a:t>
            </a:r>
          </a:p>
        </p:txBody>
      </p:sp>
      <p:sp>
        <p:nvSpPr>
          <p:cNvPr id="22" name="failure-result-body">
            <a:extLst xmlns:a="http://schemas.openxmlformats.org/drawingml/2006/main">
              <a:ext uri="{FF2B5EF4-FFF2-40B4-BE49-F238E27FC236}">
                <a16:creationId xmlns:a16="http://schemas.microsoft.com/office/drawing/2014/main" id="{60C68C99-CD88-40A4-A976-F2E68C8E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33750"/>
            <a:ext cx="3524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stop accepting events
• close command input
• retain safe partial text
• report a bounded diagnostic</a:t>
            </a:r>
          </a:p>
        </p:txBody>
      </p:sp>
      <p:sp>
        <p:nvSpPr>
          <p:cNvPr id="23" name="failure-principle">
            <a:extLst xmlns:a="http://schemas.openxmlformats.org/drawingml/2006/main">
              <a:ext uri="{FF2B5EF4-FFF2-40B4-BE49-F238E27FC236}">
                <a16:creationId xmlns:a16="http://schemas.microsoft.com/office/drawing/2014/main" id="{ACA9C579-CD7F-4363-9478-09FA1594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10668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Failing closed is part of the user experience: uncertainty becomes visible state.</a:t>
            </a:r>
          </a:p>
        </p:txBody>
      </p:sp>
    </p:spTree>
    <p:extLst>
      <p:ext uri="{BB962C8B-B14F-4D97-AF65-F5344CB8AC3E}">
        <p14:creationId xmlns:p14="http://schemas.microsoft.com/office/powerpoint/2010/main" val="5853296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92F7153C-08F6-459C-9E5F-D8D54652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FB3146BC-F703-4C3E-A209-ECE1A6E9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Graduate the transport when the requirements graduate</a:t>
            </a:r>
          </a:p>
        </p:txBody>
      </p:sp>
      <p:sp>
        <p:nvSpPr>
          <p:cNvPr id="3" name="subtitle-8">
            <a:extLst xmlns:a="http://schemas.openxmlformats.org/drawingml/2006/main">
              <a:ext uri="{FF2B5EF4-FFF2-40B4-BE49-F238E27FC236}">
                <a16:creationId xmlns:a16="http://schemas.microsoft.com/office/drawing/2014/main" id="{3B309349-298F-43BE-811B-106D609D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0668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Local pipes make ownership inspectable; durable streams buy recovery at an operating cost.</a:t>
            </a:r>
          </a:p>
        </p:txBody>
      </p:sp>
      <p:sp>
        <p:nvSpPr>
          <p:cNvPr id="4" name="graduation-local">
            <a:extLst xmlns:a="http://schemas.openxmlformats.org/drawingml/2006/main">
              <a:ext uri="{FF2B5EF4-FFF2-40B4-BE49-F238E27FC236}">
                <a16:creationId xmlns:a16="http://schemas.microsoft.com/office/drawing/2014/main" id="{9770D608-2850-436C-994F-620EF792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5429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aduation-production">
            <a:extLst xmlns:a="http://schemas.openxmlformats.org/drawingml/2006/main">
              <a:ext uri="{FF2B5EF4-FFF2-40B4-BE49-F238E27FC236}">
                <a16:creationId xmlns:a16="http://schemas.microsoft.com/office/drawing/2014/main" id="{C6446E2A-6200-43AB-9DB6-2C129A77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5429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raduation-local-title">
            <a:extLst xmlns:a="http://schemas.openxmlformats.org/drawingml/2006/main">
              <a:ext uri="{FF2B5EF4-FFF2-40B4-BE49-F238E27FC236}">
                <a16:creationId xmlns:a16="http://schemas.microsoft.com/office/drawing/2014/main" id="{E1872C39-49AA-4C30-90C5-A59371A1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LOCAL PIPE</a:t>
            </a:r>
          </a:p>
        </p:txBody>
      </p:sp>
      <p:sp>
        <p:nvSpPr>
          <p:cNvPr id="7" name="graduation-local-body">
            <a:extLst xmlns:a="http://schemas.openxmlformats.org/drawingml/2006/main">
              <a:ext uri="{FF2B5EF4-FFF2-40B4-BE49-F238E27FC236}">
                <a16:creationId xmlns:a16="http://schemas.microsoft.com/office/drawing/2014/main" id="{76DBDA93-297A-49EC-BD48-DE14B7DE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76250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parent + one child
Process-local ordering
No broker operations
Restart is recovery
Best for M0 learning</a:t>
            </a:r>
          </a:p>
        </p:txBody>
      </p:sp>
      <p:sp>
        <p:nvSpPr>
          <p:cNvPr id="8" name="graduation-production-title">
            <a:extLst xmlns:a="http://schemas.openxmlformats.org/drawingml/2006/main">
              <a:ext uri="{FF2B5EF4-FFF2-40B4-BE49-F238E27FC236}">
                <a16:creationId xmlns:a16="http://schemas.microsoft.com/office/drawing/2014/main" id="{F22C9FAD-056A-4DD4-B780-44DBC271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DURABLE STREAM</a:t>
            </a:r>
          </a:p>
        </p:txBody>
      </p:sp>
      <p:sp>
        <p:nvSpPr>
          <p:cNvPr id="9" name="graduation-production-body">
            <a:extLst xmlns:a="http://schemas.openxmlformats.org/drawingml/2006/main">
              <a:ext uri="{FF2B5EF4-FFF2-40B4-BE49-F238E27FC236}">
                <a16:creationId xmlns:a16="http://schemas.microsoft.com/office/drawing/2014/main" id="{41B7F6CA-AA6A-43F4-A6BC-112AC06A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76600"/>
            <a:ext cx="476250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Reconnect and replay
Retry + deduplication
Multi-host workers
Retention + tenancy
Capacity + on-call ownership</a:t>
            </a:r>
          </a:p>
        </p:txBody>
      </p:sp>
      <p:cxnSp>
        <p:nvCxnSpPr>
          <p:cNvPr id="21" name="graduation-rule"/>
          <p:cNvCxnSpPr/>
          <p:nvPr/>
        </p:nvCxnSpPr>
        <p:spPr>
          <a:xfrm xmlns:a="http://schemas.openxmlformats.org/drawingml/2006/main">
            <a:off x="400050" y="561975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11" name="graduation-signal">
            <a:extLst xmlns:a="http://schemas.openxmlformats.org/drawingml/2006/main">
              <a:ext uri="{FF2B5EF4-FFF2-40B4-BE49-F238E27FC236}">
                <a16:creationId xmlns:a16="http://schemas.microsoft.com/office/drawing/2014/main" id="{D0D81FB3-8224-42E5-AEEA-82BE7B54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10382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GRADUATION SIGNALS  •  measured concurrency, reconnect requirements, cross-host execution, or unacceptable event loss</a:t>
            </a:r>
          </a:p>
        </p:txBody>
      </p:sp>
    </p:spTree>
    <p:extLst>
      <p:ext uri="{BB962C8B-B14F-4D97-AF65-F5344CB8AC3E}">
        <p14:creationId xmlns:p14="http://schemas.microsoft.com/office/powerpoint/2010/main" val="11491605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ADA31B75-FC4A-4CBC-99A1-75011D87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CAH-005  •  VERIFIED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414716B7-81F3-487B-95E4-EA4491D6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89535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Boundary proven.
Cancellation is next.</a:t>
            </a:r>
          </a:p>
        </p:txBody>
      </p:sp>
      <p:sp>
        <p:nvSpPr>
          <p:cNvPr id="3" name="close-stat-1">
            <a:extLst xmlns:a="http://schemas.openxmlformats.org/drawingml/2006/main">
              <a:ext uri="{FF2B5EF4-FFF2-40B4-BE49-F238E27FC236}">
                <a16:creationId xmlns:a16="http://schemas.microsoft.com/office/drawing/2014/main" id="{1B2840DA-87B4-420E-96A1-71453774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2286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4" name="close-stat-label-1">
            <a:extLst xmlns:a="http://schemas.openxmlformats.org/drawingml/2006/main">
              <a:ext uri="{FF2B5EF4-FFF2-40B4-BE49-F238E27FC236}">
                <a16:creationId xmlns:a16="http://schemas.microsoft.com/office/drawing/2014/main" id="{1B71783C-B53E-442D-946F-56F9D888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2286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deliberately delayed deltas</a:t>
            </a:r>
          </a:p>
        </p:txBody>
      </p:sp>
      <p:sp>
        <p:nvSpPr>
          <p:cNvPr id="5" name="close-stat-2">
            <a:extLst xmlns:a="http://schemas.openxmlformats.org/drawingml/2006/main">
              <a:ext uri="{FF2B5EF4-FFF2-40B4-BE49-F238E27FC236}">
                <a16:creationId xmlns:a16="http://schemas.microsoft.com/office/drawing/2014/main" id="{604B9029-4542-4D7D-AC50-36D17B76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95750"/>
            <a:ext cx="2286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6" name="close-stat-label-2">
            <a:extLst xmlns:a="http://schemas.openxmlformats.org/drawingml/2006/main">
              <a:ext uri="{FF2B5EF4-FFF2-40B4-BE49-F238E27FC236}">
                <a16:creationId xmlns:a16="http://schemas.microsoft.com/office/drawing/2014/main" id="{1DC51841-6D80-47FE-97F3-DA8B24AD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10150"/>
            <a:ext cx="2286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independent sessions</a:t>
            </a:r>
          </a:p>
        </p:txBody>
      </p:sp>
      <p:sp>
        <p:nvSpPr>
          <p:cNvPr id="7" name="close-stat-3">
            <a:extLst xmlns:a="http://schemas.openxmlformats.org/drawingml/2006/main">
              <a:ext uri="{FF2B5EF4-FFF2-40B4-BE49-F238E27FC236}">
                <a16:creationId xmlns:a16="http://schemas.microsoft.com/office/drawing/2014/main" id="{6764E50E-89D6-4BCC-B99E-44FCE50A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95750"/>
            <a:ext cx="2286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8" name="close-stat-label-3">
            <a:extLst xmlns:a="http://schemas.openxmlformats.org/drawingml/2006/main">
              <a:ext uri="{FF2B5EF4-FFF2-40B4-BE49-F238E27FC236}">
                <a16:creationId xmlns:a16="http://schemas.microsoft.com/office/drawing/2014/main" id="{070398F4-284E-4AEF-9D4F-7EC739CC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10150"/>
            <a:ext cx="2286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ordered sequence authority</a:t>
            </a:r>
          </a:p>
        </p:txBody>
      </p:sp>
      <p:sp>
        <p:nvSpPr>
          <p:cNvPr id="9" name="close-next">
            <a:extLst xmlns:a="http://schemas.openxmlformats.org/drawingml/2006/main">
              <a:ext uri="{FF2B5EF4-FFF2-40B4-BE49-F238E27FC236}">
                <a16:creationId xmlns:a16="http://schemas.microsoft.com/office/drawing/2014/main" id="{D32B133E-212E-4EE1-B76D-A1346D98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81450"/>
            <a:ext cx="28003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lose-next-kicker">
            <a:extLst xmlns:a="http://schemas.openxmlformats.org/drawingml/2006/main">
              <a:ext uri="{FF2B5EF4-FFF2-40B4-BE49-F238E27FC236}">
                <a16:creationId xmlns:a16="http://schemas.microsoft.com/office/drawing/2014/main" id="{84D66F6C-41F0-4765-86B1-F60FF075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48150"/>
            <a:ext cx="2266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EBFF"/>
                </a:solidFill>
                <a:latin typeface="Helvetica Neue"/>
                <a:ea typeface="Helvetica Neue"/>
                <a:cs typeface="Helvetica Neue"/>
              </a:defRPr>
            </a:pPr>
            <a:r>
              <a:t>NEXT UNIT</a:t>
            </a:r>
          </a:p>
        </p:txBody>
      </p:sp>
      <p:sp>
        <p:nvSpPr>
          <p:cNvPr id="11" name="close-next-title">
            <a:extLst xmlns:a="http://schemas.openxmlformats.org/drawingml/2006/main">
              <a:ext uri="{FF2B5EF4-FFF2-40B4-BE49-F238E27FC236}">
                <a16:creationId xmlns:a16="http://schemas.microsoft.com/office/drawing/2014/main" id="{61552193-404D-4450-909C-A3309816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29150"/>
            <a:ext cx="2266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CAH-006</a:t>
            </a:r>
          </a:p>
        </p:txBody>
      </p:sp>
      <p:sp>
        <p:nvSpPr>
          <p:cNvPr id="12" name="close-next-body">
            <a:extLst xmlns:a="http://schemas.openxmlformats.org/drawingml/2006/main">
              <a:ext uri="{FF2B5EF4-FFF2-40B4-BE49-F238E27FC236}">
                <a16:creationId xmlns:a16="http://schemas.microsoft.com/office/drawing/2014/main" id="{910F419B-0351-41C2-B5AE-BDC713B5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143500"/>
            <a:ext cx="2266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Cancel active work
and shut down cleanly</a:t>
            </a:r>
          </a:p>
        </p:txBody>
      </p:sp>
      <p:sp>
        <p:nvSpPr>
          <p:cNvPr id="13" name="close-footer">
            <a:extLst xmlns:a="http://schemas.openxmlformats.org/drawingml/2006/main">
              <a:ext uri="{FF2B5EF4-FFF2-40B4-BE49-F238E27FC236}">
                <a16:creationId xmlns:a16="http://schemas.microsoft.com/office/drawing/2014/main" id="{86B647B0-3601-4A54-B555-2249C915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Study the event tape, then test the failure path.</a:t>
            </a:r>
          </a:p>
        </p:txBody>
      </p:sp>
    </p:spTree>
    <p:extLst>
      <p:ext uri="{BB962C8B-B14F-4D97-AF65-F5344CB8AC3E}">
        <p14:creationId xmlns:p14="http://schemas.microsoft.com/office/powerpoint/2010/main" val="6183095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2026-07-30T16:12:37.5150000Z</dcterms:created>
  <dcterms:modified xsi:type="dcterms:W3CDTF">2026-07-30T16:12:37.5150000Z</dcterms:modified>
</coreProperties>
</file>