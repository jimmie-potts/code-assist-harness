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7a9a6f3a6944dce" /><Relationship Type="http://schemas.openxmlformats.org/officeDocument/2006/relationships/extended-properties" Target="/docProps/app.xml" Id="R50ae777823034e56" /><Relationship Type="http://schemas.openxmlformats.org/officeDocument/2006/relationships/officeDocument" Target="/ppt/presentation.xml" Id="Rde9ed53ef12e4da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ce37dbd7e644a58"/>
  </p:sldMasterIdLst>
  <p:notesMasterIdLst>
    <p:notesMasterId xmlns:r="http://schemas.openxmlformats.org/officeDocument/2006/relationships" r:id="R0fa82bc7918b4d86"/>
  </p:notesMasterIdLst>
  <p:sldIdLst>
    <p:sldId xmlns:r="http://schemas.openxmlformats.org/officeDocument/2006/relationships" id="256" r:id="Raaf72977b5db48c1"/>
    <p:sldId xmlns:r="http://schemas.openxmlformats.org/officeDocument/2006/relationships" id="257" r:id="R43132f535512466a"/>
    <p:sldId xmlns:r="http://schemas.openxmlformats.org/officeDocument/2006/relationships" id="258" r:id="R2146f87d317249c3"/>
    <p:sldId xmlns:r="http://schemas.openxmlformats.org/officeDocument/2006/relationships" id="259" r:id="R4feb6e388c224300"/>
    <p:sldId xmlns:r="http://schemas.openxmlformats.org/officeDocument/2006/relationships" id="260" r:id="R25b1de847ff241d4"/>
    <p:sldId xmlns:r="http://schemas.openxmlformats.org/officeDocument/2006/relationships" id="261" r:id="Rcbca33f847b04d0f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6b8be7ef92440e6" /><Relationship Type="http://schemas.openxmlformats.org/officeDocument/2006/relationships/slideMaster" Target="/ppt/slideMasters/slideMaster1.xml" Id="Rdce37dbd7e644a58" /><Relationship Type="http://schemas.openxmlformats.org/officeDocument/2006/relationships/notesMaster" Target="/ppt/notesMasters/notesMaster1.xml" Id="R0fa82bc7918b4d86" /><Relationship Type="http://schemas.openxmlformats.org/officeDocument/2006/relationships/presProps" Target="/ppt/presProps.xml" Id="Rde077c98b5b243c3" /><Relationship Type="http://schemas.openxmlformats.org/officeDocument/2006/relationships/tableStyles" Target="/ppt/tableStyles.xml" Id="R12b145ed51384728" /><Relationship Type="http://schemas.openxmlformats.org/officeDocument/2006/relationships/slide" Target="/ppt/slides/slide1.xml" Id="Raaf72977b5db48c1" /><Relationship Type="http://schemas.openxmlformats.org/officeDocument/2006/relationships/slide" Target="/ppt/slides/slide2.xml" Id="R43132f535512466a" /><Relationship Type="http://schemas.openxmlformats.org/officeDocument/2006/relationships/slide" Target="/ppt/slides/slide3.xml" Id="R2146f87d317249c3" /><Relationship Type="http://schemas.openxmlformats.org/officeDocument/2006/relationships/slide" Target="/ppt/slides/slide4.xml" Id="R4feb6e388c224300" /><Relationship Type="http://schemas.openxmlformats.org/officeDocument/2006/relationships/slide" Target="/ppt/slides/slide5.xml" Id="R25b1de847ff241d4" /><Relationship Type="http://schemas.openxmlformats.org/officeDocument/2006/relationships/slide" Target="/ppt/slides/slide6.xml" Id="Rcbca33f847b04d0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97ebe963e4f495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86ed58092d843cd" /><Relationship Type="http://schemas.openxmlformats.org/officeDocument/2006/relationships/notesMaster" Target="/ppt/notesMasters/notesMaster1.xml" Id="R40520d84c7ec413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594b67af5e94a0e" /><Relationship Type="http://schemas.openxmlformats.org/officeDocument/2006/relationships/notesMaster" Target="/ppt/notesMasters/notesMaster1.xml" Id="R074da3642f07452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d3e577be5b34fe0" /><Relationship Type="http://schemas.openxmlformats.org/officeDocument/2006/relationships/notesMaster" Target="/ppt/notesMasters/notesMaster1.xml" Id="R0f7693b54ff04d6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651c47d3a0f4b74" /><Relationship Type="http://schemas.openxmlformats.org/officeDocument/2006/relationships/notesMaster" Target="/ppt/notesMasters/notesMaster1.xml" Id="Rd0a2406a35914af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eda1e13b2c24cac" /><Relationship Type="http://schemas.openxmlformats.org/officeDocument/2006/relationships/notesMaster" Target="/ppt/notesMasters/notesMaster1.xml" Id="Ra9330ff5ee584f2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a59f636c256419e" /><Relationship Type="http://schemas.openxmlformats.org/officeDocument/2006/relationships/notesMaster" Target="/ppt/notesMasters/notesMaster1.xml" Id="R2eee95a4ab2142f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Teaching focus: CAH-023 adds a vendor translation seam without moving orchestration into the SDK.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user-stories/cah-023-add-openai-responses-adapter.md</a:t>
            </a:r>
          </a:p>
          <a:p xmlns:a="http://schemas.openxmlformats.org/drawingml/2006/main">
            <a:r>
              <a:t>- src/code_assist_harness/provider/openai_responses.py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Walk left to right. The highlighted box is the only CAH-023 responsibility; the evidence branch and tool boundary show what it does not own.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tui/src/provider-configuration.ts</a:t>
            </a:r>
          </a:p>
          <a:p xmlns:a="http://schemas.openxmlformats.org/drawingml/2006/main">
            <a:r>
              <a:t>- src/code_assist_harness/runtime.py</a:t>
            </a:r>
          </a:p>
          <a:p xmlns:a="http://schemas.openxmlformats.org/drawingml/2006/main">
            <a:r>
              <a:t>- src/code_assist_harness/provider_session.py</a:t>
            </a:r>
          </a:p>
          <a:p xmlns:a="http://schemas.openxmlformats.org/drawingml/2006/main">
            <a:r>
              <a:t>- src/code_assist_harness/loop_limits.py</a:t>
            </a:r>
          </a:p>
          <a:p xmlns:a="http://schemas.openxmlformats.org/drawingml/2006/main">
            <a:r>
              <a:t>- src/code_assist_harness/provider/port.py</a:t>
            </a:r>
          </a:p>
          <a:p xmlns:a="http://schemas.openxmlformats.org/drawingml/2006/main">
            <a:r>
              <a:t>- src/code_assist_harness/provider/openai_responses.py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Contrast the two trust boundaries: unsafe process configuration is rejected before SDK import, while the request mapper emits only the reviewed foreground subset.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src/code_assist_harness/provider/openai_config.py</a:t>
            </a:r>
          </a:p>
          <a:p xmlns:a="http://schemas.openxmlformats.org/drawingml/2006/main">
            <a:r>
              <a:t>- src/code_assist_harness/runtime.py</a:t>
            </a:r>
          </a:p>
          <a:p xmlns:a="http://schemas.openxmlformats.org/drawingml/2006/main">
            <a:r>
              <a:t>- src/code_assist_harness/provider/openai_responses.py:639-680</a:t>
            </a:r>
          </a:p>
          <a:p xmlns:a="http://schemas.openxmlformats.org/drawingml/2006/main">
            <a:r>
              <a:t>- https://developers.openai.com/api/docs/guides/streaming-responses</a:t>
            </a:r>
          </a:p>
          <a:p xmlns:a="http://schemas.openxmlformats.org/drawingml/2006/main">
            <a:r>
              <a:t>- https://developers.openai.com/api/docs/guides/migrate-to-responses#4-decide-when-to-use-statefulness</a:t>
            </a:r>
          </a:p>
          <a:p xmlns:a="http://schemas.openxmlformats.org/drawingml/2006/main">
            <a:r>
              <a:t>- https://developers.openai.com/api/docs/models/gpt-4.1-mini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stream is deliberately smaller than the vendor event universe. Structural events are validated and suppressed; only text progress, usage, completion, or a normalized failure cross the port.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src/code_assist_harness/provider/openai_responses.py:444-610</a:t>
            </a:r>
          </a:p>
          <a:p xmlns:a="http://schemas.openxmlformats.org/drawingml/2006/main">
            <a:r>
              <a:t>- src/code_assist_harness/provider/models.py</a:t>
            </a:r>
          </a:p>
          <a:p xmlns:a="http://schemas.openxmlformats.org/drawingml/2006/main">
            <a:r>
              <a:t>- tests/provider/test_openai_responses.py</a:t>
            </a:r>
          </a:p>
          <a:p xmlns:a="http://schemas.openxmlformats.org/drawingml/2006/main">
            <a:r>
              <a:t>- https://developers.openai.com/api/docs/guides/streaming-responses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the race to reinforce ownership: the adapter owns the resource-cleanup attempt and reports when release cannot be confirmed, while ProviderSession remains the authority for user cancellation, deadlines, and the session terminal.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src/code_assist_harness/provider/openai_responses.py:303-415</a:t>
            </a:r>
          </a:p>
          <a:p xmlns:a="http://schemas.openxmlformats.org/drawingml/2006/main">
            <a:r>
              <a:t>- src/code_assist_harness/provider_session.py</a:t>
            </a:r>
          </a:p>
          <a:p xmlns:a="http://schemas.openxmlformats.org/drawingml/2006/main">
            <a:r>
              <a:t>- tests/provider/test_openai_responses.py:594-797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Close by asking the learner to redraw slide 2 from memory and assign each responsibility to one owner. The three evidence facts are repository-backed, not production reliability claims.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tests/provider/test_openai_responses.py</a:t>
            </a:r>
          </a:p>
          <a:p xmlns:a="http://schemas.openxmlformats.org/drawingml/2006/main">
            <a:r>
              <a:t>- tests/provider/test_openai_config.py</a:t>
            </a:r>
          </a:p>
          <a:p xmlns:a="http://schemas.openxmlformats.org/drawingml/2006/main">
            <a:r>
              <a:t>- tests/test_runtime_configuration.py</a:t>
            </a:r>
          </a:p>
          <a:p xmlns:a="http://schemas.openxmlformats.org/drawingml/2006/main">
            <a:r>
              <a:t>- tui/test/provider-configuration.test.ts</a:t>
            </a:r>
          </a:p>
          <a:p xmlns:a="http://schemas.openxmlformats.org/drawingml/2006/main">
            <a:r>
              <a:t>- scripts/check</a:t>
            </a:r>
          </a:p>
          <a:p xmlns:a="http://schemas.openxmlformats.org/drawingml/2006/main">
            <a:r>
              <a:t>- tests/test_repository_policy.py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2fe46e8368f4d53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035060048a94391" /><Relationship Type="http://schemas.openxmlformats.org/officeDocument/2006/relationships/slideLayout" Target="/ppt/slideLayouts/slideLayout1.xml" Id="Rd68219904a91455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68219904a91455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53dfc717013410e" /><Relationship Type="http://schemas.openxmlformats.org/officeDocument/2006/relationships/notesSlide" Target="/ppt/notesSlides/notesSlide1.xml" Id="Rd67a24d269ba475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355d92a32a245c9" /><Relationship Type="http://schemas.openxmlformats.org/officeDocument/2006/relationships/notesSlide" Target="/ppt/notesSlides/notesSlide2.xml" Id="R1b277043f07348a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1ec574f2ff342c8" /><Relationship Type="http://schemas.openxmlformats.org/officeDocument/2006/relationships/notesSlide" Target="/ppt/notesSlides/notesSlide3.xml" Id="R072607be8195454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0ae869f42ff4213" /><Relationship Type="http://schemas.openxmlformats.org/officeDocument/2006/relationships/notesSlide" Target="/ppt/notesSlides/notesSlide4.xml" Id="Ra320588c135447e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8f23f84163c47a4" /><Relationship Type="http://schemas.openxmlformats.org/officeDocument/2006/relationships/notesSlide" Target="/ppt/notesSlides/notesSlide5.xml" Id="R69059bffc5a64d7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00675dbca234474" /><Relationship Type="http://schemas.openxmlformats.org/officeDocument/2006/relationships/notesSlide" Target="/ppt/notesSlides/notesSlide6.xml" Id="Rb1bf07605ffb4df5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A2A10D9-EEAF-4672-9FAA-984759182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00050"/>
            <a:ext cx="533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CAH-023 · PROVIDER ADAPTER</a:t>
            </a:r>
          </a:p>
        </p:txBody>
      </p:sp>
      <p:sp>
        <p:nvSpPr>
          <p:cNvPr id="2" name="cover-title">
            <a:extLst xmlns:a="http://schemas.openxmlformats.org/drawingml/2006/main">
              <a:ext uri="{FF2B5EF4-FFF2-40B4-BE49-F238E27FC236}">
                <a16:creationId xmlns:a16="http://schemas.microsoft.com/office/drawing/2014/main" id="{CA4F3D3C-F819-4E3C-91E4-A925F6EDB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76400"/>
            <a:ext cx="8572500" cy="2324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b"/>
          <a:lstStyle xmlns:a="http://schemas.openxmlformats.org/drawingml/2006/main"/>
          <a:p xmlns:a="http://schemas.openxmlformats.org/drawingml/2006/main">
            <a:pPr algn="l">
              <a:defRPr sz="57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57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OpenAI enters at</a:t>
            </a:r>
          </a:p>
          <a:p xmlns:a="http://schemas.openxmlformats.org/drawingml/2006/main">
            <a:pPr algn="l">
              <a:defRPr sz="57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57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one narrow seam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FF61CBC-C65E-4246-B8C9-7F3D4ABB8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495800"/>
            <a:ext cx="2857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57150">
            <a:solidFill>
              <a:srgbClr val="3D8DF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254366C-2727-4BC8-A9A1-E625BADD2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876800"/>
            <a:ext cx="7239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5B6470"/>
                </a:solidFill>
                <a:latin typeface="Helvetica Neue"/>
                <a:ea typeface="Helvetica Neue"/>
                <a:cs typeface="Helvetica Neue"/>
              </a:rPr>
              <a:t>Keep the agent loop, safety limits, and evidence harness-owned.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A64C9A9-CC62-48F9-8CCA-4BDBDC95D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09600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5B6470"/>
                </a:solidFill>
                <a:latin typeface="Helvetica Neue"/>
                <a:ea typeface="Helvetica Neue"/>
                <a:cs typeface="Helvetica Neue"/>
              </a:rPr>
              <a:t>SYSTEM DESIGN · AGENT LOOP · RESOURCE OWNERSHIP</a:t>
            </a:r>
          </a:p>
        </p:txBody>
      </p:sp>
    </p:spTree>
    <p:extLst>
      <p:ext uri="{BB962C8B-B14F-4D97-AF65-F5344CB8AC3E}">
        <p14:creationId xmlns:p14="http://schemas.microsoft.com/office/powerpoint/2010/main" val="62874919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" name="slide-2-title">
            <a:extLst xmlns:a="http://schemas.openxmlformats.org/drawingml/2006/main">
              <a:ext uri="{FF2B5EF4-FFF2-40B4-BE49-F238E27FC236}">
                <a16:creationId xmlns:a16="http://schemas.microsoft.com/office/drawing/2014/main" id="{9DF36409-1990-4B26-A76A-1F8586105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04800"/>
            <a:ext cx="11391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45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CAH-023 translates at the provider edge—nothing more</a:t>
            </a:r>
          </a:p>
        </p:txBody>
      </p:sp>
      <p:sp>
        <p:nvSpPr>
          <p:cNvPr id="2" name="slide-2-footer">
            <a:extLst xmlns:a="http://schemas.openxmlformats.org/drawingml/2006/main">
              <a:ext uri="{FF2B5EF4-FFF2-40B4-BE49-F238E27FC236}">
                <a16:creationId xmlns:a16="http://schemas.microsoft.com/office/drawing/2014/main" id="{942404E5-763D-4768-8429-3CB70FF4A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28650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B6470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  <p:sp>
        <p:nvSpPr>
          <p:cNvPr id="3" name="boundary-TUI">
            <a:extLst xmlns:a="http://schemas.openxmlformats.org/drawingml/2006/main">
              <a:ext uri="{FF2B5EF4-FFF2-40B4-BE49-F238E27FC236}">
                <a16:creationId xmlns:a16="http://schemas.microsoft.com/office/drawing/2014/main" id="{274F9F26-66E3-48FE-B194-C8729B2D9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95400"/>
            <a:ext cx="1428750" cy="3619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D284E2D-83A5-4DF4-A0ED-A8D9745C9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409700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5B6470"/>
                </a:solidFill>
                <a:latin typeface="Helvetica Neue"/>
                <a:ea typeface="Helvetica Neue"/>
                <a:cs typeface="Helvetica Neue"/>
              </a:rPr>
              <a:t>TUI</a:t>
            </a:r>
          </a:p>
        </p:txBody>
      </p:sp>
      <p:sp>
        <p:nvSpPr>
          <p:cNvPr id="5" name="boundary-PYTHON HARNESS">
            <a:extLst xmlns:a="http://schemas.openxmlformats.org/drawingml/2006/main">
              <a:ext uri="{FF2B5EF4-FFF2-40B4-BE49-F238E27FC236}">
                <a16:creationId xmlns:a16="http://schemas.microsoft.com/office/drawing/2014/main" id="{43EA91B7-00E7-4B11-B795-11356CC6A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1295400"/>
            <a:ext cx="5048250" cy="3619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632DA41-4ECE-4682-8BED-77B040BA9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1409700"/>
            <a:ext cx="485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5B6470"/>
                </a:solidFill>
                <a:latin typeface="Helvetica Neue"/>
                <a:ea typeface="Helvetica Neue"/>
                <a:cs typeface="Helvetica Neue"/>
              </a:rPr>
              <a:t>PYTHON HARNESS</a:t>
            </a:r>
          </a:p>
        </p:txBody>
      </p:sp>
      <p:sp>
        <p:nvSpPr>
          <p:cNvPr id="7" name="boundary-PROVIDER BOUNDARY">
            <a:extLst xmlns:a="http://schemas.openxmlformats.org/drawingml/2006/main">
              <a:ext uri="{FF2B5EF4-FFF2-40B4-BE49-F238E27FC236}">
                <a16:creationId xmlns:a16="http://schemas.microsoft.com/office/drawing/2014/main" id="{D36BC6E6-D34B-4FA8-865C-A722DF2AE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1295400"/>
            <a:ext cx="3143250" cy="3619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DF4BA2A-87DD-41DF-9D72-873E61A2C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409700"/>
            <a:ext cx="2952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5B6470"/>
                </a:solidFill>
                <a:latin typeface="Helvetica Neue"/>
                <a:ea typeface="Helvetica Neue"/>
                <a:cs typeface="Helvetica Neue"/>
              </a:rPr>
              <a:t>PROVIDER BOUNDARY</a:t>
            </a:r>
          </a:p>
        </p:txBody>
      </p:sp>
      <p:sp>
        <p:nvSpPr>
          <p:cNvPr id="9" name="boundary-EXTERNAL">
            <a:extLst xmlns:a="http://schemas.openxmlformats.org/drawingml/2006/main">
              <a:ext uri="{FF2B5EF4-FFF2-40B4-BE49-F238E27FC236}">
                <a16:creationId xmlns:a16="http://schemas.microsoft.com/office/drawing/2014/main" id="{20F2DAA4-438F-4A41-B051-C09523CCF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0350" y="1295400"/>
            <a:ext cx="1371600" cy="3619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FC9066D-6CD6-42D6-90DA-614419FC2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1409700"/>
            <a:ext cx="1181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5B6470"/>
                </a:solidFill>
                <a:latin typeface="Helvetica Neue"/>
                <a:ea typeface="Helvetica Neue"/>
                <a:cs typeface="Helvetica Neue"/>
              </a:rPr>
              <a:t>EXTERNAL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A36D84E-13FF-4EE6-8246-C44A0A3A4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2638425"/>
            <a:ext cx="409575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8E01648-0E2B-4723-83F2-3CE6CE7D5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2638425"/>
            <a:ext cx="45720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2A4FFDF-5EFA-47E1-9B71-DEAB122FF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43575" y="2638425"/>
            <a:ext cx="409575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CF6390B-BE08-4009-BCB0-2F23950E4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638425"/>
            <a:ext cx="45720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2ADC248-68D5-40CE-AC27-D25F5325F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58325" y="2638425"/>
            <a:ext cx="981075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35BB7E7-C5C8-4072-A178-79DA7E83A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3695700"/>
            <a:ext cx="171450" cy="542925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node-TUI args">
            <a:extLst xmlns:a="http://schemas.openxmlformats.org/drawingml/2006/main">
              <a:ext uri="{FF2B5EF4-FFF2-40B4-BE49-F238E27FC236}">
                <a16:creationId xmlns:a16="http://schemas.microsoft.com/office/drawing/2014/main" id="{1B15ED46-1E37-41F4-9FAB-33793B224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095500"/>
            <a:ext cx="1143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E13AB07-7DDD-4E5F-9D0E-A0C91F428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2228850"/>
            <a:ext cx="914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TUI args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F6284D5-3E37-486A-B029-4489CC87C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2724150"/>
            <a:ext cx="914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B6470"/>
                </a:solidFill>
                <a:latin typeface="Helvetica Neue"/>
                <a:ea typeface="Helvetica Neue"/>
                <a:cs typeface="Helvetica Neue"/>
              </a:rPr>
              <a:t>--provider</a:t>
            </a:r>
          </a:p>
          <a:p xmlns:a="http://schemas.openxmlformats.org/drawingml/2006/main">
            <a:pPr algn="l">
              <a:defRPr sz="1200" b="0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B6470"/>
                </a:solidFill>
                <a:latin typeface="Helvetica Neue"/>
                <a:ea typeface="Helvetica Neue"/>
                <a:cs typeface="Helvetica Neue"/>
              </a:rPr>
              <a:t>--model</a:t>
            </a:r>
          </a:p>
        </p:txBody>
      </p:sp>
      <p:sp>
        <p:nvSpPr>
          <p:cNvPr id="20" name="node-Config gate">
            <a:extLst xmlns:a="http://schemas.openxmlformats.org/drawingml/2006/main">
              <a:ext uri="{FF2B5EF4-FFF2-40B4-BE49-F238E27FC236}">
                <a16:creationId xmlns:a16="http://schemas.microsoft.com/office/drawing/2014/main" id="{B284CCA2-5443-42CC-8B10-D1FDA28C9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2095500"/>
            <a:ext cx="13335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E246361-9238-4A35-96B8-B96F6D3B7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57425" y="2228850"/>
            <a:ext cx="1104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Config gate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6611F31-48E4-4DC8-8E09-6FA13131F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57425" y="2724150"/>
            <a:ext cx="1104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B6470"/>
                </a:solidFill>
                <a:latin typeface="Helvetica Neue"/>
                <a:ea typeface="Helvetica Neue"/>
                <a:cs typeface="Helvetica Neue"/>
              </a:rPr>
              <a:t>Validate, then</a:t>
            </a:r>
          </a:p>
          <a:p xmlns:a="http://schemas.openxmlformats.org/drawingml/2006/main">
            <a:pPr algn="l">
              <a:defRPr sz="1200" b="0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B6470"/>
                </a:solidFill>
                <a:latin typeface="Helvetica Neue"/>
                <a:ea typeface="Helvetica Neue"/>
                <a:cs typeface="Helvetica Neue"/>
              </a:rPr>
              <a:t>lazy-import</a:t>
            </a:r>
          </a:p>
        </p:txBody>
      </p:sp>
      <p:sp>
        <p:nvSpPr>
          <p:cNvPr id="23" name="node-CAH-021 + 022">
            <a:extLst xmlns:a="http://schemas.openxmlformats.org/drawingml/2006/main">
              <a:ext uri="{FF2B5EF4-FFF2-40B4-BE49-F238E27FC236}">
                <a16:creationId xmlns:a16="http://schemas.microsoft.com/office/drawing/2014/main" id="{46CD1090-C329-438D-AD97-4F1E2AA8D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095500"/>
            <a:ext cx="17145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D072DEE-1FE7-4DAE-AFFA-F7651547A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228850"/>
            <a:ext cx="1485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CAH-021 + 022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64D9D10-8AB9-46E3-861D-87D4C8563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724150"/>
            <a:ext cx="1485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B6470"/>
                </a:solidFill>
                <a:latin typeface="Helvetica Neue"/>
                <a:ea typeface="Helvetica Neue"/>
                <a:cs typeface="Helvetica Neue"/>
              </a:rPr>
              <a:t>ProviderSession</a:t>
            </a:r>
          </a:p>
          <a:p xmlns:a="http://schemas.openxmlformats.org/drawingml/2006/main">
            <a:pPr algn="l">
              <a:defRPr sz="1200" b="0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B6470"/>
                </a:solidFill>
                <a:latin typeface="Helvetica Neue"/>
                <a:ea typeface="Helvetica Neue"/>
                <a:cs typeface="Helvetica Neue"/>
              </a:rPr>
              <a:t>+ LoopLimits</a:t>
            </a:r>
          </a:p>
        </p:txBody>
      </p:sp>
      <p:sp>
        <p:nvSpPr>
          <p:cNvPr id="26" name="node-Port">
            <a:extLst xmlns:a="http://schemas.openxmlformats.org/drawingml/2006/main">
              <a:ext uri="{FF2B5EF4-FFF2-40B4-BE49-F238E27FC236}">
                <a16:creationId xmlns:a16="http://schemas.microsoft.com/office/drawing/2014/main" id="{58F3489C-A517-443D-9558-2FBA10F07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095500"/>
            <a:ext cx="904875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F5020FA-9C9C-4D70-BD24-FE89A4DC6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228850"/>
            <a:ext cx="6762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Port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1DC2D1D-E37C-46CA-A110-D1DAF6DF2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724150"/>
            <a:ext cx="6762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B6470"/>
                </a:solidFill>
                <a:latin typeface="Helvetica Neue"/>
                <a:ea typeface="Helvetica Neue"/>
                <a:cs typeface="Helvetica Neue"/>
              </a:rPr>
              <a:t>Domain</a:t>
            </a:r>
          </a:p>
          <a:p xmlns:a="http://schemas.openxmlformats.org/drawingml/2006/main">
            <a:pPr algn="l">
              <a:defRPr sz="1200" b="0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B6470"/>
                </a:solidFill>
                <a:latin typeface="Helvetica Neue"/>
                <a:ea typeface="Helvetica Neue"/>
                <a:cs typeface="Helvetica Neue"/>
              </a:rPr>
              <a:t>events</a:t>
            </a:r>
          </a:p>
        </p:txBody>
      </p:sp>
      <p:sp>
        <p:nvSpPr>
          <p:cNvPr id="29" name="node-CAH-023 adapter">
            <a:extLst xmlns:a="http://schemas.openxmlformats.org/drawingml/2006/main">
              <a:ext uri="{FF2B5EF4-FFF2-40B4-BE49-F238E27FC236}">
                <a16:creationId xmlns:a16="http://schemas.microsoft.com/office/drawing/2014/main" id="{37C72FED-8983-47ED-8EFC-D8093CF2F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095500"/>
            <a:ext cx="18097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EDFA"/>
          </a:solidFill>
          <a:ln xmlns:a="http://schemas.openxmlformats.org/drawingml/2006/main" w="9525">
            <a:solidFill>
              <a:srgbClr val="3D8DFF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554DCFB-5021-47D2-AF1F-B1267C507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228850"/>
            <a:ext cx="1581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5FC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25FC7"/>
                </a:solidFill>
                <a:latin typeface="Helvetica Neue"/>
                <a:ea typeface="Helvetica Neue"/>
                <a:cs typeface="Helvetica Neue"/>
              </a:rPr>
              <a:t>CAH-023 adapter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B69EA3B-81AD-48B8-813A-B2DC312B1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724150"/>
            <a:ext cx="1581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B6470"/>
                </a:solidFill>
                <a:latin typeface="Helvetica Neue"/>
                <a:ea typeface="Helvetica Neue"/>
                <a:cs typeface="Helvetica Neue"/>
              </a:rPr>
              <a:t>Request + strict</a:t>
            </a:r>
          </a:p>
          <a:p xmlns:a="http://schemas.openxmlformats.org/drawingml/2006/main">
            <a:pPr algn="l">
              <a:defRPr sz="1200" b="0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B6470"/>
                </a:solidFill>
                <a:latin typeface="Helvetica Neue"/>
                <a:ea typeface="Helvetica Neue"/>
                <a:cs typeface="Helvetica Neue"/>
              </a:rPr>
              <a:t>stream grammar</a:t>
            </a:r>
          </a:p>
        </p:txBody>
      </p:sp>
      <p:sp>
        <p:nvSpPr>
          <p:cNvPr id="32" name="node-Responses">
            <a:extLst xmlns:a="http://schemas.openxmlformats.org/drawingml/2006/main">
              <a:ext uri="{FF2B5EF4-FFF2-40B4-BE49-F238E27FC236}">
                <a16:creationId xmlns:a16="http://schemas.microsoft.com/office/drawing/2014/main" id="{79796605-84F5-45CC-8559-9031D5585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2095500"/>
            <a:ext cx="12192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78B2198-3D05-4795-9C85-48B8C0B9F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91800" y="2228850"/>
            <a:ext cx="990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Responses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ACA49B2-2249-450A-894B-43C2003AF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91800" y="2724150"/>
            <a:ext cx="990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B6470"/>
                </a:solidFill>
                <a:latin typeface="Helvetica Neue"/>
                <a:ea typeface="Helvetica Neue"/>
                <a:cs typeface="Helvetica Neue"/>
              </a:rPr>
              <a:t>OpenAI API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9511E73-F535-4B79-815A-F0A811230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4171950"/>
            <a:ext cx="29527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C063097-25C4-463E-83B1-B5EF33D4A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4267200"/>
            <a:ext cx="2686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EVIDENCE / TRANSCRIPT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DB1BEE9-48F7-41F9-A16A-4B8FADE84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4552950"/>
            <a:ext cx="2686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B6470"/>
                </a:solidFill>
                <a:latin typeface="Helvetica Neue"/>
                <a:ea typeface="Helvetica Neue"/>
                <a:cs typeface="Helvetica Neue"/>
              </a:rPr>
              <a:t>usage + loop-limit observations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BE77A1F-4D18-4311-AF47-B302571E2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4257675"/>
            <a:ext cx="2286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3D8DFF"/>
            </a:solidFill>
            <a:prstDash val="dash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524BB13-9396-40D3-A2F3-F239E17F1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4371975"/>
            <a:ext cx="2286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TOOLS UNAVAILABLE IN CAH-023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D99E99B-42BC-4472-9252-EF650AEA8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5181600"/>
            <a:ext cx="4953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425" b="0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5B6470"/>
                </a:solidFill>
                <a:latin typeface="Helvetica Neue"/>
                <a:ea typeface="Helvetica Neue"/>
                <a:cs typeface="Helvetica Neue"/>
              </a:rPr>
              <a:t>Tool policy and approvals stay in the harness for a later unit.</a:t>
            </a:r>
          </a:p>
        </p:txBody>
      </p:sp>
    </p:spTree>
    <p:extLst>
      <p:ext uri="{BB962C8B-B14F-4D97-AF65-F5344CB8AC3E}">
        <p14:creationId xmlns:p14="http://schemas.microsoft.com/office/powerpoint/2010/main" val="164941102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slide-3-title">
            <a:extLst xmlns:a="http://schemas.openxmlformats.org/drawingml/2006/main">
              <a:ext uri="{FF2B5EF4-FFF2-40B4-BE49-F238E27FC236}">
                <a16:creationId xmlns:a16="http://schemas.microsoft.com/office/drawing/2014/main" id="{85F0686A-F938-4D34-8D1B-4F15E0BCF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04800"/>
            <a:ext cx="11391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45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SDK stays invisible until configuration is safe</a:t>
            </a:r>
          </a:p>
        </p:txBody>
      </p:sp>
      <p:sp>
        <p:nvSpPr>
          <p:cNvPr id="2" name="slide-3-footer">
            <a:extLst xmlns:a="http://schemas.openxmlformats.org/drawingml/2006/main">
              <a:ext uri="{FF2B5EF4-FFF2-40B4-BE49-F238E27FC236}">
                <a16:creationId xmlns:a16="http://schemas.microsoft.com/office/drawing/2014/main" id="{45B1B6E9-AD20-4AE8-A614-B964711C3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28650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B6470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DDBC62-D0C2-423B-A2D7-23CCDBF75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428750"/>
            <a:ext cx="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CFEA2E9-72B6-48C0-9B68-D9BB2DD21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85900"/>
            <a:ext cx="54292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CB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306E0B1-3210-49FD-A66E-B0A09D6DE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1485900"/>
            <a:ext cx="54292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1395D35-643A-4BB9-97BA-A8BFC2862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847850"/>
            <a:ext cx="5429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Configuration boundary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95F16A3-A486-496E-8FAD-A88C06926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419350"/>
            <a:ext cx="5143500" cy="3000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5B6470"/>
                </a:solidFill>
                <a:latin typeface="Helvetica Neue"/>
                <a:ea typeface="Helvetica Neue"/>
                <a:cs typeface="Helvetica Neue"/>
              </a:rPr>
              <a:t>Default is the deterministic mock.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00" b="0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5B6470"/>
                </a:solidFill>
                <a:latin typeface="Helvetica Neue"/>
                <a:ea typeface="Helvetica Neue"/>
                <a:cs typeface="Helvetica Neue"/>
              </a:rPr>
              <a:t>OpenAI requires an explicit provider + exact model snapshot.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00" b="0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5B6470"/>
                </a:solidFill>
                <a:latin typeface="Helvetica Neue"/>
                <a:ea typeface="Helvetica Neue"/>
                <a:cs typeface="Helvetica Neue"/>
              </a:rPr>
              <a:t>Only OPENAI_API_KEY is accepted; every other OPENAI_* setting is rejected.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00" b="0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5B6470"/>
                </a:solidFill>
                <a:latin typeface="Helvetica Neue"/>
                <a:ea typeface="Helvetica Neue"/>
                <a:cs typeface="Helvetica Neue"/>
              </a:rPr>
              <a:t>Python validates before importing the adapter.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43557DB-D898-4D8D-835E-332763A44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1847850"/>
            <a:ext cx="5429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One foreground request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AC55447-F5C9-4606-8E79-64A9D89AD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419350"/>
            <a:ext cx="5143500" cy="3000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5B6470"/>
                </a:solidFill>
                <a:latin typeface="Helvetica Neue"/>
                <a:ea typeface="Helvetica Neue"/>
                <a:cs typeface="Helvetica Neue"/>
              </a:rPr>
              <a:t>Ordered conversation → input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00" b="0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5B6470"/>
                </a:solidFill>
                <a:latin typeface="Helvetica Neue"/>
                <a:ea typeface="Helvetica Neue"/>
                <a:cs typeface="Helvetica Neue"/>
              </a:rPr>
              <a:t>Ordered repository guidance → JSON instructions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00" b="0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5B6470"/>
                </a:solidFill>
                <a:latin typeface="Helvetica Neue"/>
                <a:ea typeface="Helvetica Neue"/>
                <a:cs typeface="Helvetica Neue"/>
              </a:rPr>
              <a:t>stream = true · background = false · store = false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00" b="0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5B6470"/>
                </a:solidFill>
                <a:latin typeface="Helvetica Neue"/>
                <a:ea typeface="Helvetica Neue"/>
                <a:cs typeface="Helvetica Neue"/>
              </a:rPr>
              <a:t>Retries = 0 · proxy env off · redirects off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0324F69-3B59-4347-AC8D-D9C12FBFF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715000"/>
            <a:ext cx="113919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175910C-FEF1-4A55-B8EE-923DF45E1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800725"/>
            <a:ext cx="11087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Boundary rule: credentials configure the adapter; they never enter provider-neutral requests or events.</a:t>
            </a:r>
          </a:p>
        </p:txBody>
      </p:sp>
    </p:spTree>
    <p:extLst>
      <p:ext uri="{BB962C8B-B14F-4D97-AF65-F5344CB8AC3E}">
        <p14:creationId xmlns:p14="http://schemas.microsoft.com/office/powerpoint/2010/main" val="186208110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slide-4-title">
            <a:extLst xmlns:a="http://schemas.openxmlformats.org/drawingml/2006/main">
              <a:ext uri="{FF2B5EF4-FFF2-40B4-BE49-F238E27FC236}">
                <a16:creationId xmlns:a16="http://schemas.microsoft.com/office/drawing/2014/main" id="{86BFB55A-498B-4C0F-9171-B603971C8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04800"/>
            <a:ext cx="11391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45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 narrow stream grammar becomes four domain events</a:t>
            </a:r>
          </a:p>
        </p:txBody>
      </p:sp>
      <p:sp>
        <p:nvSpPr>
          <p:cNvPr id="2" name="slide-4-footer">
            <a:extLst xmlns:a="http://schemas.openxmlformats.org/drawingml/2006/main">
              <a:ext uri="{FF2B5EF4-FFF2-40B4-BE49-F238E27FC236}">
                <a16:creationId xmlns:a16="http://schemas.microsoft.com/office/drawing/2014/main" id="{01A86E93-8140-4ACF-AADD-9B1C7128E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28650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B6470"/>
                </a:solidFill>
                <a:latin typeface="Helvetica Neue"/>
                <a:ea typeface="Helvetica Neue"/>
                <a:cs typeface="Helvetica Neue"/>
              </a:rPr>
              <a:t>04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FA517AB-1F70-4269-B73E-8DBAC1DCA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765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39AF4AE-F10C-4852-BA10-DB717A5FA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79082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E0C9BBA-43B1-4647-979E-CAC39A32E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79082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15D8410-AD7B-4D5F-8270-E5F54E308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79082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0DF7D90-E82D-430E-9319-B717263F9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6695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5B6470"/>
                </a:solidFill>
                <a:latin typeface="Helvetica Neue"/>
                <a:ea typeface="Helvetica Neue"/>
                <a:cs typeface="Helvetica Neue"/>
              </a:rPr>
              <a:t>01 · IDENTITY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FC5462F-504F-4E20-91E6-4ACADCE50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33750"/>
            <a:ext cx="314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created → [queued] → in_progress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2DCD9FA-5021-43F2-8604-A32EC5750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95750"/>
            <a:ext cx="3143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B6470"/>
                </a:solidFill>
                <a:latin typeface="Helvetica Neue"/>
                <a:ea typeface="Helvetica Neue"/>
                <a:cs typeface="Helvetica Neue"/>
              </a:rPr>
              <a:t>Sequence numbers rise exactly.</a:t>
            </a:r>
          </a:p>
          <a:p xmlns:a="http://schemas.openxmlformats.org/drawingml/2006/main">
            <a:pPr algn="l">
              <a:defRPr sz="1350" b="0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B6470"/>
                </a:solidFill>
                <a:latin typeface="Helvetica Neue"/>
                <a:ea typeface="Helvetica Neue"/>
                <a:cs typeface="Helvetica Neue"/>
              </a:rPr>
              <a:t>Response ID stays constant.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4D987DB-1578-46E4-AC37-B0E33D7FC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26695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5B6470"/>
                </a:solidFill>
                <a:latin typeface="Helvetica Neue"/>
                <a:ea typeface="Helvetica Neue"/>
                <a:cs typeface="Helvetica Neue"/>
              </a:rPr>
              <a:t>02 · ONE TEXT ITEM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D325167-E358-4968-989E-9B154F1B5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333750"/>
            <a:ext cx="314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item.added → delta+ → text.done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96863DC-1E34-4507-8FD6-865E635A1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4095750"/>
            <a:ext cx="3143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B6470"/>
                </a:solidFill>
                <a:latin typeface="Helvetica Neue"/>
                <a:ea typeface="Helvetica Neue"/>
                <a:cs typeface="Helvetica Neue"/>
              </a:rPr>
              <a:t>Emit ProviderTextDelta.</a:t>
            </a:r>
          </a:p>
          <a:p xmlns:a="http://schemas.openxmlformats.org/drawingml/2006/main">
            <a:pPr algn="l">
              <a:defRPr sz="1350" b="0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B6470"/>
                </a:solidFill>
                <a:latin typeface="Helvetica Neue"/>
                <a:ea typeface="Helvetica Neue"/>
                <a:cs typeface="Helvetica Neue"/>
              </a:rPr>
              <a:t>Rebuilt text must match done text.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A2C94A1-7A05-4413-91C4-456492C0A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26695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03 · TERMINAL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0F1CDE1-CE5C-419E-B3DF-A3A5CDF67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333750"/>
            <a:ext cx="314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part.done → item.done → completed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D006EFA-8270-402F-8E78-78CFAF5E9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095750"/>
            <a:ext cx="3143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B6470"/>
                </a:solidFill>
                <a:latin typeface="Helvetica Neue"/>
                <a:ea typeface="Helvetica Neue"/>
                <a:cs typeface="Helvetica Neue"/>
              </a:rPr>
              <a:t>Verify IDs, model, output, usage.</a:t>
            </a:r>
          </a:p>
          <a:p xmlns:a="http://schemas.openxmlformats.org/drawingml/2006/main">
            <a:pPr algn="l">
              <a:defRPr sz="1350" b="0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B6470"/>
                </a:solidFill>
                <a:latin typeface="Helvetica Neue"/>
                <a:ea typeface="Helvetica Neue"/>
                <a:cs typeface="Helvetica Neue"/>
              </a:rPr>
              <a:t>Emit usage + ProviderCompleted.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9CF3047-4289-43FB-8FF4-ED3AD0D99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0"/>
            <a:ext cx="108204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EDFA"/>
          </a:solidFill>
          <a:ln xmlns:a="http://schemas.openxmlformats.org/drawingml/2006/main" w="9525">
            <a:solidFill>
              <a:srgbClr val="3D8D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4FC1C70-6E20-49B4-9350-3D2B56097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438775"/>
            <a:ext cx="742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Skipped step, wrong ID, mismatched text, unsupported event, or premature EOF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528487E-A7CB-4B0D-95B8-4D1521951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5381625"/>
            <a:ext cx="2857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125FC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25FC7"/>
                </a:solidFill>
                <a:latin typeface="Helvetica Neue"/>
                <a:ea typeface="Helvetica Neue"/>
                <a:cs typeface="Helvetica Neue"/>
              </a:rPr>
              <a:t>ProviderFailed</a:t>
            </a:r>
          </a:p>
          <a:p xmlns:a="http://schemas.openxmlformats.org/drawingml/2006/main">
            <a:pPr algn="r">
              <a:defRPr sz="1350" b="1">
                <a:solidFill>
                  <a:srgbClr val="125FC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25FC7"/>
                </a:solidFill>
                <a:latin typeface="Helvetica Neue"/>
                <a:ea typeface="Helvetica Neue"/>
                <a:cs typeface="Helvetica Neue"/>
              </a:rPr>
              <a:t>(invalid_response)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03BC4C1-6B6E-4D59-86F0-1AD14FDB2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715000"/>
            <a:ext cx="742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B6470"/>
                </a:solidFill>
                <a:latin typeface="Helvetica Neue"/>
                <a:ea typeface="Helvetica Neue"/>
                <a:cs typeface="Helvetica Neue"/>
              </a:rPr>
              <a:t>The SDK event union never leaks into the harness core.</a:t>
            </a:r>
          </a:p>
        </p:txBody>
      </p:sp>
    </p:spTree>
    <p:extLst>
      <p:ext uri="{BB962C8B-B14F-4D97-AF65-F5344CB8AC3E}">
        <p14:creationId xmlns:p14="http://schemas.microsoft.com/office/powerpoint/2010/main" val="169180436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slide-5-title">
            <a:extLst xmlns:a="http://schemas.openxmlformats.org/drawingml/2006/main">
              <a:ext uri="{FF2B5EF4-FFF2-40B4-BE49-F238E27FC236}">
                <a16:creationId xmlns:a16="http://schemas.microsoft.com/office/drawing/2014/main" id="{56FD6526-AD23-4A93-806B-FC879661D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04800"/>
            <a:ext cx="11391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45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One cleanup owner decides when a terminal can escape</a:t>
            </a:r>
          </a:p>
        </p:txBody>
      </p:sp>
      <p:sp>
        <p:nvSpPr>
          <p:cNvPr id="2" name="slide-5-footer">
            <a:extLst xmlns:a="http://schemas.openxmlformats.org/drawingml/2006/main">
              <a:ext uri="{FF2B5EF4-FFF2-40B4-BE49-F238E27FC236}">
                <a16:creationId xmlns:a16="http://schemas.microsoft.com/office/drawing/2014/main" id="{D02A6234-8786-4A3F-AA60-016856001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28650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B6470"/>
                </a:solidFill>
                <a:latin typeface="Helvetica Neue"/>
                <a:ea typeface="Helvetica Neue"/>
                <a:cs typeface="Helvetica Neue"/>
              </a:rPr>
              <a:t>05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4E9B5EB-71BD-44D9-8141-CA1787158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162050"/>
            <a:ext cx="11391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5B6470"/>
                </a:solidFill>
                <a:latin typeface="Helvetica Neue"/>
                <a:ea typeface="Helvetica Neue"/>
                <a:cs typeface="Helvetica Neue"/>
              </a:rPr>
              <a:t>Each operation owns its create task, next-event task, stream, and client. Natural completion and cancellation converge under one state lock.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343C606-6FCF-49B5-B605-084E04C12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133600"/>
            <a:ext cx="113919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ED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89BF4F7-0806-4DE1-8A57-F7AA17664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247900"/>
            <a:ext cx="11010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25FC7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125FC7"/>
                </a:solidFill>
                <a:latin typeface="Helvetica Neue"/>
                <a:ea typeface="Helvetica Neue"/>
                <a:cs typeface="Helvetica Neue"/>
              </a:rPr>
              <a:t>No provider terminal outruns the cleanup attempt.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267BC36-198B-49C0-AB85-6997F3337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143250"/>
            <a:ext cx="542925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D439746-BE32-4F39-B633-6918584A1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409950"/>
            <a:ext cx="4857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Natural terminal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55BF710-DBD9-437C-9DF6-12EAE8A9E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00500"/>
            <a:ext cx="4857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5B6470"/>
                </a:solidFill>
                <a:latin typeface="Helvetica Neue"/>
                <a:ea typeface="Helvetica Neue"/>
                <a:cs typeface="Helvetica Neue"/>
              </a:rPr>
              <a:t>1. Buffer usage + completion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00" b="0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5B6470"/>
                </a:solidFill>
                <a:latin typeface="Helvetica Neue"/>
                <a:ea typeface="Helvetica Neue"/>
                <a:cs typeface="Helvetica Neue"/>
              </a:rPr>
              <a:t>2. Close stream, then client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00" b="0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5B6470"/>
                </a:solidFill>
                <a:latin typeface="Helvetica Neue"/>
                <a:ea typeface="Helvetica Neue"/>
                <a:cs typeface="Helvetica Neue"/>
              </a:rPr>
              <a:t>3. Publish the terminal only after cleanup settles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5F7ACFD-A556-4C7E-AD9B-52CAC6978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143250"/>
            <a:ext cx="542925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08D09E2-9AF0-45C3-93DE-688E6324C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409950"/>
            <a:ext cx="4857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Cancellation wins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3C3D45C-11F2-48D8-9903-5B01C93F7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000500"/>
            <a:ext cx="4857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5B6470"/>
                </a:solidFill>
                <a:latin typeface="Helvetica Neue"/>
                <a:ea typeface="Helvetica Neue"/>
                <a:cs typeface="Helvetica Neue"/>
              </a:rPr>
              <a:t>1. Suppress buffered terminal events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00" b="0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5B6470"/>
                </a:solidFill>
                <a:latin typeface="Helvetica Neue"/>
                <a:ea typeface="Helvetica Neue"/>
                <a:cs typeface="Helvetica Neue"/>
              </a:rPr>
              <a:t>2. Cancel + reap owned SDK work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00" b="0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5B6470"/>
                </a:solidFill>
                <a:latin typeface="Helvetica Neue"/>
                <a:ea typeface="Helvetica Neue"/>
                <a:cs typeface="Helvetica Neue"/>
              </a:rPr>
              <a:t>3. Join shielded cleanup; repeated cancel is safe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37BFAE9-CD65-4684-AF1B-C9D32AB6C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791200"/>
            <a:ext cx="10629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Shared invariant: at most one cleanup task; logical closure is observable, and the harness bounds its join.</a:t>
            </a:r>
          </a:p>
        </p:txBody>
      </p:sp>
    </p:spTree>
    <p:extLst>
      <p:ext uri="{BB962C8B-B14F-4D97-AF65-F5344CB8AC3E}">
        <p14:creationId xmlns:p14="http://schemas.microsoft.com/office/powerpoint/2010/main" val="157576977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slide-6-title">
            <a:extLst xmlns:a="http://schemas.openxmlformats.org/drawingml/2006/main">
              <a:ext uri="{FF2B5EF4-FFF2-40B4-BE49-F238E27FC236}">
                <a16:creationId xmlns:a16="http://schemas.microsoft.com/office/drawing/2014/main" id="{7BBAACF0-E796-4419-B41F-CAB0BCEA4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04800"/>
            <a:ext cx="11391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45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Deterministic evidence makes the boundary teachable</a:t>
            </a:r>
          </a:p>
        </p:txBody>
      </p:sp>
      <p:sp>
        <p:nvSpPr>
          <p:cNvPr id="2" name="slide-6-footer">
            <a:extLst xmlns:a="http://schemas.openxmlformats.org/drawingml/2006/main">
              <a:ext uri="{FF2B5EF4-FFF2-40B4-BE49-F238E27FC236}">
                <a16:creationId xmlns:a16="http://schemas.microsoft.com/office/drawing/2014/main" id="{9386381F-A329-40FD-9377-394D8C160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28650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B6470"/>
                </a:solidFill>
                <a:latin typeface="Helvetica Neue"/>
                <a:ea typeface="Helvetica Neue"/>
                <a:cs typeface="Helvetica Neue"/>
              </a:rPr>
              <a:t>06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DDB06B6-FC81-49F6-B65B-A090C5CCE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16205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TEACH-BACK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8A25912-2EF3-4966-A661-5CDDA7C68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85900"/>
            <a:ext cx="10477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Point to the owner of stream grammar, terminal selection, limits, transcripts, and future tool approval.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AFFABAA-4EF2-4F4A-9F8D-DEA860E1C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781300"/>
            <a:ext cx="3562350" cy="2724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A89EB75-E6BC-49AE-9477-4C232A880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048000"/>
            <a:ext cx="304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b"/>
          <a:lstStyle xmlns:a="http://schemas.openxmlformats.org/drawingml/2006/main"/>
          <a:p xmlns:a="http://schemas.openxmlformats.org/drawingml/2006/main">
            <a:pPr algn="l">
              <a:defRPr sz="48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48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78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5A1F9A0-67D9-4843-A0A5-48936A999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981450"/>
            <a:ext cx="304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adapter tests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7911CEA-FD6F-4F61-B503-587C0CA38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29150"/>
            <a:ext cx="304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B6470"/>
                </a:solidFill>
                <a:latin typeface="Helvetica Neue"/>
                <a:ea typeface="Helvetica Neue"/>
                <a:cs typeface="Helvetica Neue"/>
              </a:rPr>
              <a:t>Success, malformed order, wrong IDs, SDK failures, cleanup, and races.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4BF4F33-5DA5-4599-9918-6F654DC63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781300"/>
            <a:ext cx="3562350" cy="2724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D673CB0-6B11-4507-A468-EAA8697C8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2475" y="3048000"/>
            <a:ext cx="304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b"/>
          <a:lstStyle xmlns:a="http://schemas.openxmlformats.org/drawingml/2006/main"/>
          <a:p xmlns:a="http://schemas.openxmlformats.org/drawingml/2006/main">
            <a:pPr algn="l">
              <a:defRPr sz="48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48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0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B745E68-F363-4B46-877F-AE5686CF4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2475" y="3981450"/>
            <a:ext cx="304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live calls in ./scripts/check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5605F80-1D29-4071-A89A-C1FC2CDC9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2475" y="4629150"/>
            <a:ext cx="304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B6470"/>
                </a:solidFill>
                <a:latin typeface="Helvetica Neue"/>
                <a:ea typeface="Helvetica Neue"/>
                <a:cs typeface="Helvetica Neue"/>
              </a:rPr>
              <a:t>The canonical gate is offline and strips provider credentials.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345E0CC-1027-4086-AE73-BEB4AE9E5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781300"/>
            <a:ext cx="3562350" cy="2724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D301A09-9320-4F6C-8FFD-CE02E47C9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48000"/>
            <a:ext cx="304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b"/>
          <a:lstStyle xmlns:a="http://schemas.openxmlformats.org/drawingml/2006/main"/>
          <a:p xmlns:a="http://schemas.openxmlformats.org/drawingml/2006/main">
            <a:pPr algn="l">
              <a:defRPr sz="48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48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1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F729F8C-BE72-4DF9-97B3-F849157A6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981450"/>
            <a:ext cx="304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production SDK import surface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78FA0CA-6E9D-4ED7-97F8-A6EF66203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629150"/>
            <a:ext cx="304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B6470"/>
                </a:solidFill>
                <a:latin typeface="Helvetica Neue"/>
                <a:ea typeface="Helvetica Neue"/>
                <a:cs typeface="Helvetica Neue"/>
              </a:rPr>
              <a:t>Vendor types stay inside openai_responses.py.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A4017A7-742E-43A3-930F-BBBE56E94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867400"/>
            <a:ext cx="1057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If the answer moves orchestration into the SDK, redraw the boundary.</a:t>
            </a:r>
          </a:p>
        </p:txBody>
      </p:sp>
    </p:spTree>
    <p:extLst>
      <p:ext uri="{BB962C8B-B14F-4D97-AF65-F5344CB8AC3E}">
        <p14:creationId xmlns:p14="http://schemas.microsoft.com/office/powerpoint/2010/main" val="31470626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2026-08-01T19:12:48.4640000Z</dcterms:created>
  <dcterms:modified xsi:type="dcterms:W3CDTF">2026-08-01T19:12:48.4640000Z</dcterms:modified>
</coreProperties>
</file>