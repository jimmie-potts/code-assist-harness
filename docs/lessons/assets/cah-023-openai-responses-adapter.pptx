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61ac51c1514dde" /><Relationship Type="http://schemas.openxmlformats.org/officeDocument/2006/relationships/extended-properties" Target="/docProps/app.xml" Id="Re90f2db46aa94332" /><Relationship Type="http://schemas.openxmlformats.org/officeDocument/2006/relationships/officeDocument" Target="/ppt/presentation.xml" Id="Rceab7a2555b745f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d24fbd8b614c88"/>
  </p:sldMasterIdLst>
  <p:notesMasterIdLst>
    <p:notesMasterId xmlns:r="http://schemas.openxmlformats.org/officeDocument/2006/relationships" r:id="R61e66b5ca0c243aa"/>
  </p:notesMasterIdLst>
  <p:sldIdLst>
    <p:sldId xmlns:r="http://schemas.openxmlformats.org/officeDocument/2006/relationships" id="256" r:id="Rcc0ce4c34812478b"/>
    <p:sldId xmlns:r="http://schemas.openxmlformats.org/officeDocument/2006/relationships" id="257" r:id="R5aa19b7e856f4a3d"/>
    <p:sldId xmlns:r="http://schemas.openxmlformats.org/officeDocument/2006/relationships" id="258" r:id="R8facc10f00874b79"/>
    <p:sldId xmlns:r="http://schemas.openxmlformats.org/officeDocument/2006/relationships" id="259" r:id="R1d8d91c164374278"/>
    <p:sldId xmlns:r="http://schemas.openxmlformats.org/officeDocument/2006/relationships" id="260" r:id="R9acecd7355594f44"/>
    <p:sldId xmlns:r="http://schemas.openxmlformats.org/officeDocument/2006/relationships" id="261" r:id="R746da517ef4c40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760b2142e1480d" /><Relationship Type="http://schemas.openxmlformats.org/officeDocument/2006/relationships/slideMaster" Target="/ppt/slideMasters/slideMaster1.xml" Id="R58d24fbd8b614c88" /><Relationship Type="http://schemas.openxmlformats.org/officeDocument/2006/relationships/notesMaster" Target="/ppt/notesMasters/notesMaster1.xml" Id="R61e66b5ca0c243aa" /><Relationship Type="http://schemas.openxmlformats.org/officeDocument/2006/relationships/presProps" Target="/ppt/presProps.xml" Id="R57145f3178144d61" /><Relationship Type="http://schemas.openxmlformats.org/officeDocument/2006/relationships/tableStyles" Target="/ppt/tableStyles.xml" Id="Rf55cab9fb20a4af0" /><Relationship Type="http://schemas.openxmlformats.org/officeDocument/2006/relationships/slide" Target="/ppt/slides/slide1.xml" Id="Rcc0ce4c34812478b" /><Relationship Type="http://schemas.openxmlformats.org/officeDocument/2006/relationships/slide" Target="/ppt/slides/slide2.xml" Id="R5aa19b7e856f4a3d" /><Relationship Type="http://schemas.openxmlformats.org/officeDocument/2006/relationships/slide" Target="/ppt/slides/slide3.xml" Id="R8facc10f00874b79" /><Relationship Type="http://schemas.openxmlformats.org/officeDocument/2006/relationships/slide" Target="/ppt/slides/slide4.xml" Id="R1d8d91c164374278" /><Relationship Type="http://schemas.openxmlformats.org/officeDocument/2006/relationships/slide" Target="/ppt/slides/slide5.xml" Id="R9acecd7355594f44" /><Relationship Type="http://schemas.openxmlformats.org/officeDocument/2006/relationships/slide" Target="/ppt/slides/slide6.xml" Id="R746da517ef4c40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9f66c1773d483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0701a600abe4f9c" /><Relationship Type="http://schemas.openxmlformats.org/officeDocument/2006/relationships/notesMaster" Target="/ppt/notesMasters/notesMaster1.xml" Id="Rb86f6c193f6a4ff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fa74c42fec41ca" /><Relationship Type="http://schemas.openxmlformats.org/officeDocument/2006/relationships/notesMaster" Target="/ppt/notesMasters/notesMaster1.xml" Id="Rd3863d6181ef46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af89f48267a4dd5" /><Relationship Type="http://schemas.openxmlformats.org/officeDocument/2006/relationships/notesMaster" Target="/ppt/notesMasters/notesMaster1.xml" Id="R0c8d95e19d04410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aaf74d784f4d2c" /><Relationship Type="http://schemas.openxmlformats.org/officeDocument/2006/relationships/notesMaster" Target="/ppt/notesMasters/notesMaster1.xml" Id="Re324bd3aecb2412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86da30187214b53" /><Relationship Type="http://schemas.openxmlformats.org/officeDocument/2006/relationships/notesMaster" Target="/ppt/notesMasters/notesMaster1.xml" Id="R759a761b309e46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45dbe4354294ba8" /><Relationship Type="http://schemas.openxmlformats.org/officeDocument/2006/relationships/notesMaster" Target="/ppt/notesMasters/notesMaster1.xml" Id="R05a4ac7e8d384b0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Teaching focus: CAH-023 adds a Luna-specific translation seam without moving orchestration into the SDK.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user-stories/cah-023-add-openai-responses-adapter.md</a:t>
            </a:r>
          </a:p>
          <a:p xmlns:a="http://schemas.openxmlformats.org/drawingml/2006/main">
            <a:r>
              <a:t>- src/code_assist_harness/provider/openai_responses.py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highlighted box is the only CAH-023 responsibility; the evidence branch and tool boundary show what it does not own. Luna remains outside the provider-neutral harness 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tui/src/provider-configuration.ts</a:t>
            </a:r>
          </a:p>
          <a:p xmlns:a="http://schemas.openxmlformats.org/drawingml/2006/main">
            <a:r>
              <a:t>- src/code_assist_harness/runtime.py</a:t>
            </a:r>
          </a:p>
          <a:p xmlns:a="http://schemas.openxmlformats.org/drawingml/2006/main">
            <a:r>
              <a:t>- src/code_assist_harness/provider_session.py</a:t>
            </a:r>
          </a:p>
          <a:p xmlns:a="http://schemas.openxmlformats.org/drawingml/2006/main">
            <a:r>
              <a:t>- src/code_assist_harness/loop_limits.py</a:t>
            </a:r>
          </a:p>
          <a:p xmlns:a="http://schemas.openxmlformats.org/drawingml/2006/main">
            <a:r>
              <a:t>- src/code_assist_harness/provider/port.py</a:t>
            </a:r>
          </a:p>
          <a:p xmlns:a="http://schemas.openxmlformats.org/drawingml/2006/main">
            <a:r>
              <a:t>- src/code_assist_harness/provider/openai_responses.py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Contrast the two trust boundaries: the explicit helper admits one local credential into the launched process environment, while only Python consumes it as provider configuration and the request mapper emits the reviewed Luna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scripts/with-openai-dev-key</a:t>
            </a:r>
          </a:p>
          <a:p xmlns:a="http://schemas.openxmlformats.org/drawingml/2006/main">
            <a:r>
              <a:t>- src/code_assist_harness/provider/openai_config.py</a:t>
            </a:r>
          </a:p>
          <a:p xmlns:a="http://schemas.openxmlformats.org/drawingml/2006/main">
            <a:r>
              <a:t>- src/code_assist_harness/runtime.py</a:t>
            </a:r>
          </a:p>
          <a:p xmlns:a="http://schemas.openxmlformats.org/drawingml/2006/main">
            <a:r>
              <a:t>- src/code_assist_harness/provider/openai_responses.py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https://developers.openai.com/api/docs/guides/latest-model#update-api-and-model-parameters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stream is deliberately smaller than the vendor event universe. An optional opaque reasoning item is validated and suppressed; only text progress, usage, completion, or a normalized failure cross the 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src/code_assist_harness/provider/openai_responses.py</a:t>
            </a:r>
          </a:p>
          <a:p xmlns:a="http://schemas.openxmlformats.org/drawingml/2006/main">
            <a:r>
              <a:t>- src/code_assist_harness/provider/models.py</a:t>
            </a:r>
          </a:p>
          <a:p xmlns:a="http://schemas.openxmlformats.org/drawingml/2006/main">
            <a:r>
              <a:t>- tests/provider/test_openai_responses.py</a:t>
            </a:r>
          </a:p>
          <a:p xmlns:a="http://schemas.openxmlformats.org/drawingml/2006/main">
            <a:r>
              <a:t>- https://developers.openai.com/api/docs/guides/streaming-responses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race to reinforce ownership: the adapter owns the resource-cleanup attempt and reports when release cannot be confirmed, while ProviderSession remains the authority for user cancellation, deadlines, and the session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src/code_assist_harness/provider/openai_responses.py</a:t>
            </a:r>
          </a:p>
          <a:p xmlns:a="http://schemas.openxmlformats.org/drawingml/2006/main">
            <a:r>
              <a:t>- src/code_assist_harness/provider_session.py</a:t>
            </a:r>
          </a:p>
          <a:p xmlns:a="http://schemas.openxmlformats.org/drawingml/2006/main">
            <a:r>
              <a:t>- tests/provider/test_openai_responses.py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asking the learner to redraw slide 2 from memory and assign each responsibility to one owner. The three evidence facts are repository-backed, not production reliability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tests/provider/test_openai_responses.py</a:t>
            </a:r>
          </a:p>
          <a:p xmlns:a="http://schemas.openxmlformats.org/drawingml/2006/main">
            <a:r>
              <a:t>- tests/provider/test_openai_config.py</a:t>
            </a:r>
          </a:p>
          <a:p xmlns:a="http://schemas.openxmlformats.org/drawingml/2006/main">
            <a:r>
              <a:t>- tests/test_openai_dev_key_script.py</a:t>
            </a:r>
          </a:p>
          <a:p xmlns:a="http://schemas.openxmlformats.org/drawingml/2006/main">
            <a:r>
              <a:t>- tests/test_runtime_configuration.py</a:t>
            </a:r>
          </a:p>
          <a:p xmlns:a="http://schemas.openxmlformats.org/drawingml/2006/main">
            <a:r>
              <a:t>- tui/test/provider-configuration.test.ts</a:t>
            </a:r>
          </a:p>
          <a:p xmlns:a="http://schemas.openxmlformats.org/drawingml/2006/main">
            <a:r>
              <a:t>- scripts/check</a:t>
            </a:r>
          </a:p>
          <a:p xmlns:a="http://schemas.openxmlformats.org/drawingml/2006/main">
            <a:r>
              <a:t>- tests/test_repository_policy.py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015f430cb642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97e2397a554ad1" /><Relationship Type="http://schemas.openxmlformats.org/officeDocument/2006/relationships/slideLayout" Target="/ppt/slideLayouts/slideLayout1.xml" Id="R334936d8325a4b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34936d8325a4b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d43d946f994a01" /><Relationship Type="http://schemas.openxmlformats.org/officeDocument/2006/relationships/notesSlide" Target="/ppt/notesSlides/notesSlide1.xml" Id="Re66a2c4ef6e244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aa47e5195b46fe" /><Relationship Type="http://schemas.openxmlformats.org/officeDocument/2006/relationships/notesSlide" Target="/ppt/notesSlides/notesSlide2.xml" Id="R5f2bcf7e55c548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4df2b62bf74fe9" /><Relationship Type="http://schemas.openxmlformats.org/officeDocument/2006/relationships/notesSlide" Target="/ppt/notesSlides/notesSlide3.xml" Id="Re24fe389acda4e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8b8413cac84197" /><Relationship Type="http://schemas.openxmlformats.org/officeDocument/2006/relationships/notesSlide" Target="/ppt/notesSlides/notesSlide4.xml" Id="R27e3e3b3ff21402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00e80a0f3e4901" /><Relationship Type="http://schemas.openxmlformats.org/officeDocument/2006/relationships/notesSlide" Target="/ppt/notesSlides/notesSlide5.xml" Id="R0c235397003a4f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b5db26e0724879" /><Relationship Type="http://schemas.openxmlformats.org/officeDocument/2006/relationships/notesSlide" Target="/ppt/notesSlides/notesSlide6.xml" Id="Rdb1b3c648d094d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2A10D9-EEAF-4672-9FAA-984759182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CAH-023 · PROVIDER ADAPTER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A4F3D3C-F819-4E3C-91E4-A925F6ED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8572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7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Luna enters at</a:t>
            </a:r>
          </a:p>
          <a:p xmlns:a="http://schemas.openxmlformats.org/drawingml/2006/main">
            <a:pPr algn="l">
              <a:buNone/>
              <a:defRPr sz="57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7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narrow seam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F61CBC-C65E-4246-B8C9-7F3D4ABB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958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3D8D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4366C-2727-4BC8-A9A1-E625BADD2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76800"/>
            <a:ext cx="723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Keep the agent loop, safety limits, and evidence harness-owned.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4C9A9-CC62-48F9-8CCA-4BDBDC95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9600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SYSTEM DESIGN · AGENT LOOP · RESOURCE OWNERSHIP</a:t>
            </a:r>
          </a:p>
        </p:txBody>
      </p:sp>
    </p:spTree>
    <p:extLst>
      <p:ext uri="{BB962C8B-B14F-4D97-AF65-F5344CB8AC3E}">
        <p14:creationId xmlns:p14="http://schemas.microsoft.com/office/powerpoint/2010/main" val="6287491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9DF36409-1990-4B26-A76A-1F858610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CAH-023 owns only provider translation</a:t>
            </a:r>
          </a:p>
        </p:txBody>
      </p:sp>
      <p:sp>
        <p:nvSpPr>
          <p:cNvPr id="2" name="slide-2-footer">
            <a:extLst xmlns:a="http://schemas.openxmlformats.org/drawingml/2006/main">
              <a:ext uri="{FF2B5EF4-FFF2-40B4-BE49-F238E27FC236}">
                <a16:creationId xmlns:a16="http://schemas.microsoft.com/office/drawing/2014/main" id="{942404E5-763D-4768-8429-3CB70FF4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boundary-TUI">
            <a:extLst xmlns:a="http://schemas.openxmlformats.org/drawingml/2006/main">
              <a:ext uri="{FF2B5EF4-FFF2-40B4-BE49-F238E27FC236}">
                <a16:creationId xmlns:a16="http://schemas.microsoft.com/office/drawing/2014/main" id="{274F9F26-66E3-48FE-B194-C8729B2D9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95400"/>
            <a:ext cx="14287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84E2D-83A5-4DF4-A0ED-A8D9745C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4097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TUI</a:t>
            </a:r>
          </a:p>
        </p:txBody>
      </p:sp>
      <p:sp>
        <p:nvSpPr>
          <p:cNvPr id="5" name="boundary-PYTHON HARNESS">
            <a:extLst xmlns:a="http://schemas.openxmlformats.org/drawingml/2006/main">
              <a:ext uri="{FF2B5EF4-FFF2-40B4-BE49-F238E27FC236}">
                <a16:creationId xmlns:a16="http://schemas.microsoft.com/office/drawing/2014/main" id="{43EA91B7-00E7-4B11-B795-11356CC6A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295400"/>
            <a:ext cx="50482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2DA41-4ECE-4682-8BED-77B040BA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409700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PYTHON HARNESS</a:t>
            </a:r>
          </a:p>
        </p:txBody>
      </p:sp>
      <p:sp>
        <p:nvSpPr>
          <p:cNvPr id="7" name="boundary-PROVIDER BOUNDARY">
            <a:extLst xmlns:a="http://schemas.openxmlformats.org/drawingml/2006/main">
              <a:ext uri="{FF2B5EF4-FFF2-40B4-BE49-F238E27FC236}">
                <a16:creationId xmlns:a16="http://schemas.microsoft.com/office/drawing/2014/main" id="{D36BC6E6-D34B-4FA8-865C-A722DF2A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295400"/>
            <a:ext cx="31432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4BA2A-87DD-41DF-9D72-873E61A2C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097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PROVIDER BOUNDARY</a:t>
            </a:r>
          </a:p>
        </p:txBody>
      </p:sp>
      <p:sp>
        <p:nvSpPr>
          <p:cNvPr id="9" name="boundary-EXTERNAL">
            <a:extLst xmlns:a="http://schemas.openxmlformats.org/drawingml/2006/main">
              <a:ext uri="{FF2B5EF4-FFF2-40B4-BE49-F238E27FC236}">
                <a16:creationId xmlns:a16="http://schemas.microsoft.com/office/drawing/2014/main" id="{20F2DAA4-438F-4A41-B051-C09523CC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295400"/>
            <a:ext cx="13716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C9066D-6CD6-42D6-90DA-614419FC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09700"/>
            <a:ext cx="1181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EXTERNAL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D84E-13FF-4EE6-8246-C44A0A3A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38425"/>
            <a:ext cx="4095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01648-0E2B-4723-83F2-3CE6CE7D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38425"/>
            <a:ext cx="457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A4FFDF-5EFA-47E1-9B71-DEAB122FF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638425"/>
            <a:ext cx="4095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F6390B-BE08-4009-BCB0-2F23950E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638425"/>
            <a:ext cx="4572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ADC248-68D5-40CE-AC27-D25F5325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638425"/>
            <a:ext cx="981075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5BB7E7-C5C8-4072-A178-79DA7E83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695700"/>
            <a:ext cx="171450" cy="5429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node-TUI args">
            <a:extLst xmlns:a="http://schemas.openxmlformats.org/drawingml/2006/main">
              <a:ext uri="{FF2B5EF4-FFF2-40B4-BE49-F238E27FC236}">
                <a16:creationId xmlns:a16="http://schemas.microsoft.com/office/drawing/2014/main" id="{1B15ED46-1E37-41F4-9FAB-33793B22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1143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13AB07-7DDD-4E5F-9D0E-A0C91F42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228850"/>
            <a:ext cx="914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TUI args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6284D5-3E37-486A-B029-4489CC87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724150"/>
            <a:ext cx="914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provider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20" name="node-Config gate">
            <a:extLst xmlns:a="http://schemas.openxmlformats.org/drawingml/2006/main">
              <a:ext uri="{FF2B5EF4-FFF2-40B4-BE49-F238E27FC236}">
                <a16:creationId xmlns:a16="http://schemas.microsoft.com/office/drawing/2014/main" id="{B284CCA2-5443-42CC-8B10-D1FDA28C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95500"/>
            <a:ext cx="1333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246361-9238-4A35-96B8-B96F6D3B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2288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611F31-48E4-4DC8-8E09-6FA13131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2724150"/>
            <a:ext cx="1104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Validate, then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lazy-import</a:t>
            </a:r>
          </a:p>
        </p:txBody>
      </p:sp>
      <p:sp>
        <p:nvSpPr>
          <p:cNvPr id="23" name="node-CAH-021 + 022">
            <a:extLst xmlns:a="http://schemas.openxmlformats.org/drawingml/2006/main">
              <a:ext uri="{FF2B5EF4-FFF2-40B4-BE49-F238E27FC236}">
                <a16:creationId xmlns:a16="http://schemas.microsoft.com/office/drawing/2014/main" id="{46CD1090-C329-438D-AD97-4F1E2AA8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1714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072DEE-1FE7-4DAE-AFFA-F7651547A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2288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CAH-021 + 022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4D9D10-8AB9-46E3-861D-87D4C856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724150"/>
            <a:ext cx="148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ProviderSession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+ LoopLimits</a:t>
            </a:r>
          </a:p>
        </p:txBody>
      </p:sp>
      <p:sp>
        <p:nvSpPr>
          <p:cNvPr id="26" name="node-Port">
            <a:extLst xmlns:a="http://schemas.openxmlformats.org/drawingml/2006/main">
              <a:ext uri="{FF2B5EF4-FFF2-40B4-BE49-F238E27FC236}">
                <a16:creationId xmlns:a16="http://schemas.microsoft.com/office/drawing/2014/main" id="{58F3489C-A517-443D-9558-2FBA10F0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904875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5020FA-9C9C-4D70-BD24-FE89A4DC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28850"/>
            <a:ext cx="6762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DC2D1D-E37C-46CA-A110-D1DAF6DF2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24150"/>
            <a:ext cx="676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Domain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events</a:t>
            </a:r>
          </a:p>
        </p:txBody>
      </p:sp>
      <p:sp>
        <p:nvSpPr>
          <p:cNvPr id="29" name="node-CAH-023 adapter">
            <a:extLst xmlns:a="http://schemas.openxmlformats.org/drawingml/2006/main">
              <a:ext uri="{FF2B5EF4-FFF2-40B4-BE49-F238E27FC236}">
                <a16:creationId xmlns:a16="http://schemas.microsoft.com/office/drawing/2014/main" id="{37C72FED-8983-47ED-8EFC-D8093CF2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95500"/>
            <a:ext cx="180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54DCFB-5021-47D2-AF1F-B1267C507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28850"/>
            <a:ext cx="1581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rPr>
              <a:t>CAH-023 adapter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69EA3B-81AD-48B8-813A-B2DC312B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241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Luna request +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strict grammar</a:t>
            </a:r>
          </a:p>
        </p:txBody>
      </p:sp>
      <p:sp>
        <p:nvSpPr>
          <p:cNvPr id="32" name="node-Responses">
            <a:extLst xmlns:a="http://schemas.openxmlformats.org/drawingml/2006/main">
              <a:ext uri="{FF2B5EF4-FFF2-40B4-BE49-F238E27FC236}">
                <a16:creationId xmlns:a16="http://schemas.microsoft.com/office/drawing/2014/main" id="{79796605-84F5-45CC-8559-9031D5585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095500"/>
            <a:ext cx="1219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8B2198-3D05-4795-9C85-48B8C0B9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228850"/>
            <a:ext cx="99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Responses
API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CA49B2-2249-450A-894B-43C2003A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724150"/>
            <a:ext cx="990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Luna model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11E73-F535-4B79-815A-F0A81123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71950"/>
            <a:ext cx="2952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063097-25C4-463E-83B1-B5EF33D4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267200"/>
            <a:ext cx="2686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EVIDENCE / TRANSCRIPT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DB1BEE9-48F7-41F9-A16A-4B8FADE8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4552950"/>
            <a:ext cx="2686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usage + loop-limit observations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E77A1F-4D18-4311-AF47-B302571E2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257675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D8DFF"/>
            </a:solidFill>
            <a:prstDash val="dash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24BB13-9396-40D3-A2F3-F239E17F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371975"/>
            <a:ext cx="2286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TOOLS UNAVAILABLE IN CAH-023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99E99B-42BC-4472-9252-EF650AEA8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1816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4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Tool policy and approvals stay in the harness for a later unit.</a:t>
            </a:r>
          </a:p>
        </p:txBody>
      </p:sp>
    </p:spTree>
    <p:extLst>
      <p:ext uri="{BB962C8B-B14F-4D97-AF65-F5344CB8AC3E}">
        <p14:creationId xmlns:p14="http://schemas.microsoft.com/office/powerpoint/2010/main" val="16494110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85F0686A-F938-4D34-8D1B-4F15E0BC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SDK stays invisible until configuration is safe</a:t>
            </a:r>
          </a:p>
        </p:txBody>
      </p:sp>
      <p:sp>
        <p:nvSpPr>
          <p:cNvPr id="2" name="slide-3-footer">
            <a:extLst xmlns:a="http://schemas.openxmlformats.org/drawingml/2006/main">
              <a:ext uri="{FF2B5EF4-FFF2-40B4-BE49-F238E27FC236}">
                <a16:creationId xmlns:a16="http://schemas.microsoft.com/office/drawing/2014/main" id="{45B1B6E9-AD20-4AE8-A614-B964711C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DDBC62-D0C2-423B-A2D7-23CCDBF7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EA2E9-72B6-48C0-9B68-D9BB2DD2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5429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06E0B1-3210-49FD-A66E-B0A09D6D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485900"/>
            <a:ext cx="54292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395D35-643A-4BB9-97BA-A8BFC286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4785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Configuration boundary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F16A3-A486-496E-8FAD-A88C06926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19350"/>
            <a:ext cx="51435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Default is the deterministic mock.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OpenAI requires explicit provider + gpt-5.6-luna.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with-openai-dev-key reads only ignored dev.env.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Python validates before importing the adapter.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557DB-D898-4D8D-835E-332763A4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47850"/>
            <a:ext cx="542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foreground request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55447-F5C9-4606-8E79-64A9D89A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19350"/>
            <a:ext cx="5143500" cy="3000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Ordered conversation → input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reasoning = none · context = current_turn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max_output_tokens = 8192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stream = true · background = false · store = false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324F69-3B59-4347-AC8D-D9C12FBF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1391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5910C-FEF1-4A55-B8EE-923DF45E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00725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Boundary rule: dev.env enters the launched environment; only Python consumes it as provider config.</a:t>
            </a:r>
          </a:p>
        </p:txBody>
      </p:sp>
    </p:spTree>
    <p:extLst>
      <p:ext uri="{BB962C8B-B14F-4D97-AF65-F5344CB8AC3E}">
        <p14:creationId xmlns:p14="http://schemas.microsoft.com/office/powerpoint/2010/main" val="18620811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86BFB55A-498B-4C0F-9171-B603971C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Luna stream becomes four domain events</a:t>
            </a:r>
          </a:p>
        </p:txBody>
      </p:sp>
      <p:sp>
        <p:nvSpPr>
          <p:cNvPr id="2" name="slide-4-footer">
            <a:extLst xmlns:a="http://schemas.openxmlformats.org/drawingml/2006/main">
              <a:ext uri="{FF2B5EF4-FFF2-40B4-BE49-F238E27FC236}">
                <a16:creationId xmlns:a16="http://schemas.microsoft.com/office/drawing/2014/main" id="{01A86E93-8140-4ACF-AADD-9B1C7128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517AB-1F70-4269-B73E-8DBAC1DCA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AF4AE-F10C-4852-BA10-DB717A5FA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90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0C9BBA-43B1-4647-979E-CAC39A32E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90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D8410-AD7B-4D5F-8270-E5F54E30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90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F7D90-E82D-430E-9319-B717263F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01 · IDENTITY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C5462F-504F-4E20-91E6-4ACADCE5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created → [queued] → in_progress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CD9FA-5021-43F2-8604-A32EC575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Sequence numbers rise exactly.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Response ID stays constant.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987DB-1578-46E4-AC37-B0E33D7F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26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02 · OUTPUT ITEMS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25167-E358-4968-989E-9B154F1B5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3337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[reasoning] → message → delta+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6863DC-1E34-4507-8FD6-865E635A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957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Opaque reasoning is optional.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Emit only ProviderTextDelta.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2C94A1-7A05-4413-91C4-456492C0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669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03 · TERMINAL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F1CDE1-CE5C-419E-B3DF-A3A5CDF67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3375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text.done → part.done → item.done
→ response.completed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006EFA-8270-402F-8E78-78CFAF5E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Emit ProviderTextCompleted.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ProviderUsageReported → ProviderCompleted.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CF3047-4289-43FB-8FF4-ED3AD0D99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FC1C70-6E20-49B4-9350-3D2B5609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3877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Reasoning text · wrong ID · text mismatch · unsupported event · EOF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28487E-A7CB-4B0D-95B8-4D152195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81625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rPr>
              <a:t>ProviderFailed</a:t>
            </a:r>
          </a:p>
          <a:p xmlns:a="http://schemas.openxmlformats.org/drawingml/2006/main">
            <a:pPr algn="r">
              <a:buNone/>
              <a:def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rPr>
              <a:t>(invalid_response)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3BC4C1-6B6E-4D59-86F0-1AD14FDB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15000"/>
            <a:ext cx="742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Reasoning data and SDK events stay inside the adapter.</a:t>
            </a:r>
          </a:p>
        </p:txBody>
      </p:sp>
    </p:spTree>
    <p:extLst>
      <p:ext uri="{BB962C8B-B14F-4D97-AF65-F5344CB8AC3E}">
        <p14:creationId xmlns:p14="http://schemas.microsoft.com/office/powerpoint/2010/main" val="16918043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6FD6526-AD23-4A93-806B-FC879661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Cleanup settles before a terminal escapes</a:t>
            </a:r>
          </a:p>
        </p:txBody>
      </p:sp>
      <p:sp>
        <p:nvSpPr>
          <p:cNvPr id="2" name="slide-5-footer">
            <a:extLst xmlns:a="http://schemas.openxmlformats.org/drawingml/2006/main">
              <a:ext uri="{FF2B5EF4-FFF2-40B4-BE49-F238E27FC236}">
                <a16:creationId xmlns:a16="http://schemas.microsoft.com/office/drawing/2014/main" id="{D02A6234-8786-4A3F-AA60-01685600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E9B5EB-71BD-44D9-8141-CA178715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Each operation owns its create task, next-event task, stream, and client. Natural completion and cancellation converge under one state lock.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43C606-6FCF-49B5-B605-084E04C12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33600"/>
            <a:ext cx="11391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BF4F7-0806-4DE1-8A57-F7AA17664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1101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5FC7"/>
                </a:solidFill>
                <a:latin typeface="Helvetica Neue"/>
                <a:ea typeface="Helvetica Neue"/>
                <a:cs typeface="Helvetica Neue"/>
              </a:rPr>
              <a:t>No provider terminal outruns the cleanup attempt.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7BC36-198B-49C0-AB85-6997F3337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429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39746-BE32-4F39-B633-6918584A1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Natural terminal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BF710-DBD9-437C-9DF6-12EAE8A9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1. Buffer usage + completion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2. Close stream, then client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3. Publish the terminal only after cleanup settles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7ACFD-A556-4C7E-AD9B-52CAC697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43250"/>
            <a:ext cx="5429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8D09E2-9AF0-45C3-93DE-688E6324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09950"/>
            <a:ext cx="485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Cancellation wins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C3D45C-11F2-48D8-9903-5B01C93F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000500"/>
            <a:ext cx="485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1. Suppress buffered terminal events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2. Cancel + reap owned SDK work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3. Join shielded cleanup; repeated cancel is safe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7BFAE9-CD65-4684-AF1B-C9D32AB6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91200"/>
            <a:ext cx="10629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Shared invariant: at most one cleanup task; logical closure is observable, and the harness bounds its join.</a:t>
            </a:r>
          </a:p>
        </p:txBody>
      </p:sp>
    </p:spTree>
    <p:extLst>
      <p:ext uri="{BB962C8B-B14F-4D97-AF65-F5344CB8AC3E}">
        <p14:creationId xmlns:p14="http://schemas.microsoft.com/office/powerpoint/2010/main" val="15757697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7BBAACF0-E796-4419-B41F-CAB0BCEA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11391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Deterministic evidence teaches the boundary</a:t>
            </a:r>
          </a:p>
        </p:txBody>
      </p:sp>
      <p:sp>
        <p:nvSpPr>
          <p:cNvPr id="2" name="slide-6-footer">
            <a:extLst xmlns:a="http://schemas.openxmlformats.org/drawingml/2006/main">
              <a:ext uri="{FF2B5EF4-FFF2-40B4-BE49-F238E27FC236}">
                <a16:creationId xmlns:a16="http://schemas.microsoft.com/office/drawing/2014/main" id="{9386381F-A329-40FD-9377-394D8C160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2865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DB06B6-FC81-49F6-B65B-A090C5CC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TEACH-BACK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25912-2EF3-4966-A661-5CDDA7C6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8590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Name who owns dev.env admission, stream grammar, terminals, limits, transcripts, and future tool approval.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FABAA-4EF2-4F4A-9F8D-DEA860E1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562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89EB75-E6BC-49AE-9477-4C232A88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480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1F9A0-67D9-4843-A0A5-48936A99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814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adapter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11CEA-FD6F-4F61-B503-587C0CA3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Message-only + opaque reasoning, malformed streams, cleanup, races.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BF4F33-5DA5-4599-9918-6F654DC6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562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673CB0-6B11-4507-A468-EAA8697C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0480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745E68-F363-4B46-877F-AE5686CF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39814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live calls in ./scripts/check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605F80-1D29-4071-A89A-C1FC2CDC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The canonical gate is offline and strips provider credentials.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5E0CC-1027-4086-AE73-BEB4AE9E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5623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301A09-9320-4F6C-8FFD-CE02E47C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729F8C-BE72-4DF9-97B3-F849157A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8145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SDK import surface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8FA0CA-6E9D-4ED7-97F8-A6EF6620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B6470"/>
                </a:solidFill>
                <a:latin typeface="Helvetica Neue"/>
                <a:ea typeface="Helvetica Neue"/>
                <a:cs typeface="Helvetica Neue"/>
              </a:rPr>
              <a:t>Vendor types stay inside openai_responses.py.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017A7-742E-43A3-930F-BBBE56E94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If the answer moves orchestration into the SDK, redraw the boundary.</a:t>
            </a:r>
          </a:p>
        </p:txBody>
      </p:sp>
    </p:spTree>
    <p:extLst>
      <p:ext uri="{BB962C8B-B14F-4D97-AF65-F5344CB8AC3E}">
        <p14:creationId xmlns:p14="http://schemas.microsoft.com/office/powerpoint/2010/main" val="3147062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2026-08-02T02:22:27.0690000Z</dcterms:created>
  <dcterms:modified xsi:type="dcterms:W3CDTF">2026-08-02T02:22:27.0690000Z</dcterms:modified>
</coreProperties>
</file>