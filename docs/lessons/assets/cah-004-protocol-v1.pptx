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00dd7acc434da5" /><Relationship Type="http://schemas.openxmlformats.org/officeDocument/2006/relationships/extended-properties" Target="/docProps/app.xml" Id="R5d11c67a499f4f96" /><Relationship Type="http://schemas.openxmlformats.org/officeDocument/2006/relationships/officeDocument" Target="/ppt/presentation.xml" Id="R5a65dd99334544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8e758b7b7d447d"/>
  </p:sldMasterIdLst>
  <p:notesMasterIdLst>
    <p:notesMasterId xmlns:r="http://schemas.openxmlformats.org/officeDocument/2006/relationships" r:id="Rcff67309576740b0"/>
  </p:notesMasterIdLst>
  <p:sldIdLst>
    <p:sldId xmlns:r="http://schemas.openxmlformats.org/officeDocument/2006/relationships" id="256" r:id="R186da38ce3d24d6e"/>
    <p:sldId xmlns:r="http://schemas.openxmlformats.org/officeDocument/2006/relationships" id="257" r:id="R0f1d5ea4e6064294"/>
    <p:sldId xmlns:r="http://schemas.openxmlformats.org/officeDocument/2006/relationships" id="258" r:id="R91a5a8fda4c64d20"/>
    <p:sldId xmlns:r="http://schemas.openxmlformats.org/officeDocument/2006/relationships" id="259" r:id="Rb6049653200b4c69"/>
    <p:sldId xmlns:r="http://schemas.openxmlformats.org/officeDocument/2006/relationships" id="260" r:id="Reb63250a48cc4821"/>
    <p:sldId xmlns:r="http://schemas.openxmlformats.org/officeDocument/2006/relationships" id="261" r:id="Rda0d477236ed4832"/>
    <p:sldId xmlns:r="http://schemas.openxmlformats.org/officeDocument/2006/relationships" id="262" r:id="Rf7ee70e635b1413a"/>
    <p:sldId xmlns:r="http://schemas.openxmlformats.org/officeDocument/2006/relationships" id="263" r:id="Ra84a3c97827a4b0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7103d3f6b64a38" /><Relationship Type="http://schemas.openxmlformats.org/officeDocument/2006/relationships/slideMaster" Target="/ppt/slideMasters/slideMaster1.xml" Id="R3c8e758b7b7d447d" /><Relationship Type="http://schemas.openxmlformats.org/officeDocument/2006/relationships/notesMaster" Target="/ppt/notesMasters/notesMaster1.xml" Id="Rcff67309576740b0" /><Relationship Type="http://schemas.openxmlformats.org/officeDocument/2006/relationships/presProps" Target="/ppt/presProps.xml" Id="R8ce6fd5e53034cef" /><Relationship Type="http://schemas.openxmlformats.org/officeDocument/2006/relationships/tableStyles" Target="/ppt/tableStyles.xml" Id="R37a4016c41594983" /><Relationship Type="http://schemas.openxmlformats.org/officeDocument/2006/relationships/slide" Target="/ppt/slides/slide1.xml" Id="R186da38ce3d24d6e" /><Relationship Type="http://schemas.openxmlformats.org/officeDocument/2006/relationships/slide" Target="/ppt/slides/slide2.xml" Id="R0f1d5ea4e6064294" /><Relationship Type="http://schemas.openxmlformats.org/officeDocument/2006/relationships/slide" Target="/ppt/slides/slide3.xml" Id="R91a5a8fda4c64d20" /><Relationship Type="http://schemas.openxmlformats.org/officeDocument/2006/relationships/slide" Target="/ppt/slides/slide4.xml" Id="Rb6049653200b4c69" /><Relationship Type="http://schemas.openxmlformats.org/officeDocument/2006/relationships/slide" Target="/ppt/slides/slide5.xml" Id="Reb63250a48cc4821" /><Relationship Type="http://schemas.openxmlformats.org/officeDocument/2006/relationships/slide" Target="/ppt/slides/slide6.xml" Id="Rda0d477236ed4832" /><Relationship Type="http://schemas.openxmlformats.org/officeDocument/2006/relationships/slide" Target="/ppt/slides/slide7.xml" Id="Rf7ee70e635b1413a" /><Relationship Type="http://schemas.openxmlformats.org/officeDocument/2006/relationships/slide" Target="/ppt/slides/slide8.xml" Id="Ra84a3c97827a4b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e22d2a953e41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9e05068f854e92" /><Relationship Type="http://schemas.openxmlformats.org/officeDocument/2006/relationships/notesMaster" Target="/ppt/notesMasters/notesMaster1.xml" Id="R08a3775147d749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0cd97c258e426a" /><Relationship Type="http://schemas.openxmlformats.org/officeDocument/2006/relationships/notesMaster" Target="/ppt/notesMasters/notesMaster1.xml" Id="Rcd5b689451c146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603b5d88404101" /><Relationship Type="http://schemas.openxmlformats.org/officeDocument/2006/relationships/notesMaster" Target="/ppt/notesMasters/notesMaster1.xml" Id="R4143dc62540748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6ddafcec55416d" /><Relationship Type="http://schemas.openxmlformats.org/officeDocument/2006/relationships/notesMaster" Target="/ppt/notesMasters/notesMaster1.xml" Id="R8e6ed541e79745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746fb66aef46b6" /><Relationship Type="http://schemas.openxmlformats.org/officeDocument/2006/relationships/notesMaster" Target="/ppt/notesMasters/notesMaster1.xml" Id="Rcbccf21f8f7548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2a21ff21454460" /><Relationship Type="http://schemas.openxmlformats.org/officeDocument/2006/relationships/notesMaster" Target="/ppt/notesMasters/notesMaster1.xml" Id="Rc9cf9d32cbb548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c635af32524a27" /><Relationship Type="http://schemas.openxmlformats.org/officeDocument/2006/relationships/notesMaster" Target="/ppt/notesMasters/notesMaster1.xml" Id="Rd7c25c6818ab4d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218c0b0b144604" /><Relationship Type="http://schemas.openxmlformats.org/officeDocument/2006/relationships/notesMaster" Target="/ppt/notesMasters/notesMaster1.xml" Id="R16409cd4ba6644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1cdd2d312247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5f8ca9b23143ac" /><Relationship Type="http://schemas.openxmlformats.org/officeDocument/2006/relationships/slideLayout" Target="/ppt/slideLayouts/slideLayout1.xml" Id="Re49b52b514484f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9b52b514484f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cf084c1e746a7" /><Relationship Type="http://schemas.openxmlformats.org/officeDocument/2006/relationships/notesSlide" Target="/ppt/notesSlides/notesSlide1.xml" Id="Re451cdba287947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ae581ab8a41e9" /><Relationship Type="http://schemas.openxmlformats.org/officeDocument/2006/relationships/notesSlide" Target="/ppt/notesSlides/notesSlide2.xml" Id="Rffb6f61384d94b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fdc7adf694566" /><Relationship Type="http://schemas.openxmlformats.org/officeDocument/2006/relationships/notesSlide" Target="/ppt/notesSlides/notesSlide3.xml" Id="Rd51e49518c0940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3604711754a23" /><Relationship Type="http://schemas.openxmlformats.org/officeDocument/2006/relationships/notesSlide" Target="/ppt/notesSlides/notesSlide4.xml" Id="R7a38dc4c4f6a4a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31dd588dc46f6" /><Relationship Type="http://schemas.openxmlformats.org/officeDocument/2006/relationships/notesSlide" Target="/ppt/notesSlides/notesSlide5.xml" Id="R1c5ebe15e89248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bcc5c4e7c4a77" /><Relationship Type="http://schemas.openxmlformats.org/officeDocument/2006/relationships/notesSlide" Target="/ppt/notesSlides/notesSlide6.xml" Id="R30a2d195bd674d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6d2538eb14113" /><Relationship Type="http://schemas.openxmlformats.org/officeDocument/2006/relationships/notesSlide" Target="/ppt/notesSlides/notesSlide7.xml" Id="R0efd788f02b943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06883e5934918" /><Relationship Type="http://schemas.openxmlformats.org/officeDocument/2006/relationships/notesSlide" Target="/ppt/notesSlides/notesSlide8.xml" Id="R61899a43a4c34c5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hape-14">
            <a:extLst xmlns:a="http://schemas.openxmlformats.org/drawingml/2006/main">
              <a:ext uri="{FF2B5EF4-FFF2-40B4-BE49-F238E27FC236}">
                <a16:creationId xmlns:a16="http://schemas.microsoft.com/office/drawing/2014/main" id="{EC87728F-835A-490B-9DFD-82BE3BF9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75FD61D-465F-45D6-BBB1-105A30BE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"/>
            <a:ext cx="11277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5EFF"/>
                </a:solidFill>
                <a:latin typeface="Helvetica Neue"/>
                <a:ea typeface="Helvetica Neue"/>
                <a:cs typeface="Helvetica Neue"/>
              </a:defRPr>
            </a:pPr>
            <a:r>
              <a:t>IMPLEMENTATION COMPANION · CAH-004</a:t>
            </a:r>
          </a:p>
        </p:txBody>
      </p:sp>
      <p:cxnSp>
        <p:nvCxnSpPr>
          <p:cNvPr id="17" name="Rule-2"/>
          <p:cNvCxnSpPr/>
          <p:nvPr/>
        </p:nvCxnSpPr>
        <p:spPr>
          <a:xfrm xmlns:a="http://schemas.openxmlformats.org/drawingml/2006/main">
            <a:off x="457200" y="110490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12"/>
            </a:solidFill>
            <a:prstDash val="solid"/>
          </a:ln>
        </p:spPr>
      </p:cxn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C9F9973-AF25-4AF4-BCAD-AF70C39A2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12776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30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Protocol v1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21C8321-205E-4FF7-9D52-D440201B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09900"/>
            <a:ext cx="100012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Turn untrusted byte streams into a dependable cross-language contract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D1A090D-54A1-48C8-A097-8F9794C9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38625"/>
            <a:ext cx="8858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23DAE"/>
                </a:solidFill>
                <a:latin typeface="Helvetica Neue"/>
                <a:ea typeface="Helvetica Neue"/>
                <a:cs typeface="Helvetica Neue"/>
              </a:defRPr>
            </a:pPr>
            <a:r>
              <a:t>framing · validation · causality · ordering · containment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1D718D3-DFE9-4ABC-95FC-89B8119D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BYTES</a:t>
            </a:r>
          </a:p>
        </p:txBody>
      </p:sp>
      <p:cxnSp>
        <p:nvCxnSpPr>
          <p:cNvPr id="22" name="Rule-7"/>
          <p:cNvCxnSpPr/>
          <p:nvPr/>
        </p:nvCxnSpPr>
        <p:spPr>
          <a:xfrm xmlns:a="http://schemas.openxmlformats.org/drawingml/2006/main">
            <a:off x="1619250" y="5381625"/>
            <a:ext cx="7524750" cy="95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1F5EFF"/>
            </a:solidFill>
            <a:prstDash val="solid"/>
          </a:ln>
        </p:spPr>
      </p:cxnSp>
      <p:sp>
        <p:nvSpPr>
          <p:cNvPr id="9" name="Shape-8">
            <a:extLst xmlns:a="http://schemas.openxmlformats.org/drawingml/2006/main">
              <a:ext uri="{FF2B5EF4-FFF2-40B4-BE49-F238E27FC236}">
                <a16:creationId xmlns:a16="http://schemas.microsoft.com/office/drawing/2014/main" id="{23839292-2AB7-4F5A-ABC6-83144807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3244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5EFF"/>
          </a:solidFill>
        </p:spPr>
      </p:sp>
      <p:sp>
        <p:nvSpPr>
          <p:cNvPr id="10" name="Shape-9">
            <a:extLst xmlns:a="http://schemas.openxmlformats.org/drawingml/2006/main">
              <a:ext uri="{FF2B5EF4-FFF2-40B4-BE49-F238E27FC236}">
                <a16:creationId xmlns:a16="http://schemas.microsoft.com/office/drawing/2014/main" id="{33EB53F3-0018-4EE9-BE08-FECB05AF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3244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5EFF"/>
          </a:solidFill>
        </p:spPr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0AD20A87-C0B4-4FB0-9847-8FA74C85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25780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TRUSTED STATE</a:t>
            </a:r>
          </a:p>
        </p:txBody>
      </p:sp>
      <p:cxnSp>
        <p:nvCxnSpPr>
          <p:cNvPr id="26" name="Rule-11"/>
          <p:cNvCxnSpPr/>
          <p:nvPr/>
        </p:nvCxnSpPr>
        <p:spPr>
          <a:xfrm xmlns:a="http://schemas.openxmlformats.org/drawingml/2006/main">
            <a:off x="457200" y="62198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A764EEA8-2272-4C9B-9D5B-D0ED4739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00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docs/lessons/cah-004-protocol-v1.md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8DCB75E0-51E6-47A2-9F50-5CFCC94D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90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510405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hape-53">
            <a:extLst xmlns:a="http://schemas.openxmlformats.org/drawingml/2006/main">
              <a:ext uri="{FF2B5EF4-FFF2-40B4-BE49-F238E27FC236}">
                <a16:creationId xmlns:a16="http://schemas.microsoft.com/office/drawing/2014/main" id="{C1B378E8-8E64-463D-9CFE-56F9F1DF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Text-15">
            <a:extLst xmlns:a="http://schemas.openxmlformats.org/drawingml/2006/main">
              <a:ext uri="{FF2B5EF4-FFF2-40B4-BE49-F238E27FC236}">
                <a16:creationId xmlns:a16="http://schemas.microsoft.com/office/drawing/2014/main" id="{E71383F2-D8D6-4226-A4CC-5BE8E83C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12776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A pipe carries bytes, not meaning</a:t>
            </a:r>
          </a:p>
        </p:txBody>
      </p:sp>
      <p:sp>
        <p:nvSpPr>
          <p:cNvPr id="3" name="Text-16">
            <a:extLst xmlns:a="http://schemas.openxmlformats.org/drawingml/2006/main">
              <a:ext uri="{FF2B5EF4-FFF2-40B4-BE49-F238E27FC236}">
                <a16:creationId xmlns:a16="http://schemas.microsoft.com/office/drawing/2014/main" id="{ACEB42D5-6945-4CF6-B903-21364520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0125"/>
            <a:ext cx="10668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Static types stop at the process boundary. Runtime validation is where trust begins.</a:t>
            </a:r>
          </a:p>
        </p:txBody>
      </p:sp>
      <p:sp>
        <p:nvSpPr>
          <p:cNvPr id="4" name="Shape-17">
            <a:extLst xmlns:a="http://schemas.openxmlformats.org/drawingml/2006/main">
              <a:ext uri="{FF2B5EF4-FFF2-40B4-BE49-F238E27FC236}">
                <a16:creationId xmlns:a16="http://schemas.microsoft.com/office/drawing/2014/main" id="{2C467716-284A-4476-BDEE-3A0D7583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66850"/>
            <a:ext cx="310515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</p:spPr>
      </p:sp>
      <p:sp>
        <p:nvSpPr>
          <p:cNvPr id="5" name="Text-18">
            <a:extLst xmlns:a="http://schemas.openxmlformats.org/drawingml/2006/main">
              <a:ext uri="{FF2B5EF4-FFF2-40B4-BE49-F238E27FC236}">
                <a16:creationId xmlns:a16="http://schemas.microsoft.com/office/drawing/2014/main" id="{6B2E603F-D047-4804-B0E7-023CFFD9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600200"/>
            <a:ext cx="2609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UNTRUSTED BYTES</a:t>
            </a:r>
          </a:p>
        </p:txBody>
      </p:sp>
      <p:cxnSp>
        <p:nvCxnSpPr>
          <p:cNvPr id="45" name="Rule-19"/>
          <p:cNvCxnSpPr/>
          <p:nvPr/>
        </p:nvCxnSpPr>
        <p:spPr>
          <a:xfrm xmlns:a="http://schemas.openxmlformats.org/drawingml/2006/main">
            <a:off x="1047750" y="2409825"/>
            <a:ext cx="10048875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5EFF"/>
            </a:solidFill>
            <a:prstDash val="solid"/>
          </a:ln>
        </p:spPr>
      </p:cxnSp>
      <p:cxnSp>
        <p:nvCxnSpPr>
          <p:cNvPr id="46" name="Rule-20"/>
          <p:cNvCxnSpPr/>
          <p:nvPr/>
        </p:nvCxnSpPr>
        <p:spPr>
          <a:xfrm xmlns:a="http://schemas.openxmlformats.org/drawingml/2006/main">
            <a:off x="1047750" y="3857625"/>
            <a:ext cx="10048875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5EFF"/>
            </a:solidFill>
            <a:prstDash val="solid"/>
          </a:ln>
        </p:spPr>
      </p:cxnSp>
      <p:cxnSp>
        <p:nvCxnSpPr>
          <p:cNvPr id="47" name="Rule-21"/>
          <p:cNvCxnSpPr/>
          <p:nvPr/>
        </p:nvCxnSpPr>
        <p:spPr>
          <a:xfrm xmlns:a="http://schemas.openxmlformats.org/drawingml/2006/main">
            <a:off x="1476375" y="4953000"/>
            <a:ext cx="981075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96800"/>
            </a:solidFill>
            <a:prstDash val="dash"/>
          </a:ln>
        </p:spPr>
      </p:cxnSp>
      <p:sp>
        <p:nvSpPr>
          <p:cNvPr id="9" name="Text-22">
            <a:extLst xmlns:a="http://schemas.openxmlformats.org/drawingml/2006/main">
              <a:ext uri="{FF2B5EF4-FFF2-40B4-BE49-F238E27FC236}">
                <a16:creationId xmlns:a16="http://schemas.microsoft.com/office/drawing/2014/main" id="{3F4CC64C-29FD-45ED-8A0B-85FC60C9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190750"/>
            <a:ext cx="361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F5EFF"/>
                </a:solidFill>
                <a:latin typeface="Helvetica Neue"/>
                <a:ea typeface="Helvetica Neue"/>
                <a:cs typeface="Helvetica Neue"/>
              </a:defRPr>
            </a:pPr>
            <a:r>
              <a:t>→</a:t>
            </a:r>
          </a:p>
        </p:txBody>
      </p:sp>
      <p:sp>
        <p:nvSpPr>
          <p:cNvPr id="10" name="Text-23">
            <a:extLst xmlns:a="http://schemas.openxmlformats.org/drawingml/2006/main">
              <a:ext uri="{FF2B5EF4-FFF2-40B4-BE49-F238E27FC236}">
                <a16:creationId xmlns:a16="http://schemas.microsoft.com/office/drawing/2014/main" id="{F7A739C5-5C1C-424D-B23A-8337ACDE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190750"/>
            <a:ext cx="361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F5EFF"/>
                </a:solidFill>
                <a:latin typeface="Helvetica Neue"/>
                <a:ea typeface="Helvetica Neue"/>
                <a:cs typeface="Helvetica Neue"/>
              </a:defRPr>
            </a:pPr>
            <a:r>
              <a:t>→</a:t>
            </a:r>
          </a:p>
        </p:txBody>
      </p:sp>
      <p:sp>
        <p:nvSpPr>
          <p:cNvPr id="11" name="Text-24">
            <a:extLst xmlns:a="http://schemas.openxmlformats.org/drawingml/2006/main">
              <a:ext uri="{FF2B5EF4-FFF2-40B4-BE49-F238E27FC236}">
                <a16:creationId xmlns:a16="http://schemas.microsoft.com/office/drawing/2014/main" id="{812F5741-C544-4454-A939-25D3548C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638550"/>
            <a:ext cx="361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F5EFF"/>
                </a:solidFill>
                <a:latin typeface="Helvetica Neue"/>
                <a:ea typeface="Helvetica Neue"/>
                <a:cs typeface="Helvetica Neue"/>
              </a:defRPr>
            </a:pPr>
            <a:r>
              <a:t>←</a:t>
            </a:r>
          </a:p>
        </p:txBody>
      </p:sp>
      <p:sp>
        <p:nvSpPr>
          <p:cNvPr id="12" name="Text-25">
            <a:extLst xmlns:a="http://schemas.openxmlformats.org/drawingml/2006/main">
              <a:ext uri="{FF2B5EF4-FFF2-40B4-BE49-F238E27FC236}">
                <a16:creationId xmlns:a16="http://schemas.microsoft.com/office/drawing/2014/main" id="{9C4FD446-784C-44F9-A752-B4552237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638550"/>
            <a:ext cx="361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F5EFF"/>
                </a:solidFill>
                <a:latin typeface="Helvetica Neue"/>
                <a:ea typeface="Helvetica Neue"/>
                <a:cs typeface="Helvetica Neue"/>
              </a:defRPr>
            </a:pPr>
            <a:r>
              <a:t>←</a:t>
            </a:r>
          </a:p>
        </p:txBody>
      </p:sp>
      <p:sp>
        <p:nvSpPr>
          <p:cNvPr id="13" name="Shape-26">
            <a:extLst xmlns:a="http://schemas.openxmlformats.org/drawingml/2006/main">
              <a:ext uri="{FF2B5EF4-FFF2-40B4-BE49-F238E27FC236}">
                <a16:creationId xmlns:a16="http://schemas.microsoft.com/office/drawing/2014/main" id="{59B8CA5E-3616-4834-8C9E-AC40FB79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28825"/>
            <a:ext cx="1333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0D12"/>
          </a:solidFill>
        </p:spPr>
      </p:sp>
      <p:sp>
        <p:nvSpPr>
          <p:cNvPr id="14" name="Text-27">
            <a:extLst xmlns:a="http://schemas.openxmlformats.org/drawingml/2006/main">
              <a:ext uri="{FF2B5EF4-FFF2-40B4-BE49-F238E27FC236}">
                <a16:creationId xmlns:a16="http://schemas.microsoft.com/office/drawing/2014/main" id="{49166146-4D61-49B8-8765-9C4437AD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914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TUI</a:t>
            </a:r>
          </a:p>
        </p:txBody>
      </p:sp>
      <p:sp>
        <p:nvSpPr>
          <p:cNvPr id="15" name="Shape-28">
            <a:extLst xmlns:a="http://schemas.openxmlformats.org/drawingml/2006/main">
              <a:ext uri="{FF2B5EF4-FFF2-40B4-BE49-F238E27FC236}">
                <a16:creationId xmlns:a16="http://schemas.microsoft.com/office/drawing/2014/main" id="{3182BB29-31C5-42C0-AC84-5FE1D34F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28825"/>
            <a:ext cx="18097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1F5EFF"/>
            </a:solidFill>
            <a:prstDash val="solid"/>
          </a:ln>
        </p:spPr>
      </p:sp>
      <p:sp>
        <p:nvSpPr>
          <p:cNvPr id="16" name="Text-29">
            <a:extLst xmlns:a="http://schemas.openxmlformats.org/drawingml/2006/main">
              <a:ext uri="{FF2B5EF4-FFF2-40B4-BE49-F238E27FC236}">
                <a16:creationId xmlns:a16="http://schemas.microsoft.com/office/drawing/2014/main" id="{A70FC70F-AAFE-4213-BDEC-C2455425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209800"/>
            <a:ext cx="1466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Zod command</a:t>
            </a:r>
          </a:p>
        </p:txBody>
      </p:sp>
      <p:sp>
        <p:nvSpPr>
          <p:cNvPr id="17" name="Shape-30">
            <a:extLst xmlns:a="http://schemas.openxmlformats.org/drawingml/2006/main">
              <a:ext uri="{FF2B5EF4-FFF2-40B4-BE49-F238E27FC236}">
                <a16:creationId xmlns:a16="http://schemas.microsoft.com/office/drawing/2014/main" id="{90DF8D8B-41AD-491E-9F39-37615BF0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28825"/>
            <a:ext cx="25146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0DA"/>
            </a:solidFill>
            <a:prstDash val="solid"/>
          </a:ln>
        </p:spPr>
      </p:sp>
      <p:sp>
        <p:nvSpPr>
          <p:cNvPr id="18" name="Text-31">
            <a:extLst xmlns:a="http://schemas.openxmlformats.org/drawingml/2006/main">
              <a:ext uri="{FF2B5EF4-FFF2-40B4-BE49-F238E27FC236}">
                <a16:creationId xmlns:a16="http://schemas.microsoft.com/office/drawing/2014/main" id="{1AABF39D-4839-460C-82A2-6822DA70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0980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stdin · NDJSON</a:t>
            </a:r>
          </a:p>
        </p:txBody>
      </p:sp>
      <p:sp>
        <p:nvSpPr>
          <p:cNvPr id="19" name="Shape-32">
            <a:extLst xmlns:a="http://schemas.openxmlformats.org/drawingml/2006/main">
              <a:ext uri="{FF2B5EF4-FFF2-40B4-BE49-F238E27FC236}">
                <a16:creationId xmlns:a16="http://schemas.microsoft.com/office/drawing/2014/main" id="{97F18E8E-179E-4874-BD91-E64E646E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28825"/>
            <a:ext cx="18097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1F5EFF"/>
            </a:solidFill>
            <a:prstDash val="solid"/>
          </a:ln>
        </p:spPr>
      </p:sp>
      <p:sp>
        <p:nvSpPr>
          <p:cNvPr id="20" name="Text-33">
            <a:extLst xmlns:a="http://schemas.openxmlformats.org/drawingml/2006/main">
              <a:ext uri="{FF2B5EF4-FFF2-40B4-BE49-F238E27FC236}">
                <a16:creationId xmlns:a16="http://schemas.microsoft.com/office/drawing/2014/main" id="{8E7A7D48-6833-40AF-A622-F7ECD19D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24075"/>
            <a:ext cx="15049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Pydantic command</a:t>
            </a:r>
          </a:p>
        </p:txBody>
      </p:sp>
      <p:sp>
        <p:nvSpPr>
          <p:cNvPr id="21" name="Shape-34">
            <a:extLst xmlns:a="http://schemas.openxmlformats.org/drawingml/2006/main">
              <a:ext uri="{FF2B5EF4-FFF2-40B4-BE49-F238E27FC236}">
                <a16:creationId xmlns:a16="http://schemas.microsoft.com/office/drawing/2014/main" id="{C4D78F9A-2D87-411D-B22C-FA384F2D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028825"/>
            <a:ext cx="15240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0D12"/>
          </a:solidFill>
        </p:spPr>
      </p:sp>
      <p:sp>
        <p:nvSpPr>
          <p:cNvPr id="22" name="Text-35">
            <a:extLst xmlns:a="http://schemas.openxmlformats.org/drawingml/2006/main">
              <a:ext uri="{FF2B5EF4-FFF2-40B4-BE49-F238E27FC236}">
                <a16:creationId xmlns:a16="http://schemas.microsoft.com/office/drawing/2014/main" id="{11AF5A07-2CDD-48F3-A7D7-3F5D0ABF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247900"/>
            <a:ext cx="12573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PYTHON</a:t>
            </a:r>
          </a:p>
        </p:txBody>
      </p:sp>
      <p:sp>
        <p:nvSpPr>
          <p:cNvPr id="23" name="Shape-36">
            <a:extLst xmlns:a="http://schemas.openxmlformats.org/drawingml/2006/main">
              <a:ext uri="{FF2B5EF4-FFF2-40B4-BE49-F238E27FC236}">
                <a16:creationId xmlns:a16="http://schemas.microsoft.com/office/drawing/2014/main" id="{15BE599D-B953-4E65-8A6F-F56BDD0F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6625"/>
            <a:ext cx="1333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0D12"/>
          </a:solidFill>
        </p:spPr>
      </p:sp>
      <p:sp>
        <p:nvSpPr>
          <p:cNvPr id="24" name="Text-37">
            <a:extLst xmlns:a="http://schemas.openxmlformats.org/drawingml/2006/main">
              <a:ext uri="{FF2B5EF4-FFF2-40B4-BE49-F238E27FC236}">
                <a16:creationId xmlns:a16="http://schemas.microsoft.com/office/drawing/2014/main" id="{C627A817-8D8C-4415-ADA8-B54E1AE9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676650"/>
            <a:ext cx="1085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TUI STATE</a:t>
            </a:r>
          </a:p>
        </p:txBody>
      </p:sp>
      <p:sp>
        <p:nvSpPr>
          <p:cNvPr id="25" name="Shape-38">
            <a:extLst xmlns:a="http://schemas.openxmlformats.org/drawingml/2006/main">
              <a:ext uri="{FF2B5EF4-FFF2-40B4-BE49-F238E27FC236}">
                <a16:creationId xmlns:a16="http://schemas.microsoft.com/office/drawing/2014/main" id="{6EA31E70-6CF9-435D-84A3-639A8963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476625"/>
            <a:ext cx="18097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1F5EFF"/>
            </a:solidFill>
            <a:prstDash val="solid"/>
          </a:ln>
        </p:spPr>
      </p:sp>
      <p:sp>
        <p:nvSpPr>
          <p:cNvPr id="26" name="Text-39">
            <a:extLst xmlns:a="http://schemas.openxmlformats.org/drawingml/2006/main">
              <a:ext uri="{FF2B5EF4-FFF2-40B4-BE49-F238E27FC236}">
                <a16:creationId xmlns:a16="http://schemas.microsoft.com/office/drawing/2014/main" id="{A4ADF8FF-F787-48EC-8881-8651FE37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67125"/>
            <a:ext cx="1428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Zod event</a:t>
            </a:r>
          </a:p>
        </p:txBody>
      </p:sp>
      <p:sp>
        <p:nvSpPr>
          <p:cNvPr id="27" name="Shape-40">
            <a:extLst xmlns:a="http://schemas.openxmlformats.org/drawingml/2006/main">
              <a:ext uri="{FF2B5EF4-FFF2-40B4-BE49-F238E27FC236}">
                <a16:creationId xmlns:a16="http://schemas.microsoft.com/office/drawing/2014/main" id="{48A4D548-1B0A-4B91-9F53-391574CD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76625"/>
            <a:ext cx="25146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0DA"/>
            </a:solidFill>
            <a:prstDash val="solid"/>
          </a:ln>
        </p:spPr>
      </p:sp>
      <p:sp>
        <p:nvSpPr>
          <p:cNvPr id="28" name="Text-41">
            <a:extLst xmlns:a="http://schemas.openxmlformats.org/drawingml/2006/main">
              <a:ext uri="{FF2B5EF4-FFF2-40B4-BE49-F238E27FC236}">
                <a16:creationId xmlns:a16="http://schemas.microsoft.com/office/drawing/2014/main" id="{7BCA7409-F59B-48FC-A436-87E6EAE2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67125"/>
            <a:ext cx="22479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stdout · NDJSON</a:t>
            </a:r>
          </a:p>
        </p:txBody>
      </p:sp>
      <p:sp>
        <p:nvSpPr>
          <p:cNvPr id="29" name="Shape-42">
            <a:extLst xmlns:a="http://schemas.openxmlformats.org/drawingml/2006/main">
              <a:ext uri="{FF2B5EF4-FFF2-40B4-BE49-F238E27FC236}">
                <a16:creationId xmlns:a16="http://schemas.microsoft.com/office/drawing/2014/main" id="{BF9FD25D-DB9D-4384-88F2-44DC6E93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00425"/>
            <a:ext cx="20193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1F5EFF"/>
            </a:solidFill>
            <a:prstDash val="solid"/>
          </a:ln>
        </p:spPr>
      </p:sp>
      <p:sp>
        <p:nvSpPr>
          <p:cNvPr id="30" name="Text-43">
            <a:extLst xmlns:a="http://schemas.openxmlformats.org/drawingml/2006/main">
              <a:ext uri="{FF2B5EF4-FFF2-40B4-BE49-F238E27FC236}">
                <a16:creationId xmlns:a16="http://schemas.microsoft.com/office/drawing/2014/main" id="{B94F29A9-4AF7-424D-9DA8-8CF5C80D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67100"/>
            <a:ext cx="17145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ordered
Pydantic
event</a:t>
            </a:r>
          </a:p>
        </p:txBody>
      </p:sp>
      <p:sp>
        <p:nvSpPr>
          <p:cNvPr id="31" name="Shape-44">
            <a:extLst xmlns:a="http://schemas.openxmlformats.org/drawingml/2006/main">
              <a:ext uri="{FF2B5EF4-FFF2-40B4-BE49-F238E27FC236}">
                <a16:creationId xmlns:a16="http://schemas.microsoft.com/office/drawing/2014/main" id="{253245D2-C548-434A-BDB9-F80A1087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476625"/>
            <a:ext cx="15240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0D12"/>
          </a:solidFill>
        </p:spPr>
      </p:sp>
      <p:sp>
        <p:nvSpPr>
          <p:cNvPr id="32" name="Text-45">
            <a:extLst xmlns:a="http://schemas.openxmlformats.org/drawingml/2006/main">
              <a:ext uri="{FF2B5EF4-FFF2-40B4-BE49-F238E27FC236}">
                <a16:creationId xmlns:a16="http://schemas.microsoft.com/office/drawing/2014/main" id="{2C65F003-5527-4CD5-9741-AC30D1E9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695700"/>
            <a:ext cx="12573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PYTHON</a:t>
            </a:r>
          </a:p>
        </p:txBody>
      </p:sp>
      <p:sp>
        <p:nvSpPr>
          <p:cNvPr id="33" name="Shape-46">
            <a:extLst xmlns:a="http://schemas.openxmlformats.org/drawingml/2006/main">
              <a:ext uri="{FF2B5EF4-FFF2-40B4-BE49-F238E27FC236}">
                <a16:creationId xmlns:a16="http://schemas.microsoft.com/office/drawing/2014/main" id="{589BFFB6-B354-4824-B9BD-4F7C6588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35814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2D8"/>
          </a:solidFill>
        </p:spPr>
      </p:sp>
      <p:sp>
        <p:nvSpPr>
          <p:cNvPr id="34" name="Text-47">
            <a:extLst xmlns:a="http://schemas.openxmlformats.org/drawingml/2006/main">
              <a:ext uri="{FF2B5EF4-FFF2-40B4-BE49-F238E27FC236}">
                <a16:creationId xmlns:a16="http://schemas.microsoft.com/office/drawing/2014/main" id="{440376AA-27BA-4BEB-9585-53160B8F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848225"/>
            <a:ext cx="3352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96800"/>
                </a:solidFill>
                <a:latin typeface="Courier New"/>
                <a:ea typeface="Courier New"/>
                <a:cs typeface="Courier New"/>
              </a:defRPr>
            </a:pPr>
            <a:r>
              <a:t>stderr · diagnostics only</a:t>
            </a:r>
          </a:p>
        </p:txBody>
      </p:sp>
      <p:sp>
        <p:nvSpPr>
          <p:cNvPr id="35" name="Text-48">
            <a:extLst xmlns:a="http://schemas.openxmlformats.org/drawingml/2006/main">
              <a:ext uri="{FF2B5EF4-FFF2-40B4-BE49-F238E27FC236}">
                <a16:creationId xmlns:a16="http://schemas.microsoft.com/office/drawing/2014/main" id="{B5E9B582-D5FB-4FF1-8ED4-79CE0351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TypeScript cannot trust stdout</a:t>
            </a:r>
          </a:p>
        </p:txBody>
      </p:sp>
      <p:sp>
        <p:nvSpPr>
          <p:cNvPr id="36" name="Text-49">
            <a:extLst xmlns:a="http://schemas.openxmlformats.org/drawingml/2006/main">
              <a:ext uri="{FF2B5EF4-FFF2-40B4-BE49-F238E27FC236}">
                <a16:creationId xmlns:a16="http://schemas.microsoft.com/office/drawing/2014/main" id="{5C38561D-94C9-42EA-8F71-9C10313A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429250"/>
            <a:ext cx="361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Python cannot trust stdin</a:t>
            </a:r>
          </a:p>
        </p:txBody>
      </p:sp>
      <p:cxnSp>
        <p:nvCxnSpPr>
          <p:cNvPr id="76" name="Rule-50"/>
          <p:cNvCxnSpPr/>
          <p:nvPr/>
        </p:nvCxnSpPr>
        <p:spPr>
          <a:xfrm xmlns:a="http://schemas.openxmlformats.org/drawingml/2006/main">
            <a:off x="457200" y="62198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38" name="Text-51">
            <a:extLst xmlns:a="http://schemas.openxmlformats.org/drawingml/2006/main">
              <a:ext uri="{FF2B5EF4-FFF2-40B4-BE49-F238E27FC236}">
                <a16:creationId xmlns:a16="http://schemas.microsoft.com/office/drawing/2014/main" id="{2A211AFD-875B-4F59-88F8-C9A2AC78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00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tui/src/protocol.ts · models.py · codec.py · streams.py</a:t>
            </a:r>
          </a:p>
        </p:txBody>
      </p:sp>
      <p:sp>
        <p:nvSpPr>
          <p:cNvPr id="39" name="Text-52">
            <a:extLst xmlns:a="http://schemas.openxmlformats.org/drawingml/2006/main">
              <a:ext uri="{FF2B5EF4-FFF2-40B4-BE49-F238E27FC236}">
                <a16:creationId xmlns:a16="http://schemas.microsoft.com/office/drawing/2014/main" id="{F32CAD0A-70D1-4044-836F-A29BA683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90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9958555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hape-101">
            <a:extLst xmlns:a="http://schemas.openxmlformats.org/drawingml/2006/main">
              <a:ext uri="{FF2B5EF4-FFF2-40B4-BE49-F238E27FC236}">
                <a16:creationId xmlns:a16="http://schemas.microsoft.com/office/drawing/2014/main" id="{7A29DA51-8CE9-405A-9790-E768D686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Text-54">
            <a:extLst xmlns:a="http://schemas.openxmlformats.org/drawingml/2006/main">
              <a:ext uri="{FF2B5EF4-FFF2-40B4-BE49-F238E27FC236}">
                <a16:creationId xmlns:a16="http://schemas.microsoft.com/office/drawing/2014/main" id="{FE61B1D3-5394-4B02-A555-0A8966AA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12776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Framing finds the message; schemas establish trust</a:t>
            </a:r>
          </a:p>
        </p:txBody>
      </p:sp>
      <p:sp>
        <p:nvSpPr>
          <p:cNvPr id="3" name="Shape-55">
            <a:extLst xmlns:a="http://schemas.openxmlformats.org/drawingml/2006/main">
              <a:ext uri="{FF2B5EF4-FFF2-40B4-BE49-F238E27FC236}">
                <a16:creationId xmlns:a16="http://schemas.microsoft.com/office/drawing/2014/main" id="{2A545D26-A759-4576-BE69-39B6B756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43000"/>
            <a:ext cx="2095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4" name="Text-56">
            <a:extLst xmlns:a="http://schemas.openxmlformats.org/drawingml/2006/main">
              <a:ext uri="{FF2B5EF4-FFF2-40B4-BE49-F238E27FC236}">
                <a16:creationId xmlns:a16="http://schemas.microsoft.com/office/drawing/2014/main" id="{F7C4E396-0F11-4524-BFD7-7263F825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19200"/>
            <a:ext cx="1866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one JSON object</a:t>
            </a:r>
          </a:p>
        </p:txBody>
      </p:sp>
      <p:sp>
        <p:nvSpPr>
          <p:cNvPr id="5" name="Shape-57">
            <a:extLst xmlns:a="http://schemas.openxmlformats.org/drawingml/2006/main">
              <a:ext uri="{FF2B5EF4-FFF2-40B4-BE49-F238E27FC236}">
                <a16:creationId xmlns:a16="http://schemas.microsoft.com/office/drawing/2014/main" id="{B2A57F4A-E833-492C-B9F8-209F8E15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143000"/>
            <a:ext cx="2095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6" name="Text-58">
            <a:extLst xmlns:a="http://schemas.openxmlformats.org/drawingml/2006/main">
              <a:ext uri="{FF2B5EF4-FFF2-40B4-BE49-F238E27FC236}">
                <a16:creationId xmlns:a16="http://schemas.microsoft.com/office/drawing/2014/main" id="{D5A96F78-460A-4B55-88FA-460C58C6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219200"/>
            <a:ext cx="1866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one LF terminator</a:t>
            </a:r>
          </a:p>
        </p:txBody>
      </p:sp>
      <p:sp>
        <p:nvSpPr>
          <p:cNvPr id="7" name="Shape-59">
            <a:extLst xmlns:a="http://schemas.openxmlformats.org/drawingml/2006/main">
              <a:ext uri="{FF2B5EF4-FFF2-40B4-BE49-F238E27FC236}">
                <a16:creationId xmlns:a16="http://schemas.microsoft.com/office/drawing/2014/main" id="{E3D337FA-698F-4D87-8113-21D0F502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143000"/>
            <a:ext cx="3143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8" name="Text-60">
            <a:extLst xmlns:a="http://schemas.openxmlformats.org/drawingml/2006/main">
              <a:ext uri="{FF2B5EF4-FFF2-40B4-BE49-F238E27FC236}">
                <a16:creationId xmlns:a16="http://schemas.microsoft.com/office/drawing/2014/main" id="{75798BAF-C1FB-4F39-A9CA-25ACBFD5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219200"/>
            <a:ext cx="2914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&gt;64 KiB → line_too_long</a:t>
            </a:r>
          </a:p>
        </p:txBody>
      </p:sp>
      <p:sp>
        <p:nvSpPr>
          <p:cNvPr id="9" name="Shape-61">
            <a:extLst xmlns:a="http://schemas.openxmlformats.org/drawingml/2006/main">
              <a:ext uri="{FF2B5EF4-FFF2-40B4-BE49-F238E27FC236}">
                <a16:creationId xmlns:a16="http://schemas.microsoft.com/office/drawing/2014/main" id="{886A5A6B-825A-4493-BA9F-615FD095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143000"/>
            <a:ext cx="21907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10" name="Text-62">
            <a:extLst xmlns:a="http://schemas.openxmlformats.org/drawingml/2006/main">
              <a:ext uri="{FF2B5EF4-FFF2-40B4-BE49-F238E27FC236}">
                <a16:creationId xmlns:a16="http://schemas.microsoft.com/office/drawing/2014/main" id="{2F39C13E-D7B4-4BBF-9320-33E6E563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219200"/>
            <a:ext cx="19621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UTF-8 only</a:t>
            </a:r>
          </a:p>
        </p:txBody>
      </p:sp>
      <p:cxnSp>
        <p:nvCxnSpPr>
          <p:cNvPr id="59" name="Rule-63"/>
          <p:cNvCxnSpPr/>
          <p:nvPr/>
        </p:nvCxnSpPr>
        <p:spPr>
          <a:xfrm xmlns:a="http://schemas.openxmlformats.org/drawingml/2006/main">
            <a:off x="819150" y="2838450"/>
            <a:ext cx="1043940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D0DA"/>
            </a:solidFill>
            <a:prstDash val="solid"/>
          </a:ln>
        </p:spPr>
      </p:cxnSp>
      <p:sp>
        <p:nvSpPr>
          <p:cNvPr id="12" name="Shape-64">
            <a:extLst xmlns:a="http://schemas.openxmlformats.org/drawingml/2006/main">
              <a:ext uri="{FF2B5EF4-FFF2-40B4-BE49-F238E27FC236}">
                <a16:creationId xmlns:a16="http://schemas.microsoft.com/office/drawing/2014/main" id="{79ED5773-8A2B-4EE4-A4E3-3B2CA817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43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2"/>
          </a:solidFill>
        </p:spPr>
      </p:sp>
      <p:sp>
        <p:nvSpPr>
          <p:cNvPr id="13" name="Text-65">
            <a:extLst xmlns:a="http://schemas.openxmlformats.org/drawingml/2006/main">
              <a:ext uri="{FF2B5EF4-FFF2-40B4-BE49-F238E27FC236}">
                <a16:creationId xmlns:a16="http://schemas.microsoft.com/office/drawing/2014/main" id="{C2284D58-E43A-4624-9F76-021CF9EB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EFF"/>
                </a:solidFill>
                <a:latin typeface="Courier New"/>
                <a:ea typeface="Courier New"/>
                <a:cs typeface="Courier New"/>
              </a:defRPr>
            </a:pPr>
            <a:r>
              <a:t>01</a:t>
            </a:r>
          </a:p>
        </p:txBody>
      </p:sp>
      <p:sp>
        <p:nvSpPr>
          <p:cNvPr id="14" name="Text-66">
            <a:extLst xmlns:a="http://schemas.openxmlformats.org/drawingml/2006/main">
              <a:ext uri="{FF2B5EF4-FFF2-40B4-BE49-F238E27FC236}">
                <a16:creationId xmlns:a16="http://schemas.microsoft.com/office/drawing/2014/main" id="{4D6C801A-D7AA-469A-BAE5-88C639E5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LF frame</a:t>
            </a:r>
          </a:p>
        </p:txBody>
      </p:sp>
      <p:sp>
        <p:nvSpPr>
          <p:cNvPr id="15" name="Shape-67">
            <a:extLst xmlns:a="http://schemas.openxmlformats.org/drawingml/2006/main">
              <a:ext uri="{FF2B5EF4-FFF2-40B4-BE49-F238E27FC236}">
                <a16:creationId xmlns:a16="http://schemas.microsoft.com/office/drawing/2014/main" id="{3AB11B23-2D6B-4300-9660-13A187B8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24200"/>
            <a:ext cx="1714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DEBE9"/>
          </a:solidFill>
        </p:spPr>
      </p:sp>
      <p:sp>
        <p:nvSpPr>
          <p:cNvPr id="16" name="Text-68">
            <a:extLst xmlns:a="http://schemas.openxmlformats.org/drawingml/2006/main">
              <a:ext uri="{FF2B5EF4-FFF2-40B4-BE49-F238E27FC236}">
                <a16:creationId xmlns:a16="http://schemas.microsoft.com/office/drawing/2014/main" id="{D0EBA2C7-615D-41CE-8E9E-720817C6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0040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invalid_
framing</a:t>
            </a:r>
          </a:p>
        </p:txBody>
      </p:sp>
      <p:sp>
        <p:nvSpPr>
          <p:cNvPr id="17" name="Shape-69">
            <a:extLst xmlns:a="http://schemas.openxmlformats.org/drawingml/2006/main">
              <a:ext uri="{FF2B5EF4-FFF2-40B4-BE49-F238E27FC236}">
                <a16:creationId xmlns:a16="http://schemas.microsoft.com/office/drawing/2014/main" id="{C4EC9C7B-2646-432C-9EAC-460C385A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743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2"/>
          </a:solidFill>
        </p:spPr>
      </p:sp>
      <p:sp>
        <p:nvSpPr>
          <p:cNvPr id="18" name="Text-70">
            <a:extLst xmlns:a="http://schemas.openxmlformats.org/drawingml/2006/main">
              <a:ext uri="{FF2B5EF4-FFF2-40B4-BE49-F238E27FC236}">
                <a16:creationId xmlns:a16="http://schemas.microsoft.com/office/drawing/2014/main" id="{C138ECCF-3341-4FFA-A981-4E61F585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000250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EFF"/>
                </a:solidFill>
                <a:latin typeface="Courier New"/>
                <a:ea typeface="Courier New"/>
                <a:cs typeface="Courier New"/>
              </a:defRPr>
            </a:pPr>
            <a:r>
              <a:t>02</a:t>
            </a:r>
          </a:p>
        </p:txBody>
      </p:sp>
      <p:sp>
        <p:nvSpPr>
          <p:cNvPr id="19" name="Text-71">
            <a:extLst xmlns:a="http://schemas.openxmlformats.org/drawingml/2006/main">
              <a:ext uri="{FF2B5EF4-FFF2-40B4-BE49-F238E27FC236}">
                <a16:creationId xmlns:a16="http://schemas.microsoft.com/office/drawing/2014/main" id="{C3BAEF76-40E1-4F65-A762-12F203D4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32410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UTF-8</a:t>
            </a:r>
          </a:p>
        </p:txBody>
      </p:sp>
      <p:sp>
        <p:nvSpPr>
          <p:cNvPr id="20" name="Shape-72">
            <a:extLst xmlns:a="http://schemas.openxmlformats.org/drawingml/2006/main">
              <a:ext uri="{FF2B5EF4-FFF2-40B4-BE49-F238E27FC236}">
                <a16:creationId xmlns:a16="http://schemas.microsoft.com/office/drawing/2014/main" id="{B190DC2E-D854-4069-8F8D-0EB40F0C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24200"/>
            <a:ext cx="1714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DEBE9"/>
          </a:solidFill>
        </p:spPr>
      </p:sp>
      <p:sp>
        <p:nvSpPr>
          <p:cNvPr id="21" name="Text-73">
            <a:extLst xmlns:a="http://schemas.openxmlformats.org/drawingml/2006/main">
              <a:ext uri="{FF2B5EF4-FFF2-40B4-BE49-F238E27FC236}">
                <a16:creationId xmlns:a16="http://schemas.microsoft.com/office/drawing/2014/main" id="{479623D9-1109-44DB-8D17-957295B4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0040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invalid_utf8</a:t>
            </a:r>
          </a:p>
        </p:txBody>
      </p:sp>
      <p:sp>
        <p:nvSpPr>
          <p:cNvPr id="22" name="Shape-74">
            <a:extLst xmlns:a="http://schemas.openxmlformats.org/drawingml/2006/main">
              <a:ext uri="{FF2B5EF4-FFF2-40B4-BE49-F238E27FC236}">
                <a16:creationId xmlns:a16="http://schemas.microsoft.com/office/drawing/2014/main" id="{0A4C023A-9613-4B78-93DE-CC7C0FD2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43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2"/>
          </a:solidFill>
        </p:spPr>
      </p:sp>
      <p:sp>
        <p:nvSpPr>
          <p:cNvPr id="23" name="Text-75">
            <a:extLst xmlns:a="http://schemas.openxmlformats.org/drawingml/2006/main">
              <a:ext uri="{FF2B5EF4-FFF2-40B4-BE49-F238E27FC236}">
                <a16:creationId xmlns:a16="http://schemas.microsoft.com/office/drawing/2014/main" id="{E3B6AB3A-72A5-4BFA-904F-86AF2BBF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0250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EFF"/>
                </a:solidFill>
                <a:latin typeface="Courier New"/>
                <a:ea typeface="Courier New"/>
                <a:cs typeface="Courier New"/>
              </a:defRPr>
            </a:pPr>
            <a:r>
              <a:t>03</a:t>
            </a:r>
          </a:p>
        </p:txBody>
      </p:sp>
      <p:sp>
        <p:nvSpPr>
          <p:cNvPr id="24" name="Text-76">
            <a:extLst xmlns:a="http://schemas.openxmlformats.org/drawingml/2006/main">
              <a:ext uri="{FF2B5EF4-FFF2-40B4-BE49-F238E27FC236}">
                <a16:creationId xmlns:a16="http://schemas.microsoft.com/office/drawing/2014/main" id="{E8DE0D20-218C-4C22-9880-85678467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2410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JSON object</a:t>
            </a:r>
          </a:p>
        </p:txBody>
      </p:sp>
      <p:sp>
        <p:nvSpPr>
          <p:cNvPr id="25" name="Shape-77">
            <a:extLst xmlns:a="http://schemas.openxmlformats.org/drawingml/2006/main">
              <a:ext uri="{FF2B5EF4-FFF2-40B4-BE49-F238E27FC236}">
                <a16:creationId xmlns:a16="http://schemas.microsoft.com/office/drawing/2014/main" id="{187618DA-8E3F-4CF1-8600-EEF5F24E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124200"/>
            <a:ext cx="1714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DEBE9"/>
          </a:solidFill>
        </p:spPr>
      </p:sp>
      <p:sp>
        <p:nvSpPr>
          <p:cNvPr id="26" name="Text-78">
            <a:extLst xmlns:a="http://schemas.openxmlformats.org/drawingml/2006/main">
              <a:ext uri="{FF2B5EF4-FFF2-40B4-BE49-F238E27FC236}">
                <a16:creationId xmlns:a16="http://schemas.microsoft.com/office/drawing/2014/main" id="{ACADED79-711F-4C57-AE77-49FB0F0B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0040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malformed_
json</a:t>
            </a:r>
          </a:p>
        </p:txBody>
      </p:sp>
      <p:sp>
        <p:nvSpPr>
          <p:cNvPr id="27" name="Shape-79">
            <a:extLst xmlns:a="http://schemas.openxmlformats.org/drawingml/2006/main">
              <a:ext uri="{FF2B5EF4-FFF2-40B4-BE49-F238E27FC236}">
                <a16:creationId xmlns:a16="http://schemas.microsoft.com/office/drawing/2014/main" id="{F914FDC4-8359-4EAE-85A0-F71271BE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743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2"/>
          </a:solidFill>
        </p:spPr>
      </p:sp>
      <p:sp>
        <p:nvSpPr>
          <p:cNvPr id="28" name="Text-80">
            <a:extLst xmlns:a="http://schemas.openxmlformats.org/drawingml/2006/main">
              <a:ext uri="{FF2B5EF4-FFF2-40B4-BE49-F238E27FC236}">
                <a16:creationId xmlns:a16="http://schemas.microsoft.com/office/drawing/2014/main" id="{784514C2-0510-44EF-964C-B08F1C48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000250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EFF"/>
                </a:solidFill>
                <a:latin typeface="Courier New"/>
                <a:ea typeface="Courier New"/>
                <a:cs typeface="Courier New"/>
              </a:defRPr>
            </a:pPr>
            <a:r>
              <a:t>04</a:t>
            </a:r>
          </a:p>
        </p:txBody>
      </p:sp>
      <p:sp>
        <p:nvSpPr>
          <p:cNvPr id="29" name="Text-81">
            <a:extLst xmlns:a="http://schemas.openxmlformats.org/drawingml/2006/main">
              <a:ext uri="{FF2B5EF4-FFF2-40B4-BE49-F238E27FC236}">
                <a16:creationId xmlns:a16="http://schemas.microsoft.com/office/drawing/2014/main" id="{DD6E7A0C-A648-4C62-B638-A185EBFE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32410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v1 envelope</a:t>
            </a:r>
          </a:p>
        </p:txBody>
      </p:sp>
      <p:sp>
        <p:nvSpPr>
          <p:cNvPr id="30" name="Shape-82">
            <a:extLst xmlns:a="http://schemas.openxmlformats.org/drawingml/2006/main">
              <a:ext uri="{FF2B5EF4-FFF2-40B4-BE49-F238E27FC236}">
                <a16:creationId xmlns:a16="http://schemas.microsoft.com/office/drawing/2014/main" id="{464735E9-118B-4844-9AFF-79D42FD1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124200"/>
            <a:ext cx="1714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DEBE9"/>
          </a:solidFill>
        </p:spPr>
      </p:sp>
      <p:sp>
        <p:nvSpPr>
          <p:cNvPr id="31" name="Text-83">
            <a:extLst xmlns:a="http://schemas.openxmlformats.org/drawingml/2006/main">
              <a:ext uri="{FF2B5EF4-FFF2-40B4-BE49-F238E27FC236}">
                <a16:creationId xmlns:a16="http://schemas.microsoft.com/office/drawing/2014/main" id="{BD200E21-FF08-44AD-A043-2075B406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20040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malformed_
envelope</a:t>
            </a:r>
          </a:p>
        </p:txBody>
      </p:sp>
      <p:sp>
        <p:nvSpPr>
          <p:cNvPr id="32" name="Shape-84">
            <a:extLst xmlns:a="http://schemas.openxmlformats.org/drawingml/2006/main">
              <a:ext uri="{FF2B5EF4-FFF2-40B4-BE49-F238E27FC236}">
                <a16:creationId xmlns:a16="http://schemas.microsoft.com/office/drawing/2014/main" id="{48F0F66B-CD8D-40D7-A8C9-2A67515F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43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0D12"/>
          </a:solidFill>
        </p:spPr>
      </p:sp>
      <p:sp>
        <p:nvSpPr>
          <p:cNvPr id="33" name="Text-85">
            <a:extLst xmlns:a="http://schemas.openxmlformats.org/drawingml/2006/main">
              <a:ext uri="{FF2B5EF4-FFF2-40B4-BE49-F238E27FC236}">
                <a16:creationId xmlns:a16="http://schemas.microsoft.com/office/drawing/2014/main" id="{82D466E6-2E90-42D9-BE77-BECFB02A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00250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EFF"/>
                </a:solidFill>
                <a:latin typeface="Courier New"/>
                <a:ea typeface="Courier New"/>
                <a:cs typeface="Courier New"/>
              </a:defRPr>
            </a:pPr>
            <a:r>
              <a:t>05</a:t>
            </a:r>
          </a:p>
        </p:txBody>
      </p:sp>
      <p:sp>
        <p:nvSpPr>
          <p:cNvPr id="34" name="Text-86">
            <a:extLst xmlns:a="http://schemas.openxmlformats.org/drawingml/2006/main">
              <a:ext uri="{FF2B5EF4-FFF2-40B4-BE49-F238E27FC236}">
                <a16:creationId xmlns:a16="http://schemas.microsoft.com/office/drawing/2014/main" id="{5A365536-0330-4A31-8E4C-BE641418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2410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known type</a:t>
            </a:r>
          </a:p>
        </p:txBody>
      </p:sp>
      <p:sp>
        <p:nvSpPr>
          <p:cNvPr id="35" name="Shape-87">
            <a:extLst xmlns:a="http://schemas.openxmlformats.org/drawingml/2006/main">
              <a:ext uri="{FF2B5EF4-FFF2-40B4-BE49-F238E27FC236}">
                <a16:creationId xmlns:a16="http://schemas.microsoft.com/office/drawing/2014/main" id="{78A58E95-E7EF-4ED8-8680-F91E9532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24200"/>
            <a:ext cx="1714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DEBE9"/>
          </a:solidFill>
        </p:spPr>
      </p:sp>
      <p:sp>
        <p:nvSpPr>
          <p:cNvPr id="36" name="Text-88">
            <a:extLst xmlns:a="http://schemas.openxmlformats.org/drawingml/2006/main">
              <a:ext uri="{FF2B5EF4-FFF2-40B4-BE49-F238E27FC236}">
                <a16:creationId xmlns:a16="http://schemas.microsoft.com/office/drawing/2014/main" id="{857059A6-4576-4188-A3E3-4E6E5523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0040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unknown_type</a:t>
            </a:r>
          </a:p>
        </p:txBody>
      </p:sp>
      <p:sp>
        <p:nvSpPr>
          <p:cNvPr id="37" name="Shape-89">
            <a:extLst xmlns:a="http://schemas.openxmlformats.org/drawingml/2006/main">
              <a:ext uri="{FF2B5EF4-FFF2-40B4-BE49-F238E27FC236}">
                <a16:creationId xmlns:a16="http://schemas.microsoft.com/office/drawing/2014/main" id="{06BD884E-1492-4319-9700-A9A9AFF3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1825" y="2743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5EFF"/>
          </a:solidFill>
        </p:spPr>
      </p:sp>
      <p:sp>
        <p:nvSpPr>
          <p:cNvPr id="38" name="Text-90">
            <a:extLst xmlns:a="http://schemas.openxmlformats.org/drawingml/2006/main">
              <a:ext uri="{FF2B5EF4-FFF2-40B4-BE49-F238E27FC236}">
                <a16:creationId xmlns:a16="http://schemas.microsoft.com/office/drawing/2014/main" id="{C08F1377-1FCB-41D1-90E0-7989CF74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2000250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EFF"/>
                </a:solidFill>
                <a:latin typeface="Courier New"/>
                <a:ea typeface="Courier New"/>
                <a:cs typeface="Courier New"/>
              </a:defRPr>
            </a:pPr>
            <a:r>
              <a:t>06</a:t>
            </a:r>
          </a:p>
        </p:txBody>
      </p:sp>
      <p:sp>
        <p:nvSpPr>
          <p:cNvPr id="39" name="Text-91">
            <a:extLst xmlns:a="http://schemas.openxmlformats.org/drawingml/2006/main">
              <a:ext uri="{FF2B5EF4-FFF2-40B4-BE49-F238E27FC236}">
                <a16:creationId xmlns:a16="http://schemas.microsoft.com/office/drawing/2014/main" id="{1B91CC09-6FE0-4551-867B-57E54514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2324100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strict payload</a:t>
            </a:r>
          </a:p>
        </p:txBody>
      </p:sp>
      <p:sp>
        <p:nvSpPr>
          <p:cNvPr id="40" name="Shape-92">
            <a:extLst xmlns:a="http://schemas.openxmlformats.org/drawingml/2006/main">
              <a:ext uri="{FF2B5EF4-FFF2-40B4-BE49-F238E27FC236}">
                <a16:creationId xmlns:a16="http://schemas.microsoft.com/office/drawing/2014/main" id="{0C1717DB-A3F3-4EFB-89C6-0BAFF9DF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124200"/>
            <a:ext cx="1714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DEBE9"/>
          </a:solidFill>
        </p:spPr>
      </p:sp>
      <p:sp>
        <p:nvSpPr>
          <p:cNvPr id="41" name="Text-93">
            <a:extLst xmlns:a="http://schemas.openxmlformats.org/drawingml/2006/main">
              <a:ext uri="{FF2B5EF4-FFF2-40B4-BE49-F238E27FC236}">
                <a16:creationId xmlns:a16="http://schemas.microsoft.com/office/drawing/2014/main" id="{979FB03A-6913-4C20-BFF9-86BE2DCB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320040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invalid_
payload</a:t>
            </a:r>
          </a:p>
        </p:txBody>
      </p:sp>
      <p:sp>
        <p:nvSpPr>
          <p:cNvPr id="42" name="Shape-94">
            <a:extLst xmlns:a="http://schemas.openxmlformats.org/drawingml/2006/main">
              <a:ext uri="{FF2B5EF4-FFF2-40B4-BE49-F238E27FC236}">
                <a16:creationId xmlns:a16="http://schemas.microsoft.com/office/drawing/2014/main" id="{B4932B57-EEEF-43BE-AD88-09975FBA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0"/>
            <a:ext cx="11277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AF0FF"/>
          </a:solidFill>
        </p:spPr>
      </p:sp>
      <p:sp>
        <p:nvSpPr>
          <p:cNvPr id="43" name="Text-95">
            <a:extLst xmlns:a="http://schemas.openxmlformats.org/drawingml/2006/main">
              <a:ext uri="{FF2B5EF4-FFF2-40B4-BE49-F238E27FC236}">
                <a16:creationId xmlns:a16="http://schemas.microsoft.com/office/drawing/2014/main" id="{E0468F1B-1FDD-43F3-8D90-2EB98BFC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266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EFF"/>
                </a:solidFill>
                <a:latin typeface="Courier New"/>
                <a:ea typeface="Courier New"/>
                <a:cs typeface="Courier New"/>
              </a:defRPr>
            </a:pPr>
            <a:r>
              <a:t>SAFE CLASSIFICATION</a:t>
            </a:r>
          </a:p>
        </p:txBody>
      </p:sp>
      <p:sp>
        <p:nvSpPr>
          <p:cNvPr id="44" name="Text-96">
            <a:extLst xmlns:a="http://schemas.openxmlformats.org/drawingml/2006/main">
              <a:ext uri="{FF2B5EF4-FFF2-40B4-BE49-F238E27FC236}">
                <a16:creationId xmlns:a16="http://schemas.microsoft.com/office/drawing/2014/main" id="{EDE9D740-621C-4902-972C-F9878ECD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38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unsupported_version is rejected before version-1 fields are trusted.</a:t>
            </a:r>
          </a:p>
        </p:txBody>
      </p:sp>
      <p:sp>
        <p:nvSpPr>
          <p:cNvPr id="45" name="Text-97">
            <a:extLst xmlns:a="http://schemas.openxmlformats.org/drawingml/2006/main">
              <a:ext uri="{FF2B5EF4-FFF2-40B4-BE49-F238E27FC236}">
                <a16:creationId xmlns:a16="http://schemas.microsoft.com/office/drawing/2014/main" id="{E505B486-BD63-404F-8704-35615D88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38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DAE"/>
                </a:solidFill>
                <a:latin typeface="Helvetica Neue"/>
                <a:ea typeface="Helvetica Neue"/>
                <a:cs typeface="Helvetica Neue"/>
              </a:defRPr>
            </a:pPr>
            <a:r>
              <a:t>Errors identify the violated contract without echoing raw input or validator internals.</a:t>
            </a:r>
          </a:p>
        </p:txBody>
      </p:sp>
      <p:cxnSp>
        <p:nvCxnSpPr>
          <p:cNvPr id="94" name="Rule-98"/>
          <p:cNvCxnSpPr/>
          <p:nvPr/>
        </p:nvCxnSpPr>
        <p:spPr>
          <a:xfrm xmlns:a="http://schemas.openxmlformats.org/drawingml/2006/main">
            <a:off x="457200" y="62198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47" name="Text-99">
            <a:extLst xmlns:a="http://schemas.openxmlformats.org/drawingml/2006/main">
              <a:ext uri="{FF2B5EF4-FFF2-40B4-BE49-F238E27FC236}">
                <a16:creationId xmlns:a16="http://schemas.microsoft.com/office/drawing/2014/main" id="{1062A409-390C-4F27-93C5-B492F52B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00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protocol/README.md · MAX_PROTOCOL_LINE_BYTES = 65,536 excluding LF</a:t>
            </a:r>
          </a:p>
        </p:txBody>
      </p:sp>
      <p:sp>
        <p:nvSpPr>
          <p:cNvPr id="48" name="Text-100">
            <a:extLst xmlns:a="http://schemas.openxmlformats.org/drawingml/2006/main">
              <a:ext uri="{FF2B5EF4-FFF2-40B4-BE49-F238E27FC236}">
                <a16:creationId xmlns:a16="http://schemas.microsoft.com/office/drawing/2014/main" id="{3BE62CEE-8DDD-41AC-9A02-ABEA8434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90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548694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hape-139">
            <a:extLst xmlns:a="http://schemas.openxmlformats.org/drawingml/2006/main">
              <a:ext uri="{FF2B5EF4-FFF2-40B4-BE49-F238E27FC236}">
                <a16:creationId xmlns:a16="http://schemas.microsoft.com/office/drawing/2014/main" id="{C1AF94BF-8A2D-4899-9458-C4232D64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Text-102">
            <a:extLst xmlns:a="http://schemas.openxmlformats.org/drawingml/2006/main">
              <a:ext uri="{FF2B5EF4-FFF2-40B4-BE49-F238E27FC236}">
                <a16:creationId xmlns:a16="http://schemas.microsoft.com/office/drawing/2014/main" id="{3DFE44C4-2D31-4305-B69B-F2BBF460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12776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Five fields prevent five ambiguities</a:t>
            </a:r>
          </a:p>
        </p:txBody>
      </p:sp>
      <p:sp>
        <p:nvSpPr>
          <p:cNvPr id="3" name="Shape-103">
            <a:extLst xmlns:a="http://schemas.openxmlformats.org/drawingml/2006/main">
              <a:ext uri="{FF2B5EF4-FFF2-40B4-BE49-F238E27FC236}">
                <a16:creationId xmlns:a16="http://schemas.microsoft.com/office/drawing/2014/main" id="{AA1A3D58-BB55-4134-A2DA-CD2D9A7D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2038350" cy="335280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4" name="Shape-104">
            <a:extLst xmlns:a="http://schemas.openxmlformats.org/drawingml/2006/main">
              <a:ext uri="{FF2B5EF4-FFF2-40B4-BE49-F238E27FC236}">
                <a16:creationId xmlns:a16="http://schemas.microsoft.com/office/drawing/2014/main" id="{BC932E3B-35F6-44AB-AAF0-4E4C44A6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2"/>
          </a:solidFill>
        </p:spPr>
      </p:sp>
      <p:sp>
        <p:nvSpPr>
          <p:cNvPr id="5" name="Text-105">
            <a:extLst xmlns:a="http://schemas.openxmlformats.org/drawingml/2006/main">
              <a:ext uri="{FF2B5EF4-FFF2-40B4-BE49-F238E27FC236}">
                <a16:creationId xmlns:a16="http://schemas.microsoft.com/office/drawing/2014/main" id="{15A78934-EA2E-40DB-A65B-40F49989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1695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command_id</a:t>
            </a:r>
          </a:p>
        </p:txBody>
      </p:sp>
      <p:sp>
        <p:nvSpPr>
          <p:cNvPr id="6" name="Text-106">
            <a:extLst xmlns:a="http://schemas.openxmlformats.org/drawingml/2006/main">
              <a:ext uri="{FF2B5EF4-FFF2-40B4-BE49-F238E27FC236}">
                <a16:creationId xmlns:a16="http://schemas.microsoft.com/office/drawing/2014/main" id="{8143E91E-0F9C-4107-9034-2A3431A4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19375"/>
            <a:ext cx="16954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Which request?</a:t>
            </a:r>
          </a:p>
        </p:txBody>
      </p:sp>
      <p:cxnSp>
        <p:nvCxnSpPr>
          <p:cNvPr id="45" name="Rule-107"/>
          <p:cNvCxnSpPr/>
          <p:nvPr/>
        </p:nvCxnSpPr>
        <p:spPr>
          <a:xfrm xmlns:a="http://schemas.openxmlformats.org/drawingml/2006/main">
            <a:off x="628650" y="3514725"/>
            <a:ext cx="16954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8" name="Text-108">
            <a:extLst xmlns:a="http://schemas.openxmlformats.org/drawingml/2006/main">
              <a:ext uri="{FF2B5EF4-FFF2-40B4-BE49-F238E27FC236}">
                <a16:creationId xmlns:a16="http://schemas.microsoft.com/office/drawing/2014/main" id="{9504490A-5142-4BB6-9594-F4325054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62375"/>
            <a:ext cx="16954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Unique per command</a:t>
            </a:r>
          </a:p>
        </p:txBody>
      </p:sp>
      <p:sp>
        <p:nvSpPr>
          <p:cNvPr id="9" name="Shape-109">
            <a:extLst xmlns:a="http://schemas.openxmlformats.org/drawingml/2006/main">
              <a:ext uri="{FF2B5EF4-FFF2-40B4-BE49-F238E27FC236}">
                <a16:creationId xmlns:a16="http://schemas.microsoft.com/office/drawing/2014/main" id="{B582D5F7-633A-49EA-B1AB-490DA07C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28750"/>
            <a:ext cx="2038350" cy="335280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10" name="Shape-110">
            <a:extLst xmlns:a="http://schemas.openxmlformats.org/drawingml/2006/main">
              <a:ext uri="{FF2B5EF4-FFF2-40B4-BE49-F238E27FC236}">
                <a16:creationId xmlns:a16="http://schemas.microsoft.com/office/drawing/2014/main" id="{E2FF7FCF-868E-4EBF-8630-01CBB88A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2875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2"/>
          </a:solidFill>
        </p:spPr>
      </p:sp>
      <p:sp>
        <p:nvSpPr>
          <p:cNvPr id="11" name="Text-111">
            <a:extLst xmlns:a="http://schemas.openxmlformats.org/drawingml/2006/main">
              <a:ext uri="{FF2B5EF4-FFF2-40B4-BE49-F238E27FC236}">
                <a16:creationId xmlns:a16="http://schemas.microsoft.com/office/drawing/2014/main" id="{447CB354-86CF-4178-A45E-5E350099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790700"/>
            <a:ext cx="1695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correlation_
id</a:t>
            </a:r>
          </a:p>
        </p:txBody>
      </p:sp>
      <p:sp>
        <p:nvSpPr>
          <p:cNvPr id="12" name="Text-112">
            <a:extLst xmlns:a="http://schemas.openxmlformats.org/drawingml/2006/main">
              <a:ext uri="{FF2B5EF4-FFF2-40B4-BE49-F238E27FC236}">
                <a16:creationId xmlns:a16="http://schemas.microsoft.com/office/drawing/2014/main" id="{CB03E544-2CA2-403D-99A5-6FF48A18F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19375"/>
            <a:ext cx="16954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What caused it?</a:t>
            </a:r>
          </a:p>
        </p:txBody>
      </p:sp>
      <p:cxnSp>
        <p:nvCxnSpPr>
          <p:cNvPr id="51" name="Rule-113"/>
          <p:cNvCxnSpPr/>
          <p:nvPr/>
        </p:nvCxnSpPr>
        <p:spPr>
          <a:xfrm xmlns:a="http://schemas.openxmlformats.org/drawingml/2006/main">
            <a:off x="2895600" y="3514725"/>
            <a:ext cx="16954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14" name="Text-114">
            <a:extLst xmlns:a="http://schemas.openxmlformats.org/drawingml/2006/main">
              <a:ext uri="{FF2B5EF4-FFF2-40B4-BE49-F238E27FC236}">
                <a16:creationId xmlns:a16="http://schemas.microsoft.com/office/drawing/2014/main" id="{207A1A0C-DA3E-485E-8E20-D8741194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62375"/>
            <a:ext cx="16954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Echo the triggering command</a:t>
            </a:r>
          </a:p>
        </p:txBody>
      </p:sp>
      <p:sp>
        <p:nvSpPr>
          <p:cNvPr id="15" name="Shape-115">
            <a:extLst xmlns:a="http://schemas.openxmlformats.org/drawingml/2006/main">
              <a:ext uri="{FF2B5EF4-FFF2-40B4-BE49-F238E27FC236}">
                <a16:creationId xmlns:a16="http://schemas.microsoft.com/office/drawing/2014/main" id="{B8449B21-3E7F-4F69-A812-F0E8E467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428750"/>
            <a:ext cx="2038350" cy="335280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16" name="Shape-116">
            <a:extLst xmlns:a="http://schemas.openxmlformats.org/drawingml/2006/main">
              <a:ext uri="{FF2B5EF4-FFF2-40B4-BE49-F238E27FC236}">
                <a16:creationId xmlns:a16="http://schemas.microsoft.com/office/drawing/2014/main" id="{C6200D66-B649-4DD4-927C-19925BD5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42875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2"/>
          </a:solidFill>
        </p:spPr>
      </p:sp>
      <p:sp>
        <p:nvSpPr>
          <p:cNvPr id="17" name="Text-117">
            <a:extLst xmlns:a="http://schemas.openxmlformats.org/drawingml/2006/main">
              <a:ext uri="{FF2B5EF4-FFF2-40B4-BE49-F238E27FC236}">
                <a16:creationId xmlns:a16="http://schemas.microsoft.com/office/drawing/2014/main" id="{2B901D66-8484-442D-A7A4-5917DB11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790700"/>
            <a:ext cx="1695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session_id</a:t>
            </a:r>
          </a:p>
        </p:txBody>
      </p:sp>
      <p:sp>
        <p:nvSpPr>
          <p:cNvPr id="18" name="Text-118">
            <a:extLst xmlns:a="http://schemas.openxmlformats.org/drawingml/2006/main">
              <a:ext uri="{FF2B5EF4-FFF2-40B4-BE49-F238E27FC236}">
                <a16:creationId xmlns:a16="http://schemas.microsoft.com/office/drawing/2014/main" id="{DAEBF512-3795-4EC1-8534-BF4DE0A8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619375"/>
            <a:ext cx="16954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Which lifecycle?</a:t>
            </a:r>
          </a:p>
        </p:txBody>
      </p:sp>
      <p:cxnSp>
        <p:nvCxnSpPr>
          <p:cNvPr id="57" name="Rule-119"/>
          <p:cNvCxnSpPr/>
          <p:nvPr/>
        </p:nvCxnSpPr>
        <p:spPr>
          <a:xfrm xmlns:a="http://schemas.openxmlformats.org/drawingml/2006/main">
            <a:off x="5162550" y="3514725"/>
            <a:ext cx="16954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20" name="Text-120">
            <a:extLst xmlns:a="http://schemas.openxmlformats.org/drawingml/2006/main">
              <a:ext uri="{FF2B5EF4-FFF2-40B4-BE49-F238E27FC236}">
                <a16:creationId xmlns:a16="http://schemas.microsoft.com/office/drawing/2014/main" id="{B4BA79BC-047E-47EF-B9A7-0F2A83CD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62375"/>
            <a:ext cx="16954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Stable within a session</a:t>
            </a:r>
          </a:p>
        </p:txBody>
      </p:sp>
      <p:sp>
        <p:nvSpPr>
          <p:cNvPr id="21" name="Shape-121">
            <a:extLst xmlns:a="http://schemas.openxmlformats.org/drawingml/2006/main">
              <a:ext uri="{FF2B5EF4-FFF2-40B4-BE49-F238E27FC236}">
                <a16:creationId xmlns:a16="http://schemas.microsoft.com/office/drawing/2014/main" id="{CF3C8794-4DBE-4E0A-A810-7FE876A0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428750"/>
            <a:ext cx="2038350" cy="335280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EAF0FF"/>
          </a:solidFill>
        </p:spPr>
      </p:sp>
      <p:sp>
        <p:nvSpPr>
          <p:cNvPr id="22" name="Shape-122">
            <a:extLst xmlns:a="http://schemas.openxmlformats.org/drawingml/2006/main">
              <a:ext uri="{FF2B5EF4-FFF2-40B4-BE49-F238E27FC236}">
                <a16:creationId xmlns:a16="http://schemas.microsoft.com/office/drawing/2014/main" id="{19DA7474-2285-440A-A6FF-ACEDA429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42875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EFF"/>
          </a:solidFill>
        </p:spPr>
      </p:sp>
      <p:sp>
        <p:nvSpPr>
          <p:cNvPr id="23" name="Text-123">
            <a:extLst xmlns:a="http://schemas.openxmlformats.org/drawingml/2006/main">
              <a:ext uri="{FF2B5EF4-FFF2-40B4-BE49-F238E27FC236}">
                <a16:creationId xmlns:a16="http://schemas.microsoft.com/office/drawing/2014/main" id="{0B843CCD-06F7-4166-A557-924CAB46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90700"/>
            <a:ext cx="1695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sequence</a:t>
            </a:r>
          </a:p>
        </p:txBody>
      </p:sp>
      <p:sp>
        <p:nvSpPr>
          <p:cNvPr id="24" name="Text-124">
            <a:extLst xmlns:a="http://schemas.openxmlformats.org/drawingml/2006/main">
              <a:ext uri="{FF2B5EF4-FFF2-40B4-BE49-F238E27FC236}">
                <a16:creationId xmlns:a16="http://schemas.microsoft.com/office/drawing/2014/main" id="{FEFEE5B4-8D4A-46A9-83DA-B6EBD7A6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19375"/>
            <a:ext cx="16954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Authoritative order?</a:t>
            </a:r>
          </a:p>
        </p:txBody>
      </p:sp>
      <p:cxnSp>
        <p:nvCxnSpPr>
          <p:cNvPr id="63" name="Rule-125"/>
          <p:cNvCxnSpPr/>
          <p:nvPr/>
        </p:nvCxnSpPr>
        <p:spPr>
          <a:xfrm xmlns:a="http://schemas.openxmlformats.org/drawingml/2006/main">
            <a:off x="7429500" y="3514725"/>
            <a:ext cx="16954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26" name="Text-126">
            <a:extLst xmlns:a="http://schemas.openxmlformats.org/drawingml/2006/main">
              <a:ext uri="{FF2B5EF4-FFF2-40B4-BE49-F238E27FC236}">
                <a16:creationId xmlns:a16="http://schemas.microsoft.com/office/drawing/2014/main" id="{C9A15A2E-8440-45A3-A1B5-FC7B5475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62375"/>
            <a:ext cx="16954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Per session: starts at 1; strictly increases</a:t>
            </a:r>
          </a:p>
        </p:txBody>
      </p:sp>
      <p:sp>
        <p:nvSpPr>
          <p:cNvPr id="27" name="Shape-127">
            <a:extLst xmlns:a="http://schemas.openxmlformats.org/drawingml/2006/main">
              <a:ext uri="{FF2B5EF4-FFF2-40B4-BE49-F238E27FC236}">
                <a16:creationId xmlns:a16="http://schemas.microsoft.com/office/drawing/2014/main" id="{01520915-FEE1-4C62-A114-EAE63E18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28750"/>
            <a:ext cx="2038350" cy="3352800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28" name="Shape-128">
            <a:extLst xmlns:a="http://schemas.openxmlformats.org/drawingml/2006/main">
              <a:ext uri="{FF2B5EF4-FFF2-40B4-BE49-F238E27FC236}">
                <a16:creationId xmlns:a16="http://schemas.microsoft.com/office/drawing/2014/main" id="{416CE162-0ED8-4795-AF7A-B3BA98E9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28750"/>
            <a:ext cx="2038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2"/>
          </a:solidFill>
        </p:spPr>
      </p:sp>
      <p:sp>
        <p:nvSpPr>
          <p:cNvPr id="29" name="Text-129">
            <a:extLst xmlns:a="http://schemas.openxmlformats.org/drawingml/2006/main">
              <a:ext uri="{FF2B5EF4-FFF2-40B4-BE49-F238E27FC236}">
                <a16:creationId xmlns:a16="http://schemas.microsoft.com/office/drawing/2014/main" id="{1CDB8BAF-47E8-4DBA-894C-35750D37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790700"/>
            <a:ext cx="16954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timestamp</a:t>
            </a:r>
          </a:p>
        </p:txBody>
      </p:sp>
      <p:sp>
        <p:nvSpPr>
          <p:cNvPr id="30" name="Text-130">
            <a:extLst xmlns:a="http://schemas.openxmlformats.org/drawingml/2006/main">
              <a:ext uri="{FF2B5EF4-FFF2-40B4-BE49-F238E27FC236}">
                <a16:creationId xmlns:a16="http://schemas.microsoft.com/office/drawing/2014/main" id="{BE245184-6AB7-43BE-861B-CB2763B1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19375"/>
            <a:ext cx="16954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When observed?</a:t>
            </a:r>
          </a:p>
        </p:txBody>
      </p:sp>
      <p:cxnSp>
        <p:nvCxnSpPr>
          <p:cNvPr id="69" name="Rule-131"/>
          <p:cNvCxnSpPr/>
          <p:nvPr/>
        </p:nvCxnSpPr>
        <p:spPr>
          <a:xfrm xmlns:a="http://schemas.openxmlformats.org/drawingml/2006/main">
            <a:off x="9696450" y="3514725"/>
            <a:ext cx="16954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32" name="Text-132">
            <a:extLst xmlns:a="http://schemas.openxmlformats.org/drawingml/2006/main">
              <a:ext uri="{FF2B5EF4-FFF2-40B4-BE49-F238E27FC236}">
                <a16:creationId xmlns:a16="http://schemas.microsoft.com/office/drawing/2014/main" id="{DD118FE8-97D0-4163-BB4C-DAA4B8BD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62375"/>
            <a:ext cx="16954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Exact UTC milliseconds</a:t>
            </a:r>
          </a:p>
        </p:txBody>
      </p:sp>
      <p:sp>
        <p:nvSpPr>
          <p:cNvPr id="33" name="Shape-133">
            <a:extLst xmlns:a="http://schemas.openxmlformats.org/drawingml/2006/main">
              <a:ext uri="{FF2B5EF4-FFF2-40B4-BE49-F238E27FC236}">
                <a16:creationId xmlns:a16="http://schemas.microsoft.com/office/drawing/2014/main" id="{B6A02C0C-A89E-46B1-B2A3-EF4B4891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05400"/>
            <a:ext cx="112776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0B0D12"/>
          </a:solidFill>
        </p:spPr>
      </p:sp>
      <p:sp>
        <p:nvSpPr>
          <p:cNvPr id="34" name="Text-134">
            <a:extLst xmlns:a="http://schemas.openxmlformats.org/drawingml/2006/main">
              <a:ext uri="{FF2B5EF4-FFF2-40B4-BE49-F238E27FC236}">
                <a16:creationId xmlns:a16="http://schemas.microsoft.com/office/drawing/2014/main" id="{9C16D1E5-6D27-478A-92C1-1AE6B858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57800"/>
            <a:ext cx="595312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Sequence orders. Timestamp does not.</a:t>
            </a:r>
          </a:p>
        </p:txBody>
      </p:sp>
      <p:sp>
        <p:nvSpPr>
          <p:cNvPr id="35" name="Text-135">
            <a:extLst xmlns:a="http://schemas.openxmlformats.org/drawingml/2006/main">
              <a:ext uri="{FF2B5EF4-FFF2-40B4-BE49-F238E27FC236}">
                <a16:creationId xmlns:a16="http://schemas.microsoft.com/office/drawing/2014/main" id="{84ED0136-AED3-4D8D-9DAB-2DEDB6E2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314950"/>
            <a:ext cx="4476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EAF0FF"/>
                </a:solidFill>
                <a:latin typeface="Courier New"/>
                <a:ea typeface="Courier New"/>
                <a:cs typeface="Courier New"/>
              </a:defRPr>
            </a:pPr>
            <a:r>
              <a:t>max sequence · 9,007,199,254,740,991</a:t>
            </a:r>
          </a:p>
        </p:txBody>
      </p:sp>
      <p:cxnSp>
        <p:nvCxnSpPr>
          <p:cNvPr id="74" name="Rule-136"/>
          <p:cNvCxnSpPr/>
          <p:nvPr/>
        </p:nvCxnSpPr>
        <p:spPr>
          <a:xfrm xmlns:a="http://schemas.openxmlformats.org/drawingml/2006/main">
            <a:off x="457200" y="62198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37" name="Text-137">
            <a:extLst xmlns:a="http://schemas.openxmlformats.org/drawingml/2006/main">
              <a:ext uri="{FF2B5EF4-FFF2-40B4-BE49-F238E27FC236}">
                <a16:creationId xmlns:a16="http://schemas.microsoft.com/office/drawing/2014/main" id="{0C9A1ED6-3E09-4E90-8208-5D935CAE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00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models.py · protocol.ts · shared valid and invalid fixtures</a:t>
            </a:r>
          </a:p>
        </p:txBody>
      </p:sp>
      <p:sp>
        <p:nvSpPr>
          <p:cNvPr id="38" name="Text-138">
            <a:extLst xmlns:a="http://schemas.openxmlformats.org/drawingml/2006/main">
              <a:ext uri="{FF2B5EF4-FFF2-40B4-BE49-F238E27FC236}">
                <a16:creationId xmlns:a16="http://schemas.microsoft.com/office/drawing/2014/main" id="{D2D1F822-5A39-4109-9EF3-E9FBAA19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90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84620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hape-171">
            <a:extLst xmlns:a="http://schemas.openxmlformats.org/drawingml/2006/main">
              <a:ext uri="{FF2B5EF4-FFF2-40B4-BE49-F238E27FC236}">
                <a16:creationId xmlns:a16="http://schemas.microsoft.com/office/drawing/2014/main" id="{1F55C922-0D5B-4D59-B739-5F9AA80A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Text-140">
            <a:extLst xmlns:a="http://schemas.openxmlformats.org/drawingml/2006/main">
              <a:ext uri="{FF2B5EF4-FFF2-40B4-BE49-F238E27FC236}">
                <a16:creationId xmlns:a16="http://schemas.microsoft.com/office/drawing/2014/main" id="{5F4AB114-CA73-4A7B-B893-92D7F1B9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12776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Running begins with proof</a:t>
            </a:r>
          </a:p>
        </p:txBody>
      </p:sp>
      <p:sp>
        <p:nvSpPr>
          <p:cNvPr id="3" name="Text-141">
            <a:extLst xmlns:a="http://schemas.openxmlformats.org/drawingml/2006/main">
              <a:ext uri="{FF2B5EF4-FFF2-40B4-BE49-F238E27FC236}">
                <a16:creationId xmlns:a16="http://schemas.microsoft.com/office/drawing/2014/main" id="{AF4AE2E2-AB66-4CBF-9000-47F421E9A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81075"/>
            <a:ext cx="6858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Process birth is not application readiness.</a:t>
            </a:r>
          </a:p>
        </p:txBody>
      </p:sp>
      <p:sp>
        <p:nvSpPr>
          <p:cNvPr id="4" name="Shape-142">
            <a:extLst xmlns:a="http://schemas.openxmlformats.org/drawingml/2006/main">
              <a:ext uri="{FF2B5EF4-FFF2-40B4-BE49-F238E27FC236}">
                <a16:creationId xmlns:a16="http://schemas.microsoft.com/office/drawing/2014/main" id="{F7F7BD34-0712-482A-934F-073BB5FB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981075"/>
            <a:ext cx="27813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2D8"/>
          </a:solidFill>
        </p:spPr>
      </p:sp>
      <p:sp>
        <p:nvSpPr>
          <p:cNvPr id="5" name="Text-143">
            <a:extLst xmlns:a="http://schemas.openxmlformats.org/drawingml/2006/main">
              <a:ext uri="{FF2B5EF4-FFF2-40B4-BE49-F238E27FC236}">
                <a16:creationId xmlns:a16="http://schemas.microsoft.com/office/drawing/2014/main" id="{47427C3F-3DE3-4BEF-A88D-FF72B233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057275"/>
            <a:ext cx="2552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96800"/>
                </a:solidFill>
                <a:latin typeface="Helvetica Neue"/>
                <a:ea typeface="Helvetica Neue"/>
                <a:cs typeface="Helvetica Neue"/>
              </a:defRPr>
            </a:pPr>
            <a:r>
              <a:t>5 s readiness deadline</a:t>
            </a:r>
          </a:p>
        </p:txBody>
      </p:sp>
      <p:cxnSp>
        <p:nvCxnSpPr>
          <p:cNvPr id="38" name="Rule-144"/>
          <p:cNvCxnSpPr/>
          <p:nvPr/>
        </p:nvCxnSpPr>
        <p:spPr>
          <a:xfrm xmlns:a="http://schemas.openxmlformats.org/drawingml/2006/main">
            <a:off x="1066800" y="2876550"/>
            <a:ext cx="9715500" cy="9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F5EFF"/>
            </a:solidFill>
            <a:prstDash val="solid"/>
          </a:ln>
        </p:spPr>
      </p:cxnSp>
      <p:cxnSp>
        <p:nvCxnSpPr>
          <p:cNvPr id="39" name="Rule-145"/>
          <p:cNvCxnSpPr/>
          <p:nvPr/>
        </p:nvCxnSpPr>
        <p:spPr>
          <a:xfrm xmlns:a="http://schemas.openxmlformats.org/drawingml/2006/main">
            <a:off x="6781800" y="3000375"/>
            <a:ext cx="19621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33A32"/>
            </a:solidFill>
            <a:prstDash val="solid"/>
          </a:ln>
        </p:spPr>
      </p:cxnSp>
      <p:cxnSp>
        <p:nvCxnSpPr>
          <p:cNvPr id="40" name="Rule-146"/>
          <p:cNvCxnSpPr/>
          <p:nvPr/>
        </p:nvCxnSpPr>
        <p:spPr>
          <a:xfrm xmlns:a="http://schemas.openxmlformats.org/drawingml/2006/main">
            <a:off x="8743950" y="3000375"/>
            <a:ext cx="95" cy="14001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33A32"/>
            </a:solidFill>
            <a:prstDash val="solid"/>
          </a:ln>
        </p:spPr>
      </p:cxnSp>
      <p:sp>
        <p:nvSpPr>
          <p:cNvPr id="9" name="Shape-147">
            <a:extLst xmlns:a="http://schemas.openxmlformats.org/drawingml/2006/main">
              <a:ext uri="{FF2B5EF4-FFF2-40B4-BE49-F238E27FC236}">
                <a16:creationId xmlns:a16="http://schemas.microsoft.com/office/drawing/2014/main" id="{78A547B1-426B-41DB-B795-2B01D273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733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5EFF"/>
          </a:solidFill>
        </p:spPr>
      </p:sp>
      <p:sp>
        <p:nvSpPr>
          <p:cNvPr id="10" name="Text-148">
            <a:extLst xmlns:a="http://schemas.openxmlformats.org/drawingml/2006/main">
              <a:ext uri="{FF2B5EF4-FFF2-40B4-BE49-F238E27FC236}">
                <a16:creationId xmlns:a16="http://schemas.microsoft.com/office/drawing/2014/main" id="{10702414-8D26-4428-B770-9F1C6E5E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81300"/>
            <a:ext cx="152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</p:txBody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3965B641-816D-4D75-A9EA-86FA5197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2381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spawn</a:t>
            </a:r>
          </a:p>
        </p:txBody>
      </p:sp>
      <p:sp>
        <p:nvSpPr>
          <p:cNvPr id="12" name="Text-150">
            <a:extLst xmlns:a="http://schemas.openxmlformats.org/drawingml/2006/main">
              <a:ext uri="{FF2B5EF4-FFF2-40B4-BE49-F238E27FC236}">
                <a16:creationId xmlns:a16="http://schemas.microsoft.com/office/drawing/2014/main" id="{E5AC9C07-117A-49CE-BB97-C67EA1F1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71825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state = starting</a:t>
            </a:r>
          </a:p>
        </p:txBody>
      </p:sp>
      <p:sp>
        <p:nvSpPr>
          <p:cNvPr id="13" name="Shape-151">
            <a:extLst xmlns:a="http://schemas.openxmlformats.org/drawingml/2006/main">
              <a:ext uri="{FF2B5EF4-FFF2-40B4-BE49-F238E27FC236}">
                <a16:creationId xmlns:a16="http://schemas.microsoft.com/office/drawing/2014/main" id="{016B222B-2FA1-4114-978B-08AA6C67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733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5EFF"/>
          </a:solidFill>
        </p:spPr>
      </p:sp>
      <p:sp>
        <p:nvSpPr>
          <p:cNvPr id="14" name="Text-152">
            <a:extLst xmlns:a="http://schemas.openxmlformats.org/drawingml/2006/main">
              <a:ext uri="{FF2B5EF4-FFF2-40B4-BE49-F238E27FC236}">
                <a16:creationId xmlns:a16="http://schemas.microsoft.com/office/drawing/2014/main" id="{FC68E4A3-EBEE-44CC-80A2-1905FA59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1300"/>
            <a:ext cx="152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15" name="Text-153">
            <a:extLst xmlns:a="http://schemas.openxmlformats.org/drawingml/2006/main">
              <a:ext uri="{FF2B5EF4-FFF2-40B4-BE49-F238E27FC236}">
                <a16:creationId xmlns:a16="http://schemas.microsoft.com/office/drawing/2014/main" id="{6C2B412E-603A-40F1-83E6-844B575D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76450"/>
            <a:ext cx="2381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runtime.initialize</a:t>
            </a:r>
          </a:p>
        </p:txBody>
      </p:sp>
      <p:sp>
        <p:nvSpPr>
          <p:cNvPr id="16" name="Text-154">
            <a:extLst xmlns:a="http://schemas.openxmlformats.org/drawingml/2006/main">
              <a:ext uri="{FF2B5EF4-FFF2-40B4-BE49-F238E27FC236}">
                <a16:creationId xmlns:a16="http://schemas.microsoft.com/office/drawing/2014/main" id="{A9116899-1ED6-4A67-908E-FBBEAD3B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171825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cmd_A · canonical workspace</a:t>
            </a:r>
          </a:p>
        </p:txBody>
      </p:sp>
      <p:sp>
        <p:nvSpPr>
          <p:cNvPr id="17" name="Shape-155">
            <a:extLst xmlns:a="http://schemas.openxmlformats.org/drawingml/2006/main">
              <a:ext uri="{FF2B5EF4-FFF2-40B4-BE49-F238E27FC236}">
                <a16:creationId xmlns:a16="http://schemas.microsoft.com/office/drawing/2014/main" id="{CF3804E1-434D-42CB-A580-0C129F5D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733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5EFF"/>
          </a:solidFill>
        </p:spPr>
      </p:sp>
      <p:sp>
        <p:nvSpPr>
          <p:cNvPr id="18" name="Text-156">
            <a:extLst xmlns:a="http://schemas.openxmlformats.org/drawingml/2006/main">
              <a:ext uri="{FF2B5EF4-FFF2-40B4-BE49-F238E27FC236}">
                <a16:creationId xmlns:a16="http://schemas.microsoft.com/office/drawing/2014/main" id="{84F8B50A-093C-4F9C-B56F-B8CE9A29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81300"/>
            <a:ext cx="152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19" name="Text-157">
            <a:extLst xmlns:a="http://schemas.openxmlformats.org/drawingml/2006/main">
              <a:ext uri="{FF2B5EF4-FFF2-40B4-BE49-F238E27FC236}">
                <a16:creationId xmlns:a16="http://schemas.microsoft.com/office/drawing/2014/main" id="{DE9A26D0-9C65-4394-AD63-16F5E0B9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76450"/>
            <a:ext cx="2381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runtime.ready</a:t>
            </a:r>
          </a:p>
        </p:txBody>
      </p:sp>
      <p:sp>
        <p:nvSpPr>
          <p:cNvPr id="20" name="Text-158">
            <a:extLst xmlns:a="http://schemas.openxmlformats.org/drawingml/2006/main">
              <a:ext uri="{FF2B5EF4-FFF2-40B4-BE49-F238E27FC236}">
                <a16:creationId xmlns:a16="http://schemas.microsoft.com/office/drawing/2014/main" id="{61029B9A-37B5-4396-BFBE-12F43B87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71825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9661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correlation = cmd_A
same workspace</a:t>
            </a:r>
          </a:p>
        </p:txBody>
      </p:sp>
      <p:sp>
        <p:nvSpPr>
          <p:cNvPr id="21" name="Shape-159">
            <a:extLst xmlns:a="http://schemas.openxmlformats.org/drawingml/2006/main">
              <a:ext uri="{FF2B5EF4-FFF2-40B4-BE49-F238E27FC236}">
                <a16:creationId xmlns:a16="http://schemas.microsoft.com/office/drawing/2014/main" id="{90F29DBC-C68C-40FD-B45C-A64FEE95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733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94E"/>
          </a:solidFill>
        </p:spPr>
      </p:sp>
      <p:sp>
        <p:nvSpPr>
          <p:cNvPr id="22" name="Text-160">
            <a:extLst xmlns:a="http://schemas.openxmlformats.org/drawingml/2006/main">
              <a:ext uri="{FF2B5EF4-FFF2-40B4-BE49-F238E27FC236}">
                <a16:creationId xmlns:a16="http://schemas.microsoft.com/office/drawing/2014/main" id="{E1F1D326-DFC5-4EDD-8D95-386EA724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81300"/>
            <a:ext cx="152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3" name="Text-161">
            <a:extLst xmlns:a="http://schemas.openxmlformats.org/drawingml/2006/main">
              <a:ext uri="{FF2B5EF4-FFF2-40B4-BE49-F238E27FC236}">
                <a16:creationId xmlns:a16="http://schemas.microsoft.com/office/drawing/2014/main" id="{4BE9D8C7-143D-43DF-8049-17C9298D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76450"/>
            <a:ext cx="2381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running</a:t>
            </a:r>
          </a:p>
        </p:txBody>
      </p:sp>
      <p:sp>
        <p:nvSpPr>
          <p:cNvPr id="24" name="Text-162">
            <a:extLst xmlns:a="http://schemas.openxmlformats.org/drawingml/2006/main">
              <a:ext uri="{FF2B5EF4-FFF2-40B4-BE49-F238E27FC236}">
                <a16:creationId xmlns:a16="http://schemas.microsoft.com/office/drawing/2014/main" id="{A7713638-3CA7-488F-9DE3-34AEBAA5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171825"/>
            <a:ext cx="238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commands may now flow</a:t>
            </a:r>
          </a:p>
        </p:txBody>
      </p:sp>
      <p:sp>
        <p:nvSpPr>
          <p:cNvPr id="25" name="Shape-163">
            <a:extLst xmlns:a="http://schemas.openxmlformats.org/drawingml/2006/main">
              <a:ext uri="{FF2B5EF4-FFF2-40B4-BE49-F238E27FC236}">
                <a16:creationId xmlns:a16="http://schemas.microsoft.com/office/drawing/2014/main" id="{7E579BA2-B495-478F-AC52-1FC8680B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34290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BE9"/>
          </a:solidFill>
          <a:ln xmlns:a="http://schemas.openxmlformats.org/drawingml/2006/main" w="9525">
            <a:solidFill>
              <a:srgbClr val="C33A32"/>
            </a:solidFill>
            <a:prstDash val="solid"/>
          </a:ln>
        </p:spPr>
      </p:sp>
      <p:sp>
        <p:nvSpPr>
          <p:cNvPr id="26" name="Text-164">
            <a:extLst xmlns:a="http://schemas.openxmlformats.org/drawingml/2006/main">
              <a:ext uri="{FF2B5EF4-FFF2-40B4-BE49-F238E27FC236}">
                <a16:creationId xmlns:a16="http://schemas.microsoft.com/office/drawing/2014/main" id="{05731C78-8289-4C50-A270-582724A4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552950"/>
            <a:ext cx="3048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protocol-failed</a:t>
            </a:r>
          </a:p>
        </p:txBody>
      </p:sp>
      <p:sp>
        <p:nvSpPr>
          <p:cNvPr id="27" name="Text-165">
            <a:extLst xmlns:a="http://schemas.openxmlformats.org/drawingml/2006/main">
              <a:ext uri="{FF2B5EF4-FFF2-40B4-BE49-F238E27FC236}">
                <a16:creationId xmlns:a16="http://schemas.microsoft.com/office/drawing/2014/main" id="{DAF270AC-B451-49B7-9ABB-8B977846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9530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33A32"/>
                </a:solidFill>
                <a:latin typeface="Helvetica Neue"/>
                <a:ea typeface="Helvetica Neue"/>
                <a:cs typeface="Helvetica Neue"/>
              </a:defRPr>
            </a:pPr>
            <a:r>
              <a:t>mismatch · unexpected · late</a:t>
            </a:r>
          </a:p>
        </p:txBody>
      </p:sp>
      <p:sp>
        <p:nvSpPr>
          <p:cNvPr id="28" name="Text-166">
            <a:extLst xmlns:a="http://schemas.openxmlformats.org/drawingml/2006/main">
              <a:ext uri="{FF2B5EF4-FFF2-40B4-BE49-F238E27FC236}">
                <a16:creationId xmlns:a16="http://schemas.microsoft.com/office/drawing/2014/main" id="{B591DF69-8D2F-479E-8636-142BE0A5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81650"/>
            <a:ext cx="4476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Real boundary proof: Node → uv → Python</a:t>
            </a:r>
          </a:p>
        </p:txBody>
      </p:sp>
      <p:sp>
        <p:nvSpPr>
          <p:cNvPr id="29" name="Text-167">
            <a:extLst xmlns:a="http://schemas.openxmlformats.org/drawingml/2006/main">
              <a:ext uri="{FF2B5EF4-FFF2-40B4-BE49-F238E27FC236}">
                <a16:creationId xmlns:a16="http://schemas.microsoft.com/office/drawing/2014/main" id="{81D20AEA-93D3-4739-8DA0-BE38C01F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81650"/>
            <a:ext cx="5162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Cleanup: shutdown, then bounded signal escalation</a:t>
            </a:r>
          </a:p>
        </p:txBody>
      </p:sp>
      <p:cxnSp>
        <p:nvCxnSpPr>
          <p:cNvPr id="62" name="Rule-168"/>
          <p:cNvCxnSpPr/>
          <p:nvPr/>
        </p:nvCxnSpPr>
        <p:spPr>
          <a:xfrm xmlns:a="http://schemas.openxmlformats.org/drawingml/2006/main">
            <a:off x="457200" y="62198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31" name="Text-169">
            <a:extLst xmlns:a="http://schemas.openxmlformats.org/drawingml/2006/main">
              <a:ext uri="{FF2B5EF4-FFF2-40B4-BE49-F238E27FC236}">
                <a16:creationId xmlns:a16="http://schemas.microsoft.com/office/drawing/2014/main" id="{72344B1E-5103-4B17-B9CD-30CB453C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00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tui/src/runtime-supervisor.ts · runtime.py · tui/test/runtime-boundary.test.ts</a:t>
            </a:r>
          </a:p>
        </p:txBody>
      </p:sp>
      <p:sp>
        <p:nvSpPr>
          <p:cNvPr id="32" name="Text-170">
            <a:extLst xmlns:a="http://schemas.openxmlformats.org/drawingml/2006/main">
              <a:ext uri="{FF2B5EF4-FFF2-40B4-BE49-F238E27FC236}">
                <a16:creationId xmlns:a16="http://schemas.microsoft.com/office/drawing/2014/main" id="{CFCC2770-D5D9-468C-A62D-3D464B7D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90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193159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hape-202">
            <a:extLst xmlns:a="http://schemas.openxmlformats.org/drawingml/2006/main">
              <a:ext uri="{FF2B5EF4-FFF2-40B4-BE49-F238E27FC236}">
                <a16:creationId xmlns:a16="http://schemas.microsoft.com/office/drawing/2014/main" id="{5A878398-7146-4F35-8939-4AF23426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Text-172">
            <a:extLst xmlns:a="http://schemas.openxmlformats.org/drawingml/2006/main">
              <a:ext uri="{FF2B5EF4-FFF2-40B4-BE49-F238E27FC236}">
                <a16:creationId xmlns:a16="http://schemas.microsoft.com/office/drawing/2014/main" id="{EBC02F85-207B-446D-897A-18C2C120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12776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Recovery follows authority</a:t>
            </a:r>
          </a:p>
        </p:txBody>
      </p:sp>
      <p:sp>
        <p:nvSpPr>
          <p:cNvPr id="3" name="Text-173">
            <a:extLst xmlns:a="http://schemas.openxmlformats.org/drawingml/2006/main">
              <a:ext uri="{FF2B5EF4-FFF2-40B4-BE49-F238E27FC236}">
                <a16:creationId xmlns:a16="http://schemas.microsoft.com/office/drawing/2014/main" id="{DE717E38-E553-4BA2-B343-B6106268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90600"/>
            <a:ext cx="11049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The same parser can support different policies because the two streams carry different authority.</a:t>
            </a:r>
          </a:p>
        </p:txBody>
      </p:sp>
      <p:sp>
        <p:nvSpPr>
          <p:cNvPr id="4" name="Shape-174">
            <a:extLst xmlns:a="http://schemas.openxmlformats.org/drawingml/2006/main">
              <a:ext uri="{FF2B5EF4-FFF2-40B4-BE49-F238E27FC236}">
                <a16:creationId xmlns:a16="http://schemas.microsoft.com/office/drawing/2014/main" id="{79E2E68C-B0B2-463C-859B-D1B7EF9B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33525"/>
            <a:ext cx="11277600" cy="1704975"/>
          </a:xfrm>
          <a:prstGeom xmlns:a="http://schemas.openxmlformats.org/drawingml/2006/main" prst="roundRect">
            <a:avLst>
              <a:gd name="adj" fmla="val 4469"/>
            </a:avLst>
          </a:prstGeom>
          <a:solidFill xmlns:a="http://schemas.openxmlformats.org/drawingml/2006/main">
            <a:srgbClr val="EAF0FF"/>
          </a:solidFill>
        </p:spPr>
      </p:sp>
      <p:sp>
        <p:nvSpPr>
          <p:cNvPr id="5" name="Shape-175">
            <a:extLst xmlns:a="http://schemas.openxmlformats.org/drawingml/2006/main">
              <a:ext uri="{FF2B5EF4-FFF2-40B4-BE49-F238E27FC236}">
                <a16:creationId xmlns:a16="http://schemas.microsoft.com/office/drawing/2014/main" id="{628D5826-16DB-4133-9564-2B92B0D5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76625"/>
            <a:ext cx="11277600" cy="1704975"/>
          </a:xfrm>
          <a:prstGeom xmlns:a="http://schemas.openxmlformats.org/drawingml/2006/main" prst="roundRect">
            <a:avLst>
              <a:gd name="adj" fmla="val 4469"/>
            </a:avLst>
          </a:prstGeom>
          <a:solidFill xmlns:a="http://schemas.openxmlformats.org/drawingml/2006/main">
            <a:srgbClr val="FDEBE9"/>
          </a:solidFill>
        </p:spPr>
      </p:sp>
      <p:sp>
        <p:nvSpPr>
          <p:cNvPr id="6" name="Text-176">
            <a:extLst xmlns:a="http://schemas.openxmlformats.org/drawingml/2006/main">
              <a:ext uri="{FF2B5EF4-FFF2-40B4-BE49-F238E27FC236}">
                <a16:creationId xmlns:a16="http://schemas.microsoft.com/office/drawing/2014/main" id="{94A1D218-7532-4579-9F2F-C1C5C5FA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2076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716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BAD STDIN COMMAND</a:t>
            </a:r>
          </a:p>
        </p:txBody>
      </p:sp>
      <p:sp>
        <p:nvSpPr>
          <p:cNvPr id="7" name="Text-177">
            <a:extLst xmlns:a="http://schemas.openxmlformats.org/drawingml/2006/main">
              <a:ext uri="{FF2B5EF4-FFF2-40B4-BE49-F238E27FC236}">
                <a16:creationId xmlns:a16="http://schemas.microsoft.com/office/drawing/2014/main" id="{B63A99F4-FBA8-406C-BE88-B444C0AB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2076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BAD STDOUT EVENT</a:t>
            </a:r>
          </a:p>
        </p:txBody>
      </p:sp>
      <p:cxnSp>
        <p:nvCxnSpPr>
          <p:cNvPr id="39" name="Rule-178"/>
          <p:cNvCxnSpPr/>
          <p:nvPr/>
        </p:nvCxnSpPr>
        <p:spPr>
          <a:xfrm xmlns:a="http://schemas.openxmlformats.org/drawingml/2006/main">
            <a:off x="2895600" y="2400300"/>
            <a:ext cx="796290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5EFF"/>
            </a:solidFill>
            <a:prstDash val="solid"/>
          </a:ln>
        </p:spPr>
      </p:cxnSp>
      <p:cxnSp>
        <p:nvCxnSpPr>
          <p:cNvPr id="40" name="Rule-179"/>
          <p:cNvCxnSpPr/>
          <p:nvPr/>
        </p:nvCxnSpPr>
        <p:spPr>
          <a:xfrm xmlns:a="http://schemas.openxmlformats.org/drawingml/2006/main">
            <a:off x="2895600" y="4343400"/>
            <a:ext cx="796290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33A32"/>
            </a:solidFill>
            <a:prstDash val="solid"/>
          </a:ln>
        </p:spPr>
      </p:cxnSp>
      <p:sp>
        <p:nvSpPr>
          <p:cNvPr id="10" name="Shape-180">
            <a:extLst xmlns:a="http://schemas.openxmlformats.org/drawingml/2006/main">
              <a:ext uri="{FF2B5EF4-FFF2-40B4-BE49-F238E27FC236}">
                <a16:creationId xmlns:a16="http://schemas.microsoft.com/office/drawing/2014/main" id="{1A7B23F8-C2CF-4F55-ACEB-C363D41C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47875"/>
            <a:ext cx="17907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EFF"/>
            </a:solidFill>
            <a:prstDash val="solid"/>
          </a:ln>
        </p:spPr>
      </p:sp>
      <p:sp>
        <p:nvSpPr>
          <p:cNvPr id="11" name="Text-181">
            <a:extLst xmlns:a="http://schemas.openxmlformats.org/drawingml/2006/main">
              <a:ext uri="{FF2B5EF4-FFF2-40B4-BE49-F238E27FC236}">
                <a16:creationId xmlns:a16="http://schemas.microsoft.com/office/drawing/2014/main" id="{3ECC45BE-48FE-4D1B-9AF8-21B227A1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15265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23DAE"/>
                </a:solidFill>
                <a:latin typeface="Helvetica Neue"/>
                <a:ea typeface="Helvetica Neue"/>
                <a:cs typeface="Helvetica Neue"/>
              </a:defRPr>
            </a:pPr>
            <a:r>
              <a:t>unsafe
bytes</a:t>
            </a:r>
          </a:p>
        </p:txBody>
      </p:sp>
      <p:sp>
        <p:nvSpPr>
          <p:cNvPr id="12" name="Shape-182">
            <a:extLst xmlns:a="http://schemas.openxmlformats.org/drawingml/2006/main">
              <a:ext uri="{FF2B5EF4-FFF2-40B4-BE49-F238E27FC236}">
                <a16:creationId xmlns:a16="http://schemas.microsoft.com/office/drawing/2014/main" id="{16D982E7-C214-4F69-A183-41CCB9D2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47875"/>
            <a:ext cx="17907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EFF"/>
            </a:solidFill>
            <a:prstDash val="solid"/>
          </a:ln>
        </p:spPr>
      </p:sp>
      <p:sp>
        <p:nvSpPr>
          <p:cNvPr id="13" name="Text-183">
            <a:extLst xmlns:a="http://schemas.openxmlformats.org/drawingml/2006/main">
              <a:ext uri="{FF2B5EF4-FFF2-40B4-BE49-F238E27FC236}">
                <a16:creationId xmlns:a16="http://schemas.microsoft.com/office/drawing/2014/main" id="{0654388B-F1DA-4152-AA60-641F6C8B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5265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23DAE"/>
                </a:solidFill>
                <a:latin typeface="Helvetica Neue"/>
                <a:ea typeface="Helvetica Neue"/>
                <a:cs typeface="Helvetica Neue"/>
              </a:defRPr>
            </a:pPr>
            <a:r>
              <a:t>classify
safely</a:t>
            </a:r>
          </a:p>
        </p:txBody>
      </p:sp>
      <p:sp>
        <p:nvSpPr>
          <p:cNvPr id="14" name="Shape-184">
            <a:extLst xmlns:a="http://schemas.openxmlformats.org/drawingml/2006/main">
              <a:ext uri="{FF2B5EF4-FFF2-40B4-BE49-F238E27FC236}">
                <a16:creationId xmlns:a16="http://schemas.microsoft.com/office/drawing/2014/main" id="{D051F3BB-DE97-46AF-BE99-286D14D7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47875"/>
            <a:ext cx="17907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EFF"/>
            </a:solidFill>
            <a:prstDash val="solid"/>
          </a:ln>
        </p:spPr>
      </p:sp>
      <p:sp>
        <p:nvSpPr>
          <p:cNvPr id="15" name="Text-185">
            <a:extLst xmlns:a="http://schemas.openxmlformats.org/drawingml/2006/main">
              <a:ext uri="{FF2B5EF4-FFF2-40B4-BE49-F238E27FC236}">
                <a16:creationId xmlns:a16="http://schemas.microsoft.com/office/drawing/2014/main" id="{91942087-63C3-493E-A959-0770BBF7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5265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runtime.error</a:t>
            </a:r>
          </a:p>
        </p:txBody>
      </p:sp>
      <p:sp>
        <p:nvSpPr>
          <p:cNvPr id="16" name="Shape-186">
            <a:extLst xmlns:a="http://schemas.openxmlformats.org/drawingml/2006/main">
              <a:ext uri="{FF2B5EF4-FFF2-40B4-BE49-F238E27FC236}">
                <a16:creationId xmlns:a16="http://schemas.microsoft.com/office/drawing/2014/main" id="{FB596392-021B-4126-92C8-0C836881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47875"/>
            <a:ext cx="17907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8794E"/>
            </a:solidFill>
            <a:prstDash val="solid"/>
          </a:ln>
        </p:spPr>
      </p:sp>
      <p:sp>
        <p:nvSpPr>
          <p:cNvPr id="17" name="Text-187">
            <a:extLst xmlns:a="http://schemas.openxmlformats.org/drawingml/2006/main">
              <a:ext uri="{FF2B5EF4-FFF2-40B4-BE49-F238E27FC236}">
                <a16:creationId xmlns:a16="http://schemas.microsoft.com/office/drawing/2014/main" id="{66164952-7FF4-40E1-911E-00DBC443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5265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794E"/>
                </a:solidFill>
                <a:latin typeface="Helvetica Neue"/>
                <a:ea typeface="Helvetica Neue"/>
                <a:cs typeface="Helvetica Neue"/>
              </a:defRPr>
            </a:pPr>
            <a:r>
              <a:t>resume
next LF</a:t>
            </a:r>
          </a:p>
        </p:txBody>
      </p:sp>
      <p:sp>
        <p:nvSpPr>
          <p:cNvPr id="18" name="Shape-188">
            <a:extLst xmlns:a="http://schemas.openxmlformats.org/drawingml/2006/main">
              <a:ext uri="{FF2B5EF4-FFF2-40B4-BE49-F238E27FC236}">
                <a16:creationId xmlns:a16="http://schemas.microsoft.com/office/drawing/2014/main" id="{298B1CC8-1EA0-451E-A835-D9CF69D1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990975"/>
            <a:ext cx="17907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3A32"/>
            </a:solidFill>
            <a:prstDash val="solid"/>
          </a:ln>
        </p:spPr>
      </p:sp>
      <p:sp>
        <p:nvSpPr>
          <p:cNvPr id="19" name="Text-189">
            <a:extLst xmlns:a="http://schemas.openxmlformats.org/drawingml/2006/main">
              <a:ext uri="{FF2B5EF4-FFF2-40B4-BE49-F238E27FC236}">
                <a16:creationId xmlns:a16="http://schemas.microsoft.com/office/drawing/2014/main" id="{92B0FE4B-5770-471F-B0D4-25F553C8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9575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Helvetica Neue"/>
                <a:ea typeface="Helvetica Neue"/>
                <a:cs typeface="Helvetica Neue"/>
              </a:defRPr>
            </a:pPr>
            <a:r>
              <a:t>invalid
event</a:t>
            </a:r>
          </a:p>
        </p:txBody>
      </p:sp>
      <p:sp>
        <p:nvSpPr>
          <p:cNvPr id="20" name="Shape-190">
            <a:extLst xmlns:a="http://schemas.openxmlformats.org/drawingml/2006/main">
              <a:ext uri="{FF2B5EF4-FFF2-40B4-BE49-F238E27FC236}">
                <a16:creationId xmlns:a16="http://schemas.microsoft.com/office/drawing/2014/main" id="{E735EE4A-E6EC-401D-B5AD-7CB87C01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90975"/>
            <a:ext cx="17907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3A32"/>
            </a:solidFill>
            <a:prstDash val="solid"/>
          </a:ln>
        </p:spPr>
      </p:sp>
      <p:sp>
        <p:nvSpPr>
          <p:cNvPr id="21" name="Text-191">
            <a:extLst xmlns:a="http://schemas.openxmlformats.org/drawingml/2006/main">
              <a:ext uri="{FF2B5EF4-FFF2-40B4-BE49-F238E27FC236}">
                <a16:creationId xmlns:a16="http://schemas.microsoft.com/office/drawing/2014/main" id="{19E644DF-B8E3-4B23-AF2E-555B3AAC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09575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protocol-
failed</a:t>
            </a:r>
          </a:p>
        </p:txBody>
      </p:sp>
      <p:sp>
        <p:nvSpPr>
          <p:cNvPr id="22" name="Shape-192">
            <a:extLst xmlns:a="http://schemas.openxmlformats.org/drawingml/2006/main">
              <a:ext uri="{FF2B5EF4-FFF2-40B4-BE49-F238E27FC236}">
                <a16:creationId xmlns:a16="http://schemas.microsoft.com/office/drawing/2014/main" id="{94D0935D-6453-4BD3-A5A6-959F75B9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990975"/>
            <a:ext cx="17907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3A32"/>
            </a:solidFill>
            <a:prstDash val="solid"/>
          </a:ln>
        </p:spPr>
      </p:sp>
      <p:sp>
        <p:nvSpPr>
          <p:cNvPr id="23" name="Text-193">
            <a:extLst xmlns:a="http://schemas.openxmlformats.org/drawingml/2006/main">
              <a:ext uri="{FF2B5EF4-FFF2-40B4-BE49-F238E27FC236}">
                <a16:creationId xmlns:a16="http://schemas.microsoft.com/office/drawing/2014/main" id="{763832C8-1AEE-458C-BCD9-6D08B1DB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9575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Helvetica Neue"/>
                <a:ea typeface="Helvetica Neue"/>
                <a:cs typeface="Helvetica Neue"/>
              </a:defRPr>
            </a:pPr>
            <a:r>
              <a:t>close command
input</a:t>
            </a:r>
          </a:p>
        </p:txBody>
      </p:sp>
      <p:sp>
        <p:nvSpPr>
          <p:cNvPr id="24" name="Shape-194">
            <a:extLst xmlns:a="http://schemas.openxmlformats.org/drawingml/2006/main">
              <a:ext uri="{FF2B5EF4-FFF2-40B4-BE49-F238E27FC236}">
                <a16:creationId xmlns:a16="http://schemas.microsoft.com/office/drawing/2014/main" id="{8F452D14-3790-484B-92DA-001C2740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90975"/>
            <a:ext cx="17907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3A32"/>
            </a:solidFill>
            <a:prstDash val="solid"/>
          </a:ln>
        </p:spPr>
      </p:sp>
      <p:sp>
        <p:nvSpPr>
          <p:cNvPr id="25" name="Text-195">
            <a:extLst xmlns:a="http://schemas.openxmlformats.org/drawingml/2006/main">
              <a:ext uri="{FF2B5EF4-FFF2-40B4-BE49-F238E27FC236}">
                <a16:creationId xmlns:a16="http://schemas.microsoft.com/office/drawing/2014/main" id="{A4CE8464-6684-424B-9CA5-A5004EFA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95750"/>
            <a:ext cx="1638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Helvetica Neue"/>
                <a:ea typeface="Helvetica Neue"/>
                <a:cs typeface="Helvetica Neue"/>
              </a:defRPr>
            </a:pPr>
            <a:r>
              <a:t>never
guess</a:t>
            </a:r>
          </a:p>
        </p:txBody>
      </p:sp>
      <p:sp>
        <p:nvSpPr>
          <p:cNvPr id="26" name="Text-196">
            <a:extLst xmlns:a="http://schemas.openxmlformats.org/drawingml/2006/main">
              <a:ext uri="{FF2B5EF4-FFF2-40B4-BE49-F238E27FC236}">
                <a16:creationId xmlns:a16="http://schemas.microsoft.com/office/drawing/2014/main" id="{35DFAB94-86A0-4EC0-8B49-E184343D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95525"/>
            <a:ext cx="1676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794E"/>
                </a:solidFill>
                <a:latin typeface="Helvetica Neue"/>
                <a:ea typeface="Helvetica Neue"/>
                <a:cs typeface="Helvetica Neue"/>
              </a:defRPr>
            </a:pPr>
            <a:r>
              <a:t>recoverable</a:t>
            </a:r>
          </a:p>
        </p:txBody>
      </p:sp>
      <p:sp>
        <p:nvSpPr>
          <p:cNvPr id="27" name="Text-197">
            <a:extLst xmlns:a="http://schemas.openxmlformats.org/drawingml/2006/main">
              <a:ext uri="{FF2B5EF4-FFF2-40B4-BE49-F238E27FC236}">
                <a16:creationId xmlns:a16="http://schemas.microsoft.com/office/drawing/2014/main" id="{5903814C-A8B8-4F60-ADCA-3B2378E4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676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33A32"/>
                </a:solidFill>
                <a:latin typeface="Helvetica Neue"/>
                <a:ea typeface="Helvetica Neue"/>
                <a:cs typeface="Helvetica Neue"/>
              </a:defRPr>
            </a:pPr>
            <a:r>
              <a:t>fail closed</a:t>
            </a:r>
          </a:p>
        </p:txBody>
      </p:sp>
      <p:sp>
        <p:nvSpPr>
          <p:cNvPr id="28" name="Text-198">
            <a:extLst xmlns:a="http://schemas.openxmlformats.org/drawingml/2006/main">
              <a:ext uri="{FF2B5EF4-FFF2-40B4-BE49-F238E27FC236}">
                <a16:creationId xmlns:a16="http://schemas.microsoft.com/office/drawing/2014/main" id="{1072C0C8-7C60-4B8A-A7C6-F80E271A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95925"/>
            <a:ext cx="112776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Recovery is a policy decision, not a parser feature.</a:t>
            </a:r>
          </a:p>
        </p:txBody>
      </p:sp>
      <p:cxnSp>
        <p:nvCxnSpPr>
          <p:cNvPr id="60" name="Rule-199"/>
          <p:cNvCxnSpPr/>
          <p:nvPr/>
        </p:nvCxnSpPr>
        <p:spPr>
          <a:xfrm xmlns:a="http://schemas.openxmlformats.org/drawingml/2006/main">
            <a:off x="457200" y="62198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30" name="Text-200">
            <a:extLst xmlns:a="http://schemas.openxmlformats.org/drawingml/2006/main">
              <a:ext uri="{FF2B5EF4-FFF2-40B4-BE49-F238E27FC236}">
                <a16:creationId xmlns:a16="http://schemas.microsoft.com/office/drawing/2014/main" id="{4A6C4AD6-34C9-4DEA-8456-78C2B4B7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00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Python owns command interpretation · TUI trusts validated ordered events</a:t>
            </a:r>
          </a:p>
        </p:txBody>
      </p:sp>
      <p:sp>
        <p:nvSpPr>
          <p:cNvPr id="31" name="Text-201">
            <a:extLst xmlns:a="http://schemas.openxmlformats.org/drawingml/2006/main">
              <a:ext uri="{FF2B5EF4-FFF2-40B4-BE49-F238E27FC236}">
                <a16:creationId xmlns:a16="http://schemas.microsoft.com/office/drawing/2014/main" id="{E8C2E48A-C359-4D49-A4C2-CFEE4DB4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90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6733101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hape-238">
            <a:extLst xmlns:a="http://schemas.openxmlformats.org/drawingml/2006/main">
              <a:ext uri="{FF2B5EF4-FFF2-40B4-BE49-F238E27FC236}">
                <a16:creationId xmlns:a16="http://schemas.microsoft.com/office/drawing/2014/main" id="{61DB751A-DA39-4DE8-ACA9-58BB145E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Text-203">
            <a:extLst xmlns:a="http://schemas.openxmlformats.org/drawingml/2006/main">
              <a:ext uri="{FF2B5EF4-FFF2-40B4-BE49-F238E27FC236}">
                <a16:creationId xmlns:a16="http://schemas.microsoft.com/office/drawing/2014/main" id="{53AAFDA1-A699-4325-8C03-FC2447DF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112776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Proof: valid survives invalid</a:t>
            </a:r>
          </a:p>
        </p:txBody>
      </p:sp>
      <p:cxnSp>
        <p:nvCxnSpPr>
          <p:cNvPr id="39" name="Rule-204"/>
          <p:cNvCxnSpPr/>
          <p:nvPr/>
        </p:nvCxnSpPr>
        <p:spPr>
          <a:xfrm xmlns:a="http://schemas.openxmlformats.org/drawingml/2006/main">
            <a:off x="685800" y="2000250"/>
            <a:ext cx="107632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D0DA"/>
            </a:solidFill>
            <a:prstDash val="solid"/>
          </a:ln>
        </p:spPr>
      </p:cxnSp>
      <p:sp>
        <p:nvSpPr>
          <p:cNvPr id="4" name="Shape-205">
            <a:extLst xmlns:a="http://schemas.openxmlformats.org/drawingml/2006/main">
              <a:ext uri="{FF2B5EF4-FFF2-40B4-BE49-F238E27FC236}">
                <a16:creationId xmlns:a16="http://schemas.microsoft.com/office/drawing/2014/main" id="{19E107EF-98DB-4E8D-8D8B-E8F36642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1657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DEBE9"/>
          </a:solidFill>
          <a:ln xmlns:a="http://schemas.openxmlformats.org/drawingml/2006/main" w="9525">
            <a:solidFill>
              <a:srgbClr val="C33A32"/>
            </a:solidFill>
            <a:prstDash val="solid"/>
          </a:ln>
        </p:spPr>
      </p:sp>
      <p:sp>
        <p:nvSpPr>
          <p:cNvPr id="5" name="Text-206">
            <a:extLst xmlns:a="http://schemas.openxmlformats.org/drawingml/2006/main">
              <a:ext uri="{FF2B5EF4-FFF2-40B4-BE49-F238E27FC236}">
                <a16:creationId xmlns:a16="http://schemas.microsoft.com/office/drawing/2014/main" id="{A1CF438D-03D7-4983-914A-2E8B1F53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1466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malformed</a:t>
            </a:r>
          </a:p>
        </p:txBody>
      </p:sp>
      <p:sp>
        <p:nvSpPr>
          <p:cNvPr id="6" name="Shape-207">
            <a:extLst xmlns:a="http://schemas.openxmlformats.org/drawingml/2006/main">
              <a:ext uri="{FF2B5EF4-FFF2-40B4-BE49-F238E27FC236}">
                <a16:creationId xmlns:a16="http://schemas.microsoft.com/office/drawing/2014/main" id="{4E3B6E03-E2F9-4719-8486-ED1ABDA7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57350"/>
            <a:ext cx="1657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DEBE9"/>
          </a:solidFill>
          <a:ln xmlns:a="http://schemas.openxmlformats.org/drawingml/2006/main" w="9525">
            <a:solidFill>
              <a:srgbClr val="C33A32"/>
            </a:solidFill>
            <a:prstDash val="solid"/>
          </a:ln>
        </p:spPr>
      </p:sp>
      <p:sp>
        <p:nvSpPr>
          <p:cNvPr id="7" name="Text-208">
            <a:extLst xmlns:a="http://schemas.openxmlformats.org/drawingml/2006/main">
              <a:ext uri="{FF2B5EF4-FFF2-40B4-BE49-F238E27FC236}">
                <a16:creationId xmlns:a16="http://schemas.microsoft.com/office/drawing/2014/main" id="{5898720F-6EA1-4AC9-AE85-A507E944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52600"/>
            <a:ext cx="1466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wrong
version</a:t>
            </a:r>
          </a:p>
        </p:txBody>
      </p:sp>
      <p:sp>
        <p:nvSpPr>
          <p:cNvPr id="8" name="Shape-209">
            <a:extLst xmlns:a="http://schemas.openxmlformats.org/drawingml/2006/main">
              <a:ext uri="{FF2B5EF4-FFF2-40B4-BE49-F238E27FC236}">
                <a16:creationId xmlns:a16="http://schemas.microsoft.com/office/drawing/2014/main" id="{634ECE21-D3C8-419B-A51E-B7786B57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57350"/>
            <a:ext cx="1657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DEBE9"/>
          </a:solidFill>
          <a:ln xmlns:a="http://schemas.openxmlformats.org/drawingml/2006/main" w="9525">
            <a:solidFill>
              <a:srgbClr val="C33A32"/>
            </a:solidFill>
            <a:prstDash val="solid"/>
          </a:ln>
        </p:spPr>
      </p:sp>
      <p:sp>
        <p:nvSpPr>
          <p:cNvPr id="9" name="Text-210">
            <a:extLst xmlns:a="http://schemas.openxmlformats.org/drawingml/2006/main">
              <a:ext uri="{FF2B5EF4-FFF2-40B4-BE49-F238E27FC236}">
                <a16:creationId xmlns:a16="http://schemas.microsoft.com/office/drawing/2014/main" id="{858C5F6F-0869-4CE3-86E8-A7908DA0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52600"/>
            <a:ext cx="1466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unknown
type</a:t>
            </a:r>
          </a:p>
        </p:txBody>
      </p:sp>
      <p:sp>
        <p:nvSpPr>
          <p:cNvPr id="10" name="Shape-211">
            <a:extLst xmlns:a="http://schemas.openxmlformats.org/drawingml/2006/main">
              <a:ext uri="{FF2B5EF4-FFF2-40B4-BE49-F238E27FC236}">
                <a16:creationId xmlns:a16="http://schemas.microsoft.com/office/drawing/2014/main" id="{440E577F-66F3-4708-86D6-A267AC26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1657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DEBE9"/>
          </a:solidFill>
          <a:ln xmlns:a="http://schemas.openxmlformats.org/drawingml/2006/main" w="9525">
            <a:solidFill>
              <a:srgbClr val="C33A32"/>
            </a:solidFill>
            <a:prstDash val="solid"/>
          </a:ln>
        </p:spPr>
      </p:sp>
      <p:sp>
        <p:nvSpPr>
          <p:cNvPr id="11" name="Text-212">
            <a:extLst xmlns:a="http://schemas.openxmlformats.org/drawingml/2006/main">
              <a:ext uri="{FF2B5EF4-FFF2-40B4-BE49-F238E27FC236}">
                <a16:creationId xmlns:a16="http://schemas.microsoft.com/office/drawing/2014/main" id="{B8721881-092E-4500-8E41-34270B5F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52600"/>
            <a:ext cx="1466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3A32"/>
                </a:solidFill>
                <a:latin typeface="Courier New"/>
                <a:ea typeface="Courier New"/>
                <a:cs typeface="Courier New"/>
              </a:defRPr>
            </a:pPr>
            <a:r>
              <a:t>bad
payload</a:t>
            </a:r>
          </a:p>
        </p:txBody>
      </p:sp>
      <p:sp>
        <p:nvSpPr>
          <p:cNvPr id="12" name="Shape-213">
            <a:extLst xmlns:a="http://schemas.openxmlformats.org/drawingml/2006/main">
              <a:ext uri="{FF2B5EF4-FFF2-40B4-BE49-F238E27FC236}">
                <a16:creationId xmlns:a16="http://schemas.microsoft.com/office/drawing/2014/main" id="{43EC42DE-56B7-4BDC-9BD7-57838303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57350"/>
            <a:ext cx="1657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9525">
            <a:solidFill>
              <a:srgbClr val="123DAE"/>
            </a:solidFill>
            <a:prstDash val="solid"/>
          </a:ln>
        </p:spPr>
      </p:sp>
      <p:sp>
        <p:nvSpPr>
          <p:cNvPr id="13" name="Text-214">
            <a:extLst xmlns:a="http://schemas.openxmlformats.org/drawingml/2006/main">
              <a:ext uri="{FF2B5EF4-FFF2-40B4-BE49-F238E27FC236}">
                <a16:creationId xmlns:a16="http://schemas.microsoft.com/office/drawing/2014/main" id="{E5DDC058-2FB0-4056-94B9-D138111E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52600"/>
            <a:ext cx="1466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initialize</a:t>
            </a:r>
          </a:p>
        </p:txBody>
      </p:sp>
      <p:sp>
        <p:nvSpPr>
          <p:cNvPr id="14" name="Shape-215">
            <a:extLst xmlns:a="http://schemas.openxmlformats.org/drawingml/2006/main">
              <a:ext uri="{FF2B5EF4-FFF2-40B4-BE49-F238E27FC236}">
                <a16:creationId xmlns:a16="http://schemas.microsoft.com/office/drawing/2014/main" id="{15A83E94-4AD7-4797-8185-DA673986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657350"/>
            <a:ext cx="1657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5F5ED"/>
          </a:solidFill>
          <a:ln xmlns:a="http://schemas.openxmlformats.org/drawingml/2006/main" w="9525">
            <a:solidFill>
              <a:srgbClr val="18794E"/>
            </a:solidFill>
            <a:prstDash val="solid"/>
          </a:ln>
        </p:spPr>
      </p:sp>
      <p:sp>
        <p:nvSpPr>
          <p:cNvPr id="15" name="Text-216">
            <a:extLst xmlns:a="http://schemas.openxmlformats.org/drawingml/2006/main">
              <a:ext uri="{FF2B5EF4-FFF2-40B4-BE49-F238E27FC236}">
                <a16:creationId xmlns:a16="http://schemas.microsoft.com/office/drawing/2014/main" id="{4F5D804B-BA87-4345-8E4F-F363ABA6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52600"/>
            <a:ext cx="1466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794E"/>
                </a:solidFill>
                <a:latin typeface="Courier New"/>
                <a:ea typeface="Courier New"/>
                <a:cs typeface="Courier New"/>
              </a:defRPr>
            </a:pPr>
            <a:r>
              <a:t>READY</a:t>
            </a:r>
          </a:p>
        </p:txBody>
      </p:sp>
      <p:sp>
        <p:nvSpPr>
          <p:cNvPr id="16" name="Shape-217">
            <a:extLst xmlns:a="http://schemas.openxmlformats.org/drawingml/2006/main">
              <a:ext uri="{FF2B5EF4-FFF2-40B4-BE49-F238E27FC236}">
                <a16:creationId xmlns:a16="http://schemas.microsoft.com/office/drawing/2014/main" id="{95122F46-A678-4D84-8902-92B6FD80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0"/>
            <a:ext cx="34671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17" name="Text-218">
            <a:extLst xmlns:a="http://schemas.openxmlformats.org/drawingml/2006/main">
              <a:ext uri="{FF2B5EF4-FFF2-40B4-BE49-F238E27FC236}">
                <a16:creationId xmlns:a16="http://schemas.microsoft.com/office/drawing/2014/main" id="{E5EABA0E-FF14-4433-A887-49E5A3CE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30099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12 + 12</a:t>
            </a:r>
          </a:p>
        </p:txBody>
      </p:sp>
      <p:sp>
        <p:nvSpPr>
          <p:cNvPr id="18" name="Text-219">
            <a:extLst xmlns:a="http://schemas.openxmlformats.org/drawingml/2006/main">
              <a:ext uri="{FF2B5EF4-FFF2-40B4-BE49-F238E27FC236}">
                <a16:creationId xmlns:a16="http://schemas.microsoft.com/office/drawing/2014/main" id="{C4CB5FB3-C740-4881-B0B1-382682F2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3009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shared fixtures</a:t>
            </a:r>
          </a:p>
        </p:txBody>
      </p:sp>
      <p:sp>
        <p:nvSpPr>
          <p:cNvPr id="19" name="Text-220">
            <a:extLst xmlns:a="http://schemas.openxmlformats.org/drawingml/2006/main">
              <a:ext uri="{FF2B5EF4-FFF2-40B4-BE49-F238E27FC236}">
                <a16:creationId xmlns:a16="http://schemas.microsoft.com/office/drawing/2014/main" id="{B4523FC2-C6A3-4051-AC8B-4FBF76D1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3009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valid + invalid in both languages</a:t>
            </a:r>
          </a:p>
        </p:txBody>
      </p:sp>
      <p:sp>
        <p:nvSpPr>
          <p:cNvPr id="20" name="Shape-221">
            <a:extLst xmlns:a="http://schemas.openxmlformats.org/drawingml/2006/main">
              <a:ext uri="{FF2B5EF4-FFF2-40B4-BE49-F238E27FC236}">
                <a16:creationId xmlns:a16="http://schemas.microsoft.com/office/drawing/2014/main" id="{E71EE53A-3A40-48D6-9350-6189BBFD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857500"/>
            <a:ext cx="34671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21" name="Text-222">
            <a:extLst xmlns:a="http://schemas.openxmlformats.org/drawingml/2006/main">
              <a:ext uri="{FF2B5EF4-FFF2-40B4-BE49-F238E27FC236}">
                <a16:creationId xmlns:a16="http://schemas.microsoft.com/office/drawing/2014/main" id="{1C2FD5E0-0FAE-45C2-9326-37B835E1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124200"/>
            <a:ext cx="30099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1 → 50</a:t>
            </a:r>
          </a:p>
        </p:txBody>
      </p:sp>
      <p:sp>
        <p:nvSpPr>
          <p:cNvPr id="22" name="Text-223">
            <a:extLst xmlns:a="http://schemas.openxmlformats.org/drawingml/2006/main">
              <a:ext uri="{FF2B5EF4-FFF2-40B4-BE49-F238E27FC236}">
                <a16:creationId xmlns:a16="http://schemas.microsoft.com/office/drawing/2014/main" id="{BDA4BC3C-92B1-4D8B-82F1-5935967B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857625"/>
            <a:ext cx="3009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ordered events</a:t>
            </a:r>
          </a:p>
        </p:txBody>
      </p:sp>
      <p:sp>
        <p:nvSpPr>
          <p:cNvPr id="23" name="Text-224">
            <a:extLst xmlns:a="http://schemas.openxmlformats.org/drawingml/2006/main">
              <a:ext uri="{FF2B5EF4-FFF2-40B4-BE49-F238E27FC236}">
                <a16:creationId xmlns:a16="http://schemas.microsoft.com/office/drawing/2014/main" id="{4285F505-16F5-4ED8-A647-61B65B2C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295775"/>
            <a:ext cx="3009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concurrent writes serialize exactly</a:t>
            </a:r>
          </a:p>
        </p:txBody>
      </p:sp>
      <p:sp>
        <p:nvSpPr>
          <p:cNvPr id="24" name="Shape-225">
            <a:extLst xmlns:a="http://schemas.openxmlformats.org/drawingml/2006/main">
              <a:ext uri="{FF2B5EF4-FFF2-40B4-BE49-F238E27FC236}">
                <a16:creationId xmlns:a16="http://schemas.microsoft.com/office/drawing/2014/main" id="{4625DD07-9CEE-44F5-9889-920C4A56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57500"/>
            <a:ext cx="34671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AF0FF"/>
          </a:solidFill>
        </p:spPr>
      </p:sp>
      <p:sp>
        <p:nvSpPr>
          <p:cNvPr id="25" name="Text-226">
            <a:extLst xmlns:a="http://schemas.openxmlformats.org/drawingml/2006/main">
              <a:ext uri="{FF2B5EF4-FFF2-40B4-BE49-F238E27FC236}">
                <a16:creationId xmlns:a16="http://schemas.microsoft.com/office/drawing/2014/main" id="{116E8985-8258-4054-A025-59F31CDB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24200"/>
            <a:ext cx="30099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5EFF"/>
                </a:solidFill>
                <a:latin typeface="Courier New"/>
                <a:ea typeface="Courier New"/>
                <a:cs typeface="Courier New"/>
              </a:defRPr>
            </a:pPr>
            <a:r>
              <a:t>120 / 119</a:t>
            </a:r>
          </a:p>
        </p:txBody>
      </p:sp>
      <p:sp>
        <p:nvSpPr>
          <p:cNvPr id="26" name="Text-227">
            <a:extLst xmlns:a="http://schemas.openxmlformats.org/drawingml/2006/main">
              <a:ext uri="{FF2B5EF4-FFF2-40B4-BE49-F238E27FC236}">
                <a16:creationId xmlns:a16="http://schemas.microsoft.com/office/drawing/2014/main" id="{2CF052A6-D745-4EB7-8230-85C686EE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57625"/>
            <a:ext cx="30099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Python / TUI tests</a:t>
            </a:r>
          </a:p>
        </p:txBody>
      </p:sp>
      <p:sp>
        <p:nvSpPr>
          <p:cNvPr id="27" name="Text-228">
            <a:extLst xmlns:a="http://schemas.openxmlformats.org/drawingml/2006/main">
              <a:ext uri="{FF2B5EF4-FFF2-40B4-BE49-F238E27FC236}">
                <a16:creationId xmlns:a16="http://schemas.microsoft.com/office/drawing/2014/main" id="{E71F6EB3-0312-4234-9EB3-DE531495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95775"/>
            <a:ext cx="3009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all non-live checks pass</a:t>
            </a:r>
          </a:p>
        </p:txBody>
      </p:sp>
      <p:sp>
        <p:nvSpPr>
          <p:cNvPr id="28" name="Shape-229">
            <a:extLst xmlns:a="http://schemas.openxmlformats.org/drawingml/2006/main">
              <a:ext uri="{FF2B5EF4-FFF2-40B4-BE49-F238E27FC236}">
                <a16:creationId xmlns:a16="http://schemas.microsoft.com/office/drawing/2014/main" id="{AC851CC9-A0EF-4C96-87EA-E9495F03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2476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29" name="Text-230">
            <a:extLst xmlns:a="http://schemas.openxmlformats.org/drawingml/2006/main">
              <a:ext uri="{FF2B5EF4-FFF2-40B4-BE49-F238E27FC236}">
                <a16:creationId xmlns:a16="http://schemas.microsoft.com/office/drawing/2014/main" id="{BB183774-19E2-4A55-9CD7-138C1008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2247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raw input absent</a:t>
            </a:r>
          </a:p>
        </p:txBody>
      </p:sp>
      <p:sp>
        <p:nvSpPr>
          <p:cNvPr id="30" name="Shape-231">
            <a:extLst xmlns:a="http://schemas.openxmlformats.org/drawingml/2006/main">
              <a:ext uri="{FF2B5EF4-FFF2-40B4-BE49-F238E27FC236}">
                <a16:creationId xmlns:a16="http://schemas.microsoft.com/office/drawing/2014/main" id="{CC537D09-73C1-43B9-A4A7-4AD3F8DB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314950"/>
            <a:ext cx="4762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31" name="Text-232">
            <a:extLst xmlns:a="http://schemas.openxmlformats.org/drawingml/2006/main">
              <a:ext uri="{FF2B5EF4-FFF2-40B4-BE49-F238E27FC236}">
                <a16:creationId xmlns:a16="http://schemas.microsoft.com/office/drawing/2014/main" id="{41F6ADE1-AEAF-4EC3-B4B9-4634A788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91150"/>
            <a:ext cx="4533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0D12"/>
                </a:solidFill>
                <a:latin typeface="Courier New"/>
                <a:ea typeface="Courier New"/>
                <a:cs typeface="Courier New"/>
              </a:defRPr>
            </a:pPr>
            <a:r>
              <a:t>every stdout line is valid v1 NDJSON</a:t>
            </a:r>
          </a:p>
        </p:txBody>
      </p:sp>
      <p:sp>
        <p:nvSpPr>
          <p:cNvPr id="32" name="Shape-233">
            <a:extLst xmlns:a="http://schemas.openxmlformats.org/drawingml/2006/main">
              <a:ext uri="{FF2B5EF4-FFF2-40B4-BE49-F238E27FC236}">
                <a16:creationId xmlns:a16="http://schemas.microsoft.com/office/drawing/2014/main" id="{67E10A45-4234-4D5C-B39B-0F2E5C64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314950"/>
            <a:ext cx="35814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33" name="Text-234">
            <a:extLst xmlns:a="http://schemas.openxmlformats.org/drawingml/2006/main">
              <a:ext uri="{FF2B5EF4-FFF2-40B4-BE49-F238E27FC236}">
                <a16:creationId xmlns:a16="http://schemas.microsoft.com/office/drawing/2014/main" id="{0DF142D9-39AB-4B2B-B6A9-689BDCE8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391150"/>
            <a:ext cx="3352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failed sink consumes no sequence</a:t>
            </a:r>
          </a:p>
        </p:txBody>
      </p:sp>
      <p:cxnSp>
        <p:nvCxnSpPr>
          <p:cNvPr id="70" name="Rule-235"/>
          <p:cNvCxnSpPr/>
          <p:nvPr/>
        </p:nvCxnSpPr>
        <p:spPr>
          <a:xfrm xmlns:a="http://schemas.openxmlformats.org/drawingml/2006/main">
            <a:off x="457200" y="62198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35" name="Text-236">
            <a:extLst xmlns:a="http://schemas.openxmlformats.org/drawingml/2006/main">
              <a:ext uri="{FF2B5EF4-FFF2-40B4-BE49-F238E27FC236}">
                <a16:creationId xmlns:a16="http://schemas.microsoft.com/office/drawing/2014/main" id="{9046FEFC-81F3-4E02-BF9D-A29D2831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00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protocol/fixtures · tests/protocol/test_* · tui/test/protocol*.test.ts</a:t>
            </a:r>
          </a:p>
        </p:txBody>
      </p:sp>
      <p:sp>
        <p:nvSpPr>
          <p:cNvPr id="36" name="Text-237">
            <a:extLst xmlns:a="http://schemas.openxmlformats.org/drawingml/2006/main">
              <a:ext uri="{FF2B5EF4-FFF2-40B4-BE49-F238E27FC236}">
                <a16:creationId xmlns:a16="http://schemas.microsoft.com/office/drawing/2014/main" id="{08120200-E87B-4661-95EF-ED232BF3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90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970861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hape-251">
            <a:extLst xmlns:a="http://schemas.openxmlformats.org/drawingml/2006/main">
              <a:ext uri="{FF2B5EF4-FFF2-40B4-BE49-F238E27FC236}">
                <a16:creationId xmlns:a16="http://schemas.microsoft.com/office/drawing/2014/main" id="{A989AE07-F766-4D2E-BA6E-EEF7F98B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sp>
        <p:nvSpPr>
          <p:cNvPr id="2" name="Text-239">
            <a:extLst xmlns:a="http://schemas.openxmlformats.org/drawingml/2006/main">
              <a:ext uri="{FF2B5EF4-FFF2-40B4-BE49-F238E27FC236}">
                <a16:creationId xmlns:a16="http://schemas.microsoft.com/office/drawing/2014/main" id="{F946B74B-CF10-4395-9188-073BDF87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EFF"/>
                </a:solidFill>
                <a:latin typeface="Helvetica Neue"/>
                <a:ea typeface="Helvetica Neue"/>
                <a:cs typeface="Helvetica Neue"/>
              </a:defRPr>
            </a:pPr>
            <a:r>
              <a:t>DELIVERED + NEXT</a:t>
            </a:r>
          </a:p>
        </p:txBody>
      </p:sp>
      <p:sp>
        <p:nvSpPr>
          <p:cNvPr id="3" name="Text-240">
            <a:extLst xmlns:a="http://schemas.openxmlformats.org/drawingml/2006/main">
              <a:ext uri="{FF2B5EF4-FFF2-40B4-BE49-F238E27FC236}">
                <a16:creationId xmlns:a16="http://schemas.microsoft.com/office/drawing/2014/main" id="{0B860619-BDA8-4C6A-ACB5-F49649E2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71550"/>
            <a:ext cx="112776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The contract unlocks streaming</a:t>
            </a:r>
          </a:p>
        </p:txBody>
      </p:sp>
      <p:cxnSp>
        <p:nvCxnSpPr>
          <p:cNvPr id="17" name="Rule-241"/>
          <p:cNvCxnSpPr/>
          <p:nvPr/>
        </p:nvCxnSpPr>
        <p:spPr>
          <a:xfrm xmlns:a="http://schemas.openxmlformats.org/drawingml/2006/main">
            <a:off x="457200" y="2038350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0D12"/>
            </a:solidFill>
            <a:prstDash val="solid"/>
          </a:ln>
        </p:spPr>
      </p:cxnSp>
      <p:sp>
        <p:nvSpPr>
          <p:cNvPr id="5" name="Text-242">
            <a:extLst xmlns:a="http://schemas.openxmlformats.org/drawingml/2006/main">
              <a:ext uri="{FF2B5EF4-FFF2-40B4-BE49-F238E27FC236}">
                <a16:creationId xmlns:a16="http://schemas.microsoft.com/office/drawing/2014/main" id="{1582DF0A-9039-4598-AC89-E426C19E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EFF"/>
                </a:solidFill>
                <a:latin typeface="Courier New"/>
                <a:ea typeface="Courier New"/>
                <a:cs typeface="Courier New"/>
              </a:defRPr>
            </a:pPr>
            <a:r>
              <a:t>SHIPPED IN CAH-004</a:t>
            </a:r>
          </a:p>
        </p:txBody>
      </p:sp>
      <p:sp>
        <p:nvSpPr>
          <p:cNvPr id="6" name="Text-243">
            <a:extLst xmlns:a="http://schemas.openxmlformats.org/drawingml/2006/main">
              <a:ext uri="{FF2B5EF4-FFF2-40B4-BE49-F238E27FC236}">
                <a16:creationId xmlns:a16="http://schemas.microsoft.com/office/drawing/2014/main" id="{A9E9556D-2D72-4793-A818-F954021C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28925"/>
            <a:ext cx="4953000" cy="1666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4 commands · 8 events
Pydantic + Zod
Bounded framing · ordered writes
Correlated readiness · graceful shutdown</a:t>
            </a:r>
          </a:p>
        </p:txBody>
      </p:sp>
      <p:sp>
        <p:nvSpPr>
          <p:cNvPr id="7" name="Shape-244">
            <a:extLst xmlns:a="http://schemas.openxmlformats.org/drawingml/2006/main">
              <a:ext uri="{FF2B5EF4-FFF2-40B4-BE49-F238E27FC236}">
                <a16:creationId xmlns:a16="http://schemas.microsoft.com/office/drawing/2014/main" id="{95628947-4214-42DD-9383-07F6169C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362200"/>
            <a:ext cx="5781675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AF0FF"/>
          </a:solidFill>
        </p:spPr>
      </p:sp>
      <p:sp>
        <p:nvSpPr>
          <p:cNvPr id="8" name="Text-245">
            <a:extLst xmlns:a="http://schemas.openxmlformats.org/drawingml/2006/main">
              <a:ext uri="{FF2B5EF4-FFF2-40B4-BE49-F238E27FC236}">
                <a16:creationId xmlns:a16="http://schemas.microsoft.com/office/drawing/2014/main" id="{FBE396C4-2343-429F-857A-7D550AD7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590800"/>
            <a:ext cx="51911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5EFF"/>
                </a:solidFill>
                <a:latin typeface="Courier New"/>
                <a:ea typeface="Courier New"/>
                <a:cs typeface="Courier New"/>
              </a:defRPr>
            </a:pPr>
            <a:r>
              <a:t>NEXT · CAH-005 MOCK STREAMING</a:t>
            </a:r>
          </a:p>
        </p:txBody>
      </p:sp>
      <p:sp>
        <p:nvSpPr>
          <p:cNvPr id="9" name="Text-246">
            <a:extLst xmlns:a="http://schemas.openxmlformats.org/drawingml/2006/main">
              <a:ext uri="{FF2B5EF4-FFF2-40B4-BE49-F238E27FC236}">
                <a16:creationId xmlns:a16="http://schemas.microsoft.com/office/drawing/2014/main" id="{EF18156B-4EB2-4E21-B604-945DFF41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028950"/>
            <a:ext cx="5191125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23DAE"/>
                </a:solidFill>
                <a:latin typeface="Courier New"/>
                <a:ea typeface="Courier New"/>
                <a:cs typeface="Courier New"/>
              </a:defRPr>
            </a:pPr>
            <a:r>
              <a:t>session.started
assistant.delta
assistant.completed
session.completed</a:t>
            </a:r>
          </a:p>
        </p:txBody>
      </p:sp>
      <p:sp>
        <p:nvSpPr>
          <p:cNvPr id="10" name="Text-247">
            <a:extLst xmlns:a="http://schemas.openxmlformats.org/drawingml/2006/main">
              <a:ext uri="{FF2B5EF4-FFF2-40B4-BE49-F238E27FC236}">
                <a16:creationId xmlns:a16="http://schemas.microsoft.com/office/drawing/2014/main" id="{C3B307D9-2243-4FC3-AE76-D913BF73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0D12"/>
                </a:solidFill>
                <a:latin typeface="Helvetica Neue"/>
                <a:ea typeface="Helvetica Neue"/>
                <a:cs typeface="Helvetica Neue"/>
              </a:defRPr>
            </a:pPr>
            <a:r>
              <a:t>Frame every line. Validate every message. Order by sequence. Fail according to authority.</a:t>
            </a:r>
          </a:p>
        </p:txBody>
      </p:sp>
      <p:cxnSp>
        <p:nvCxnSpPr>
          <p:cNvPr id="24" name="Rule-248"/>
          <p:cNvCxnSpPr/>
          <p:nvPr/>
        </p:nvCxnSpPr>
        <p:spPr>
          <a:xfrm xmlns:a="http://schemas.openxmlformats.org/drawingml/2006/main">
            <a:off x="457200" y="6219825"/>
            <a:ext cx="112776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9D0DA"/>
            </a:solidFill>
            <a:prstDash val="solid"/>
          </a:ln>
        </p:spPr>
      </p:cxnSp>
      <p:sp>
        <p:nvSpPr>
          <p:cNvPr id="12" name="Text-249">
            <a:extLst xmlns:a="http://schemas.openxmlformats.org/drawingml/2006/main">
              <a:ext uri="{FF2B5EF4-FFF2-40B4-BE49-F238E27FC236}">
                <a16:creationId xmlns:a16="http://schemas.microsoft.com/office/drawing/2014/main" id="{22662F45-A5C5-4A63-884E-962F61E8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100012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B6472"/>
                </a:solidFill>
                <a:latin typeface="Courier New"/>
                <a:ea typeface="Courier New"/>
                <a:cs typeface="Courier New"/>
              </a:defRPr>
            </a:pPr>
            <a:r>
              <a:t>CAH-004 Done · lesson Verified against implementation · CAH-005 dependency-ready</a:t>
            </a:r>
          </a:p>
        </p:txBody>
      </p:sp>
      <p:sp>
        <p:nvSpPr>
          <p:cNvPr id="13" name="Text-250">
            <a:extLst xmlns:a="http://schemas.openxmlformats.org/drawingml/2006/main">
              <a:ext uri="{FF2B5EF4-FFF2-40B4-BE49-F238E27FC236}">
                <a16:creationId xmlns:a16="http://schemas.microsoft.com/office/drawing/2014/main" id="{55EE99A2-E8B5-4D13-B219-DF2CF6AE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90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Helvetica Neue"/>
                <a:ea typeface="Helvetica Neue"/>
                <a:cs typeface="Helvetica Neue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014394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2026-07-16T14:19:18.8710000Z</dcterms:created>
  <dcterms:modified xsi:type="dcterms:W3CDTF">2026-07-16T14:19:18.8710000Z</dcterms:modified>
</coreProperties>
</file>